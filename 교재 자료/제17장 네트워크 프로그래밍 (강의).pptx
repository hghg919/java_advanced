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notesMasterIdLst>
    <p:notesMasterId r:id="rId68"/>
  </p:notesMasterIdLst>
  <p:handoutMasterIdLst>
    <p:handoutMasterId r:id="rId69"/>
  </p:handoutMasterIdLst>
  <p:sldIdLst>
    <p:sldId id="256" r:id="rId2"/>
    <p:sldId id="379" r:id="rId3"/>
    <p:sldId id="1022" r:id="rId4"/>
    <p:sldId id="1023" r:id="rId5"/>
    <p:sldId id="1024" r:id="rId6"/>
    <p:sldId id="1025" r:id="rId7"/>
    <p:sldId id="289" r:id="rId8"/>
    <p:sldId id="1049" r:id="rId9"/>
    <p:sldId id="1050" r:id="rId10"/>
    <p:sldId id="1054" r:id="rId11"/>
    <p:sldId id="1057" r:id="rId12"/>
    <p:sldId id="1056" r:id="rId13"/>
    <p:sldId id="1060" r:id="rId14"/>
    <p:sldId id="1061" r:id="rId15"/>
    <p:sldId id="1059" r:id="rId16"/>
    <p:sldId id="1058" r:id="rId17"/>
    <p:sldId id="1062" r:id="rId18"/>
    <p:sldId id="1063" r:id="rId19"/>
    <p:sldId id="1064" r:id="rId20"/>
    <p:sldId id="1065" r:id="rId21"/>
    <p:sldId id="1066" r:id="rId22"/>
    <p:sldId id="318" r:id="rId23"/>
    <p:sldId id="1026" r:id="rId24"/>
    <p:sldId id="1027" r:id="rId25"/>
    <p:sldId id="320" r:id="rId26"/>
    <p:sldId id="1028" r:id="rId27"/>
    <p:sldId id="1029" r:id="rId28"/>
    <p:sldId id="1030" r:id="rId29"/>
    <p:sldId id="1031" r:id="rId30"/>
    <p:sldId id="1071" r:id="rId31"/>
    <p:sldId id="1068" r:id="rId32"/>
    <p:sldId id="288" r:id="rId33"/>
    <p:sldId id="1069" r:id="rId34"/>
    <p:sldId id="325" r:id="rId35"/>
    <p:sldId id="1032" r:id="rId36"/>
    <p:sldId id="1033" r:id="rId37"/>
    <p:sldId id="1034" r:id="rId38"/>
    <p:sldId id="1035" r:id="rId39"/>
    <p:sldId id="327" r:id="rId40"/>
    <p:sldId id="1070" r:id="rId41"/>
    <p:sldId id="1036" r:id="rId42"/>
    <p:sldId id="299" r:id="rId43"/>
    <p:sldId id="1037" r:id="rId44"/>
    <p:sldId id="1038" r:id="rId45"/>
    <p:sldId id="1072" r:id="rId46"/>
    <p:sldId id="1039" r:id="rId47"/>
    <p:sldId id="1040" r:id="rId48"/>
    <p:sldId id="1041" r:id="rId49"/>
    <p:sldId id="1042" r:id="rId50"/>
    <p:sldId id="1043" r:id="rId51"/>
    <p:sldId id="313" r:id="rId52"/>
    <p:sldId id="1067" r:id="rId53"/>
    <p:sldId id="1044" r:id="rId54"/>
    <p:sldId id="314" r:id="rId55"/>
    <p:sldId id="315" r:id="rId56"/>
    <p:sldId id="316" r:id="rId57"/>
    <p:sldId id="337" r:id="rId58"/>
    <p:sldId id="338" r:id="rId59"/>
    <p:sldId id="339" r:id="rId60"/>
    <p:sldId id="1045" r:id="rId61"/>
    <p:sldId id="1046" r:id="rId62"/>
    <p:sldId id="1047" r:id="rId63"/>
    <p:sldId id="1048" r:id="rId64"/>
    <p:sldId id="1021" r:id="rId65"/>
    <p:sldId id="330" r:id="rId66"/>
    <p:sldId id="305" r:id="rId67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5C5D0"/>
    <a:srgbClr val="0000FF"/>
    <a:srgbClr val="CCFFCC"/>
    <a:srgbClr val="FFF5D3"/>
    <a:srgbClr val="DABCD9"/>
    <a:srgbClr val="FFFFFF"/>
    <a:srgbClr val="E8EFF8"/>
    <a:srgbClr val="E8F1CD"/>
    <a:srgbClr val="FEEBCD"/>
    <a:srgbClr val="FFF3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97" autoAdjust="0"/>
    <p:restoredTop sz="91017" autoAdjust="0"/>
  </p:normalViewPr>
  <p:slideViewPr>
    <p:cSldViewPr snapToGrid="0">
      <p:cViewPr varScale="1">
        <p:scale>
          <a:sx n="103" d="100"/>
          <a:sy n="103" d="100"/>
        </p:scale>
        <p:origin x="235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fld id="{8383B835-3BFE-4B85-82D8-1BE647A4113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5598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fld id="{FB19F679-FC61-4ED7-B113-A17BF1221A8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5059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B0D056-06C1-427C-B095-DD5CAE33F6FD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320040" indent="-32004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CBDD8EA-ABBC-431C-AC65-2492E152B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062E18-1804-4C78-B91B-667B633A2436}" type="slidenum">
              <a:rPr lang="ko-KR" altLang="en-US" smtClean="0"/>
              <a:pPr/>
              <a:t>‹#›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897393-2EB1-46AB-82F2-C97528613E4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2" y="228600"/>
            <a:ext cx="499238" cy="899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ddarahaki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darahakit.com/" TargetMode="Externa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ddarahaki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www.ddarahaki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ddarahakit.com/" TargetMode="Externa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isc.org/downloa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c.org/download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isc.org/downloa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naver.com/" TargetMode="Externa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장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r>
              <a:rPr lang="ko-KR" altLang="en-US" dirty="0"/>
              <a:t> 프로그래밍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4"/>
          <p:cNvSpPr txBox="1"/>
          <p:nvPr/>
        </p:nvSpPr>
        <p:spPr>
          <a:xfrm>
            <a:off x="2362200" y="870619"/>
            <a:ext cx="5424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ko-KR" altLang="en-US" sz="4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파워 자바</a:t>
            </a:r>
            <a:r>
              <a:rPr lang="en-US" altLang="ko-KR" sz="4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4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</a:t>
            </a:r>
            <a:r>
              <a:rPr lang="en-US" altLang="ko-KR" sz="4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4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</a:t>
            </a:r>
            <a:r>
              <a:rPr lang="en-US" altLang="ko-KR" sz="4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4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AB09E4-A111-43CB-9176-BF421CFA1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921046"/>
            <a:ext cx="2653553" cy="26535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524685-1FD1-4D9F-AD66-328B22A3B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855" y="2635324"/>
            <a:ext cx="957097" cy="172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8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53F50-CCEC-406F-8944-97BC85DE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장의 목표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A342285-6BFC-4718-9FCF-3F1552BBF3A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50950" y="1676400"/>
            <a:ext cx="6877050" cy="4343400"/>
          </a:xfrm>
        </p:spPr>
      </p:pic>
    </p:spTree>
    <p:extLst>
      <p:ext uri="{BB962C8B-B14F-4D97-AF65-F5344CB8AC3E}">
        <p14:creationId xmlns:p14="http://schemas.microsoft.com/office/powerpoint/2010/main" val="205947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98EFE-C436-4527-BC03-9585A75E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C5F570-1B52-40E7-9ACE-D97EEACA0D5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2345427"/>
            <a:ext cx="8153400" cy="735594"/>
          </a:xfrm>
        </p:spPr>
        <p:txBody>
          <a:bodyPr/>
          <a:lstStyle/>
          <a:p>
            <a:r>
              <a:rPr lang="ko-KR" altLang="en-US" dirty="0"/>
              <a:t>서버</a:t>
            </a:r>
            <a:r>
              <a:rPr lang="en-US" altLang="ko-KR" dirty="0"/>
              <a:t>: </a:t>
            </a:r>
            <a:r>
              <a:rPr lang="ko-KR" altLang="en-US" dirty="0"/>
              <a:t> 여러 명의 사용자들에게 서비스를 제공하는 컴퓨터</a:t>
            </a:r>
            <a:endParaRPr lang="en-US" altLang="ko-KR" dirty="0"/>
          </a:p>
          <a:p>
            <a:r>
              <a:rPr lang="ko-KR" altLang="en-US" dirty="0"/>
              <a:t>클라이언트 </a:t>
            </a:r>
            <a:r>
              <a:rPr lang="en-US" altLang="ko-KR" dirty="0"/>
              <a:t>: </a:t>
            </a:r>
            <a:r>
              <a:rPr lang="ko-KR" altLang="en-US" dirty="0"/>
              <a:t>서비스를 요청해서 사용하는 컴퓨터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9B5E36A-0B80-4681-89E2-1968A18A3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448" y="3081021"/>
            <a:ext cx="4972890" cy="363061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B62D4AC-FBB0-4FA7-8BE0-6B1D6725AF66}"/>
              </a:ext>
            </a:extLst>
          </p:cNvPr>
          <p:cNvSpPr txBox="1">
            <a:spLocks/>
          </p:cNvSpPr>
          <p:nvPr/>
        </p:nvSpPr>
        <p:spPr>
          <a:xfrm>
            <a:off x="395712" y="1707144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 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1134855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64F0CE-E96D-40BE-BA07-3D536A6F34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2386934"/>
            <a:ext cx="8153400" cy="699380"/>
          </a:xfrm>
        </p:spPr>
        <p:txBody>
          <a:bodyPr/>
          <a:lstStyle/>
          <a:p>
            <a:r>
              <a:rPr lang="en-US" altLang="ko-KR" dirty="0"/>
              <a:t>IP </a:t>
            </a:r>
            <a:r>
              <a:rPr lang="ko-KR" altLang="en-US" dirty="0"/>
              <a:t>주소</a:t>
            </a:r>
            <a:r>
              <a:rPr lang="en-US" altLang="ko-KR" dirty="0"/>
              <a:t>(IP address)</a:t>
            </a:r>
            <a:r>
              <a:rPr lang="ko-KR" altLang="en-US" dirty="0"/>
              <a:t>는 네트워크에 존재하는 컴퓨터를 유일하게 식별하는 숫자이다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CE57C0-2B5B-48F0-908A-1A3DE0FE6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04" y="3086314"/>
            <a:ext cx="6990894" cy="3543086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800E6AD-DC3B-4AE5-83F2-A4EF85544B53}"/>
              </a:ext>
            </a:extLst>
          </p:cNvPr>
          <p:cNvSpPr txBox="1">
            <a:spLocks/>
          </p:cNvSpPr>
          <p:nvPr/>
        </p:nvSpPr>
        <p:spPr>
          <a:xfrm>
            <a:off x="305177" y="1730262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IP</a:t>
            </a:r>
            <a:r>
              <a:rPr lang="ko-KR" altLang="en-US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주소</a:t>
            </a: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(IPv4)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2FF23023-F8CC-43E4-95F4-7558F001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42087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42646-0657-4C06-A49A-25BF99F84A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405041"/>
            <a:ext cx="8153400" cy="663166"/>
          </a:xfrm>
        </p:spPr>
        <p:txBody>
          <a:bodyPr/>
          <a:lstStyle/>
          <a:p>
            <a:r>
              <a:rPr lang="ko-KR" altLang="en-US" dirty="0"/>
              <a:t>최근에는 인터넷상의 컴퓨터 증가로 </a:t>
            </a:r>
            <a:r>
              <a:rPr lang="en-US" altLang="ko-KR" dirty="0"/>
              <a:t>128</a:t>
            </a:r>
            <a:r>
              <a:rPr lang="ko-KR" altLang="en-US" dirty="0"/>
              <a:t>비트를 사용하는 </a:t>
            </a:r>
            <a:r>
              <a:rPr lang="en-US" altLang="ko-KR" dirty="0"/>
              <a:t>IPv6 </a:t>
            </a:r>
            <a:r>
              <a:rPr lang="ko-KR" altLang="en-US" dirty="0"/>
              <a:t>규격이 사용된다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CFD66B-61C2-46F6-B516-1DA7BABE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65" y="3429000"/>
            <a:ext cx="7100210" cy="2656439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9F31E89-8E57-4693-A104-AD922686D12B}"/>
              </a:ext>
            </a:extLst>
          </p:cNvPr>
          <p:cNvSpPr txBox="1">
            <a:spLocks/>
          </p:cNvSpPr>
          <p:nvPr/>
        </p:nvSpPr>
        <p:spPr>
          <a:xfrm>
            <a:off x="305177" y="1730262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IP</a:t>
            </a:r>
            <a:r>
              <a:rPr lang="ko-KR" altLang="en-US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주소</a:t>
            </a: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(IPv6)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8D497E4-E37B-4E41-B0F3-0D749361B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148868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42646-0657-4C06-A49A-25BF99F84A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799376"/>
            <a:ext cx="8153400" cy="654113"/>
          </a:xfrm>
        </p:spPr>
        <p:txBody>
          <a:bodyPr/>
          <a:lstStyle/>
          <a:p>
            <a:r>
              <a:rPr lang="ko-KR" altLang="en-US" sz="1800" b="0" i="0" u="none" strike="noStrike" baseline="0" dirty="0">
                <a:latin typeface="YDVYMjOStd125"/>
              </a:rPr>
              <a:t>자기 컴퓨터의 </a:t>
            </a:r>
            <a:r>
              <a:rPr lang="en-US" altLang="ko-KR" sz="1800" b="0" i="0" u="none" strike="noStrike" baseline="0" dirty="0">
                <a:latin typeface="MinionPro-Regular"/>
              </a:rPr>
              <a:t>IP </a:t>
            </a:r>
            <a:r>
              <a:rPr lang="ko-KR" altLang="en-US" sz="1800" b="0" i="0" u="none" strike="noStrike" baseline="0" dirty="0">
                <a:latin typeface="YDVYMjOStd125"/>
              </a:rPr>
              <a:t>주소를 알아보려면 다음과 같이 </a:t>
            </a:r>
            <a:r>
              <a:rPr lang="en-US" altLang="ko-KR" sz="1800" b="0" i="0" u="none" strike="noStrike" baseline="0" dirty="0">
                <a:latin typeface="MinionPro-Regular"/>
              </a:rPr>
              <a:t>ipconfig </a:t>
            </a:r>
            <a:r>
              <a:rPr lang="ko-KR" altLang="en-US" sz="1800" b="0" i="0" u="none" strike="noStrike" baseline="0" dirty="0">
                <a:latin typeface="YDVYMjOStd125"/>
              </a:rPr>
              <a:t>명령어를 실행시키면 된다</a:t>
            </a:r>
            <a:r>
              <a:rPr lang="en-US" altLang="ko-KR" sz="1800" b="0" i="0" u="none" strike="noStrike" baseline="0" dirty="0">
                <a:latin typeface="MinionPro-Regular"/>
              </a:rPr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ED0553-ED63-4147-84D5-D963E4BF8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6" y="2977392"/>
            <a:ext cx="7252447" cy="2280408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5F996B2-0FC6-48B2-A8A0-68216C84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300976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916" y="3690599"/>
            <a:ext cx="3438591" cy="298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2363947"/>
            <a:ext cx="8153400" cy="1188267"/>
          </a:xfrm>
        </p:spPr>
        <p:txBody>
          <a:bodyPr/>
          <a:lstStyle/>
          <a:p>
            <a:r>
              <a:rPr lang="en-US" altLang="ko-KR" dirty="0"/>
              <a:t>DNS(Domain Name System): </a:t>
            </a:r>
            <a:r>
              <a:rPr lang="ko-KR" altLang="en-US" dirty="0"/>
              <a:t>숫자 대신 기호를 사용하는 주소 </a:t>
            </a:r>
          </a:p>
          <a:p>
            <a:r>
              <a:rPr lang="en-US" altLang="ko-KR" dirty="0"/>
              <a:t>DNS </a:t>
            </a:r>
            <a:r>
              <a:rPr lang="ko-KR" altLang="en-US" dirty="0"/>
              <a:t>서버</a:t>
            </a:r>
            <a:r>
              <a:rPr lang="en-US" altLang="ko-KR" dirty="0"/>
              <a:t>: </a:t>
            </a:r>
            <a:r>
              <a:rPr lang="ko-KR" altLang="en-US" dirty="0"/>
              <a:t>기호 주소를 숫자 주소가 변환해주는 서버</a:t>
            </a:r>
          </a:p>
          <a:p>
            <a:r>
              <a:rPr lang="en-US" altLang="ko-KR" dirty="0"/>
              <a:t>URL(Uniform Resource Locator): </a:t>
            </a:r>
            <a:r>
              <a:rPr lang="ko-KR" altLang="en-US" dirty="0"/>
              <a:t>인터넷 상의 자원을 나타내는 약속</a:t>
            </a:r>
          </a:p>
          <a:p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34F1892-E7AA-4B5B-9431-F7E72A48A621}"/>
              </a:ext>
            </a:extLst>
          </p:cNvPr>
          <p:cNvSpPr txBox="1">
            <a:spLocks/>
          </p:cNvSpPr>
          <p:nvPr/>
        </p:nvSpPr>
        <p:spPr>
          <a:xfrm>
            <a:off x="305177" y="1730262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</a:t>
            </a:r>
            <a:r>
              <a:rPr lang="ko-KR" altLang="en-US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호스트이름</a:t>
            </a: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, DNS, URL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6848352-FB9E-4379-88B1-F122987A7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14021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D262257-3E38-452F-9C5A-F4C3BA9CCA67}"/>
              </a:ext>
            </a:extLst>
          </p:cNvPr>
          <p:cNvSpPr txBox="1"/>
          <p:nvPr/>
        </p:nvSpPr>
        <p:spPr>
          <a:xfrm>
            <a:off x="395536" y="2342808"/>
            <a:ext cx="77048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◎ </a:t>
            </a:r>
            <a:r>
              <a:rPr lang="en-US" altLang="ko-KR" sz="2200" b="1" kern="10" dirty="0">
                <a:solidFill>
                  <a:srgbClr val="C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www.ddarahakit.com</a:t>
            </a:r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200" b="1" kern="10" dirty="0" err="1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접속시</a:t>
            </a:r>
            <a:r>
              <a:rPr lang="ko-KR" altLang="en-US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DNS </a:t>
            </a:r>
            <a:r>
              <a:rPr lang="ko-KR" altLang="en-US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서비스 동작 과정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6275D-1881-40D9-9D33-D3D4D4CEF9CE}"/>
              </a:ext>
            </a:extLst>
          </p:cNvPr>
          <p:cNvSpPr txBox="1"/>
          <p:nvPr/>
        </p:nvSpPr>
        <p:spPr>
          <a:xfrm>
            <a:off x="254116" y="1713283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 </a:t>
            </a:r>
            <a:r>
              <a:rPr lang="ko-KR" altLang="en-US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도메인주소가 </a:t>
            </a:r>
            <a:r>
              <a:rPr lang="en-US" altLang="ko-KR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IP</a:t>
            </a:r>
            <a:r>
              <a:rPr lang="ko-KR" altLang="en-US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주소로 바뀌는 절차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ADC23F-6415-44A4-B10E-434B3FFEFFA1}"/>
              </a:ext>
            </a:extLst>
          </p:cNvPr>
          <p:cNvSpPr txBox="1"/>
          <p:nvPr/>
        </p:nvSpPr>
        <p:spPr>
          <a:xfrm>
            <a:off x="683568" y="3080112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Local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서버에게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요청</a:t>
            </a:r>
          </a:p>
        </p:txBody>
      </p:sp>
      <p:pic>
        <p:nvPicPr>
          <p:cNvPr id="12" name="그래픽 11" descr="닫혀 있는 책">
            <a:extLst>
              <a:ext uri="{FF2B5EF4-FFF2-40B4-BE49-F238E27FC236}">
                <a16:creationId xmlns:a16="http://schemas.microsoft.com/office/drawing/2014/main" id="{82D49276-3F56-4A62-A0B6-3FC5422C0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2548" y="4621775"/>
            <a:ext cx="638463" cy="637220"/>
          </a:xfrm>
          <a:prstGeom prst="rect">
            <a:avLst/>
          </a:prstGeom>
        </p:spPr>
      </p:pic>
      <p:pic>
        <p:nvPicPr>
          <p:cNvPr id="13" name="그래픽 12" descr="닫혀 있는 책">
            <a:extLst>
              <a:ext uri="{FF2B5EF4-FFF2-40B4-BE49-F238E27FC236}">
                <a16:creationId xmlns:a16="http://schemas.microsoft.com/office/drawing/2014/main" id="{E8D24A64-A42B-47DA-85DA-2A48C75EB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3855" y="3584168"/>
            <a:ext cx="638463" cy="637220"/>
          </a:xfrm>
          <a:prstGeom prst="rect">
            <a:avLst/>
          </a:prstGeom>
        </p:spPr>
      </p:pic>
      <p:pic>
        <p:nvPicPr>
          <p:cNvPr id="14" name="그래픽 13" descr="닫혀 있는 책">
            <a:extLst>
              <a:ext uri="{FF2B5EF4-FFF2-40B4-BE49-F238E27FC236}">
                <a16:creationId xmlns:a16="http://schemas.microsoft.com/office/drawing/2014/main" id="{C6EF87F2-4524-45BD-9A56-E8E3024D8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3855" y="4621775"/>
            <a:ext cx="638463" cy="637220"/>
          </a:xfrm>
          <a:prstGeom prst="rect">
            <a:avLst/>
          </a:prstGeom>
        </p:spPr>
      </p:pic>
      <p:pic>
        <p:nvPicPr>
          <p:cNvPr id="15" name="그래픽 14" descr="닫혀 있는 책">
            <a:extLst>
              <a:ext uri="{FF2B5EF4-FFF2-40B4-BE49-F238E27FC236}">
                <a16:creationId xmlns:a16="http://schemas.microsoft.com/office/drawing/2014/main" id="{0449BF75-2C5A-4667-ACB3-58B011E6B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3855" y="5789310"/>
            <a:ext cx="638463" cy="637220"/>
          </a:xfrm>
          <a:prstGeom prst="rect">
            <a:avLst/>
          </a:prstGeom>
        </p:spPr>
      </p:pic>
      <p:pic>
        <p:nvPicPr>
          <p:cNvPr id="16" name="그래픽 15" descr="컴퓨터">
            <a:extLst>
              <a:ext uri="{FF2B5EF4-FFF2-40B4-BE49-F238E27FC236}">
                <a16:creationId xmlns:a16="http://schemas.microsoft.com/office/drawing/2014/main" id="{08A0F514-EC4A-4A0E-AA8F-31E204BCC6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656" y="4493166"/>
            <a:ext cx="916183" cy="914400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4472E84-E2D6-4A0D-BC46-20DFC0107B42}"/>
              </a:ext>
            </a:extLst>
          </p:cNvPr>
          <p:cNvCxnSpPr>
            <a:cxnSpLocks/>
            <a:endCxn id="13" idx="1"/>
          </p:cNvCxnSpPr>
          <p:nvPr/>
        </p:nvCxnSpPr>
        <p:spPr bwMode="auto">
          <a:xfrm flipV="1">
            <a:off x="4781011" y="3902778"/>
            <a:ext cx="942844" cy="8632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B57282A-0DD9-4DF3-9EC9-F538325DDE41}"/>
              </a:ext>
            </a:extLst>
          </p:cNvPr>
          <p:cNvCxnSpPr>
            <a:stCxn id="12" idx="3"/>
            <a:endCxn id="14" idx="1"/>
          </p:cNvCxnSpPr>
          <p:nvPr/>
        </p:nvCxnSpPr>
        <p:spPr bwMode="auto">
          <a:xfrm>
            <a:off x="4781011" y="4940385"/>
            <a:ext cx="94284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243B219-B4A4-4E23-9B9F-9D6E5EAD968A}"/>
              </a:ext>
            </a:extLst>
          </p:cNvPr>
          <p:cNvCxnSpPr>
            <a:cxnSpLocks/>
            <a:endCxn id="15" idx="1"/>
          </p:cNvCxnSpPr>
          <p:nvPr/>
        </p:nvCxnSpPr>
        <p:spPr bwMode="auto">
          <a:xfrm>
            <a:off x="4781011" y="5166414"/>
            <a:ext cx="942844" cy="9415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640294-2891-44F5-96AE-2900848DB928}"/>
              </a:ext>
            </a:extLst>
          </p:cNvPr>
          <p:cNvSpPr txBox="1"/>
          <p:nvPr/>
        </p:nvSpPr>
        <p:spPr>
          <a:xfrm>
            <a:off x="3984131" y="5315746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/>
              <a:t>로컬</a:t>
            </a:r>
            <a:r>
              <a:rPr lang="en-US" altLang="ko-KR" sz="1600" dirty="0"/>
              <a:t>DNS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A39C12-3402-40F1-A284-10CDCE85182E}"/>
              </a:ext>
            </a:extLst>
          </p:cNvPr>
          <p:cNvSpPr txBox="1"/>
          <p:nvPr/>
        </p:nvSpPr>
        <p:spPr>
          <a:xfrm>
            <a:off x="6265953" y="3752906"/>
            <a:ext cx="1073311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en-US" altLang="ko-KR" sz="1600" dirty="0"/>
              <a:t> </a:t>
            </a:r>
            <a:r>
              <a:rPr lang="ko-KR" altLang="en-US" sz="1600" dirty="0"/>
              <a:t>루트</a:t>
            </a:r>
            <a:r>
              <a:rPr lang="en-US" altLang="ko-KR" sz="1600" dirty="0"/>
              <a:t>DNS</a:t>
            </a:r>
            <a:endParaRPr lang="ko-KR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AFCA9-2507-4534-866D-5AC160728AF4}"/>
              </a:ext>
            </a:extLst>
          </p:cNvPr>
          <p:cNvSpPr txBox="1"/>
          <p:nvPr/>
        </p:nvSpPr>
        <p:spPr>
          <a:xfrm>
            <a:off x="6378588" y="4766027"/>
            <a:ext cx="1289756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/>
              <a:t>최상위</a:t>
            </a:r>
            <a:r>
              <a:rPr lang="en-US" altLang="ko-KR" sz="1600" dirty="0"/>
              <a:t> DNS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0DFFCE-FBDF-4A82-B6F1-10A2528C329E}"/>
              </a:ext>
            </a:extLst>
          </p:cNvPr>
          <p:cNvSpPr txBox="1"/>
          <p:nvPr/>
        </p:nvSpPr>
        <p:spPr>
          <a:xfrm>
            <a:off x="6378588" y="5938643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/>
              <a:t>책임</a:t>
            </a:r>
            <a:r>
              <a:rPr lang="en-US" altLang="ko-KR" sz="1600" dirty="0"/>
              <a:t>DNS</a:t>
            </a:r>
            <a:endParaRPr lang="ko-KR" alt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49DA6-701E-49DB-8182-03DEDFCEE26A}"/>
              </a:ext>
            </a:extLst>
          </p:cNvPr>
          <p:cNvSpPr txBox="1"/>
          <p:nvPr/>
        </p:nvSpPr>
        <p:spPr>
          <a:xfrm>
            <a:off x="2222802" y="4168155"/>
            <a:ext cx="2208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C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www.ddarahakit.com</a:t>
            </a:r>
            <a:r>
              <a:rPr lang="en-US" altLang="ko-KR" sz="1400" b="1" kern="10" dirty="0">
                <a:solidFill>
                  <a:srgbClr val="C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의 </a:t>
            </a:r>
            <a:endParaRPr lang="en-US" altLang="ko-KR" sz="1400" b="1" kern="10" dirty="0">
              <a:solidFill>
                <a:srgbClr val="0000FF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주소 </a:t>
            </a:r>
            <a:r>
              <a:rPr lang="ko-KR" altLang="en-US" sz="1400" b="1" kern="10" dirty="0" err="1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뭐지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  <a:endParaRPr lang="ko-KR" altLang="en-US" sz="14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BC82B1E-9488-4066-8A55-10621927898E}"/>
              </a:ext>
            </a:extLst>
          </p:cNvPr>
          <p:cNvCxnSpPr>
            <a:cxnSpLocks/>
          </p:cNvCxnSpPr>
          <p:nvPr/>
        </p:nvCxnSpPr>
        <p:spPr bwMode="auto">
          <a:xfrm flipV="1">
            <a:off x="2406061" y="4935304"/>
            <a:ext cx="1841903" cy="2555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제목 1">
            <a:extLst>
              <a:ext uri="{FF2B5EF4-FFF2-40B4-BE49-F238E27FC236}">
                <a16:creationId xmlns:a16="http://schemas.microsoft.com/office/drawing/2014/main" id="{361263B6-410F-4D00-82C8-CA4694A2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590341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E9D2D178-3971-4530-BC56-899AD003A1E4}"/>
              </a:ext>
            </a:extLst>
          </p:cNvPr>
          <p:cNvSpPr txBox="1"/>
          <p:nvPr/>
        </p:nvSpPr>
        <p:spPr>
          <a:xfrm>
            <a:off x="484811" y="1899977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서버는 루트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서버에게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.com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IP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요청</a:t>
            </a:r>
          </a:p>
        </p:txBody>
      </p:sp>
      <p:pic>
        <p:nvPicPr>
          <p:cNvPr id="27" name="그래픽 26" descr="닫혀 있는 책">
            <a:extLst>
              <a:ext uri="{FF2B5EF4-FFF2-40B4-BE49-F238E27FC236}">
                <a16:creationId xmlns:a16="http://schemas.microsoft.com/office/drawing/2014/main" id="{D3ED25E5-6A81-4726-B7BE-E4A4E951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5799" y="3997086"/>
            <a:ext cx="638463" cy="637220"/>
          </a:xfrm>
          <a:prstGeom prst="rect">
            <a:avLst/>
          </a:prstGeom>
        </p:spPr>
      </p:pic>
      <p:pic>
        <p:nvPicPr>
          <p:cNvPr id="28" name="그래픽 27" descr="닫혀 있는 책">
            <a:extLst>
              <a:ext uri="{FF2B5EF4-FFF2-40B4-BE49-F238E27FC236}">
                <a16:creationId xmlns:a16="http://schemas.microsoft.com/office/drawing/2014/main" id="{C9DAC215-83CD-4457-A7A4-EAD0DEDAC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7106" y="2959479"/>
            <a:ext cx="638463" cy="637220"/>
          </a:xfrm>
          <a:prstGeom prst="rect">
            <a:avLst/>
          </a:prstGeom>
        </p:spPr>
      </p:pic>
      <p:pic>
        <p:nvPicPr>
          <p:cNvPr id="29" name="그래픽 28" descr="닫혀 있는 책">
            <a:extLst>
              <a:ext uri="{FF2B5EF4-FFF2-40B4-BE49-F238E27FC236}">
                <a16:creationId xmlns:a16="http://schemas.microsoft.com/office/drawing/2014/main" id="{A23339A8-CC55-4715-84EC-39E124EB9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7106" y="3997086"/>
            <a:ext cx="638463" cy="637220"/>
          </a:xfrm>
          <a:prstGeom prst="rect">
            <a:avLst/>
          </a:prstGeom>
        </p:spPr>
      </p:pic>
      <p:pic>
        <p:nvPicPr>
          <p:cNvPr id="30" name="그래픽 29" descr="닫혀 있는 책">
            <a:extLst>
              <a:ext uri="{FF2B5EF4-FFF2-40B4-BE49-F238E27FC236}">
                <a16:creationId xmlns:a16="http://schemas.microsoft.com/office/drawing/2014/main" id="{B6A6C79B-8F41-4188-BC57-772F8475C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7106" y="5164621"/>
            <a:ext cx="638463" cy="637220"/>
          </a:xfrm>
          <a:prstGeom prst="rect">
            <a:avLst/>
          </a:prstGeom>
        </p:spPr>
      </p:pic>
      <p:pic>
        <p:nvPicPr>
          <p:cNvPr id="31" name="그래픽 30" descr="컴퓨터">
            <a:extLst>
              <a:ext uri="{FF2B5EF4-FFF2-40B4-BE49-F238E27FC236}">
                <a16:creationId xmlns:a16="http://schemas.microsoft.com/office/drawing/2014/main" id="{2008D768-CA60-4157-97F9-A61EEC2C9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8907" y="3868477"/>
            <a:ext cx="916183" cy="914400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4A0FAD2-BE6A-4287-96F4-8B0040639A9B}"/>
              </a:ext>
            </a:extLst>
          </p:cNvPr>
          <p:cNvCxnSpPr>
            <a:stCxn id="27" idx="3"/>
            <a:endCxn id="29" idx="1"/>
          </p:cNvCxnSpPr>
          <p:nvPr/>
        </p:nvCxnSpPr>
        <p:spPr bwMode="auto">
          <a:xfrm>
            <a:off x="4654262" y="4315696"/>
            <a:ext cx="94284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BA62750-8A2C-4FBF-91CB-FEA0FF20EA0F}"/>
              </a:ext>
            </a:extLst>
          </p:cNvPr>
          <p:cNvCxnSpPr>
            <a:cxnSpLocks/>
            <a:endCxn id="30" idx="1"/>
          </p:cNvCxnSpPr>
          <p:nvPr/>
        </p:nvCxnSpPr>
        <p:spPr bwMode="auto">
          <a:xfrm>
            <a:off x="4654262" y="4541725"/>
            <a:ext cx="942844" cy="9415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46C8E5C-33D9-4974-9320-4F2CB534E30A}"/>
              </a:ext>
            </a:extLst>
          </p:cNvPr>
          <p:cNvSpPr txBox="1"/>
          <p:nvPr/>
        </p:nvSpPr>
        <p:spPr>
          <a:xfrm>
            <a:off x="3857382" y="4691057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805FA2-B482-4F6B-8FF7-A7E974FD39A1}"/>
              </a:ext>
            </a:extLst>
          </p:cNvPr>
          <p:cNvSpPr txBox="1"/>
          <p:nvPr/>
        </p:nvSpPr>
        <p:spPr>
          <a:xfrm>
            <a:off x="6139204" y="3128217"/>
            <a:ext cx="1073311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루트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6D6B31-8FFA-4FD0-8F31-48CC5D1C135B}"/>
              </a:ext>
            </a:extLst>
          </p:cNvPr>
          <p:cNvSpPr txBox="1"/>
          <p:nvPr/>
        </p:nvSpPr>
        <p:spPr>
          <a:xfrm>
            <a:off x="6251839" y="4141338"/>
            <a:ext cx="1289756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최상위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D87741-7241-4F28-B789-633EADF30AB6}"/>
              </a:ext>
            </a:extLst>
          </p:cNvPr>
          <p:cNvSpPr txBox="1"/>
          <p:nvPr/>
        </p:nvSpPr>
        <p:spPr>
          <a:xfrm>
            <a:off x="6251839" y="5313954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ED9CC0-4E9D-4D98-94D1-92C1DB7FFC86}"/>
              </a:ext>
            </a:extLst>
          </p:cNvPr>
          <p:cNvSpPr txBox="1"/>
          <p:nvPr/>
        </p:nvSpPr>
        <p:spPr>
          <a:xfrm>
            <a:off x="3308276" y="2903465"/>
            <a:ext cx="2129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.com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의 도메인 사용 </a:t>
            </a:r>
            <a:endParaRPr lang="en-US" altLang="ko-KR" sz="1400" b="1" kern="10" dirty="0">
              <a:solidFill>
                <a:srgbClr val="0000FF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컴퓨터의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ko-KR" altLang="en-US" sz="1400" b="1" kern="10" dirty="0" err="1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뭐지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EE6F532-CEB1-4516-BE07-5E2BC44BB08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79312" y="4310615"/>
            <a:ext cx="1841903" cy="255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D3C64A4-4151-4CFD-A3DF-8E09D432ECAD}"/>
              </a:ext>
            </a:extLst>
          </p:cNvPr>
          <p:cNvCxnSpPr/>
          <p:nvPr/>
        </p:nvCxnSpPr>
        <p:spPr bwMode="auto">
          <a:xfrm flipV="1">
            <a:off x="4517259" y="3104203"/>
            <a:ext cx="1079847" cy="89007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44B7C57-72F9-469D-95E0-A76C09E3AF64}"/>
              </a:ext>
            </a:extLst>
          </p:cNvPr>
          <p:cNvCxnSpPr>
            <a:cxnSpLocks/>
            <a:stCxn id="28" idx="1"/>
          </p:cNvCxnSpPr>
          <p:nvPr/>
        </p:nvCxnSpPr>
        <p:spPr bwMode="auto">
          <a:xfrm flipH="1">
            <a:off x="4590142" y="3278089"/>
            <a:ext cx="1006964" cy="84892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D8DD9A5-D252-4F5F-9EDC-0503297A7D5E}"/>
              </a:ext>
            </a:extLst>
          </p:cNvPr>
          <p:cNvSpPr txBox="1"/>
          <p:nvPr/>
        </p:nvSpPr>
        <p:spPr>
          <a:xfrm>
            <a:off x="4864341" y="3663189"/>
            <a:ext cx="2365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10.10.10.10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이야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제목 1">
            <a:extLst>
              <a:ext uri="{FF2B5EF4-FFF2-40B4-BE49-F238E27FC236}">
                <a16:creationId xmlns:a16="http://schemas.microsoft.com/office/drawing/2014/main" id="{5AF47DD9-283B-4FD0-A289-89B42F7C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55478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3976BD9-6330-4B17-9130-246EDF1C8954}"/>
              </a:ext>
            </a:extLst>
          </p:cNvPr>
          <p:cNvSpPr txBox="1"/>
          <p:nvPr/>
        </p:nvSpPr>
        <p:spPr>
          <a:xfrm>
            <a:off x="436648" y="1981458"/>
            <a:ext cx="83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서버는 받은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IP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찾아가 </a:t>
            </a:r>
            <a:r>
              <a:rPr lang="en-US" altLang="ko-KR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ddarahakit.com </a:t>
            </a:r>
            <a:r>
              <a:rPr lang="en-US" altLang="ko-KR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 </a:t>
            </a:r>
            <a:r>
              <a:rPr lang="ko-KR" altLang="en-US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</a:p>
        </p:txBody>
      </p:sp>
      <p:pic>
        <p:nvPicPr>
          <p:cNvPr id="21" name="그래픽 20" descr="닫혀 있는 책">
            <a:extLst>
              <a:ext uri="{FF2B5EF4-FFF2-40B4-BE49-F238E27FC236}">
                <a16:creationId xmlns:a16="http://schemas.microsoft.com/office/drawing/2014/main" id="{F2B084B5-D62D-41E5-9C91-92685078F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401" y="4078567"/>
            <a:ext cx="638463" cy="637220"/>
          </a:xfrm>
          <a:prstGeom prst="rect">
            <a:avLst/>
          </a:prstGeom>
        </p:spPr>
      </p:pic>
      <p:pic>
        <p:nvPicPr>
          <p:cNvPr id="22" name="그래픽 21" descr="닫혀 있는 책">
            <a:extLst>
              <a:ext uri="{FF2B5EF4-FFF2-40B4-BE49-F238E27FC236}">
                <a16:creationId xmlns:a16="http://schemas.microsoft.com/office/drawing/2014/main" id="{54F74E7C-C600-4BF2-B775-AAFB2AE2E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8983" y="3040960"/>
            <a:ext cx="638463" cy="637220"/>
          </a:xfrm>
          <a:prstGeom prst="rect">
            <a:avLst/>
          </a:prstGeom>
        </p:spPr>
      </p:pic>
      <p:pic>
        <p:nvPicPr>
          <p:cNvPr id="23" name="그래픽 22" descr="닫혀 있는 책">
            <a:extLst>
              <a:ext uri="{FF2B5EF4-FFF2-40B4-BE49-F238E27FC236}">
                <a16:creationId xmlns:a16="http://schemas.microsoft.com/office/drawing/2014/main" id="{1D46ABB7-CC77-48DA-8FBB-EA9DD7BD8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8983" y="4078567"/>
            <a:ext cx="638463" cy="637220"/>
          </a:xfrm>
          <a:prstGeom prst="rect">
            <a:avLst/>
          </a:prstGeom>
        </p:spPr>
      </p:pic>
      <p:pic>
        <p:nvPicPr>
          <p:cNvPr id="24" name="그래픽 23" descr="닫혀 있는 책">
            <a:extLst>
              <a:ext uri="{FF2B5EF4-FFF2-40B4-BE49-F238E27FC236}">
                <a16:creationId xmlns:a16="http://schemas.microsoft.com/office/drawing/2014/main" id="{1988CD2F-585A-4E26-87C4-E7006AA2F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8983" y="5246102"/>
            <a:ext cx="638463" cy="637220"/>
          </a:xfrm>
          <a:prstGeom prst="rect">
            <a:avLst/>
          </a:prstGeom>
        </p:spPr>
      </p:pic>
      <p:pic>
        <p:nvPicPr>
          <p:cNvPr id="25" name="그래픽 24" descr="컴퓨터">
            <a:extLst>
              <a:ext uri="{FF2B5EF4-FFF2-40B4-BE49-F238E27FC236}">
                <a16:creationId xmlns:a16="http://schemas.microsoft.com/office/drawing/2014/main" id="{37CDEF9F-B701-4230-82FA-C9C4E6F0B5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744" y="3949958"/>
            <a:ext cx="916183" cy="914400"/>
          </a:xfrm>
          <a:prstGeom prst="rect">
            <a:avLst/>
          </a:prstGeom>
        </p:spPr>
      </p:pic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E18D15A-A3DB-435A-9078-0964BE9B2F57}"/>
              </a:ext>
            </a:extLst>
          </p:cNvPr>
          <p:cNvCxnSpPr>
            <a:cxnSpLocks/>
            <a:endCxn id="22" idx="1"/>
          </p:cNvCxnSpPr>
          <p:nvPr/>
        </p:nvCxnSpPr>
        <p:spPr bwMode="auto">
          <a:xfrm flipV="1">
            <a:off x="4163356" y="3359570"/>
            <a:ext cx="1745627" cy="7936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6092EC6-404A-42ED-AA2B-B3AAAB853524}"/>
              </a:ext>
            </a:extLst>
          </p:cNvPr>
          <p:cNvSpPr txBox="1"/>
          <p:nvPr/>
        </p:nvSpPr>
        <p:spPr>
          <a:xfrm>
            <a:off x="3215745" y="4653793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80031B-DD16-475C-92BF-A8DC1113FF8B}"/>
              </a:ext>
            </a:extLst>
          </p:cNvPr>
          <p:cNvSpPr txBox="1"/>
          <p:nvPr/>
        </p:nvSpPr>
        <p:spPr>
          <a:xfrm>
            <a:off x="6451081" y="3209698"/>
            <a:ext cx="1073311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루트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86CB67-0009-47B6-ACC5-1DF524F48AC6}"/>
              </a:ext>
            </a:extLst>
          </p:cNvPr>
          <p:cNvSpPr txBox="1"/>
          <p:nvPr/>
        </p:nvSpPr>
        <p:spPr>
          <a:xfrm>
            <a:off x="6563716" y="4222819"/>
            <a:ext cx="1289756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최상위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2782B3-B92F-4888-83A2-66394BD547B2}"/>
              </a:ext>
            </a:extLst>
          </p:cNvPr>
          <p:cNvSpPr txBox="1"/>
          <p:nvPr/>
        </p:nvSpPr>
        <p:spPr>
          <a:xfrm>
            <a:off x="6563716" y="5395435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E8B2186-FFBC-4EED-937D-5559E868D2EF}"/>
              </a:ext>
            </a:extLst>
          </p:cNvPr>
          <p:cNvCxnSpPr>
            <a:cxnSpLocks/>
            <a:endCxn id="21" idx="1"/>
          </p:cNvCxnSpPr>
          <p:nvPr/>
        </p:nvCxnSpPr>
        <p:spPr bwMode="auto">
          <a:xfrm flipV="1">
            <a:off x="2159141" y="4397177"/>
            <a:ext cx="1460260" cy="204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034D0D-8731-470F-BCCD-858C530EEC94}"/>
              </a:ext>
            </a:extLst>
          </p:cNvPr>
          <p:cNvSpPr txBox="1"/>
          <p:nvPr/>
        </p:nvSpPr>
        <p:spPr>
          <a:xfrm>
            <a:off x="4131928" y="3807459"/>
            <a:ext cx="2129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ddarahakit.com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ko-KR" altLang="en-US" sz="1400" b="1" kern="10" dirty="0" err="1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뭐지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5A49AF14-6BDF-4C4E-B13E-108557AC472B}"/>
              </a:ext>
            </a:extLst>
          </p:cNvPr>
          <p:cNvCxnSpPr/>
          <p:nvPr/>
        </p:nvCxnSpPr>
        <p:spPr bwMode="auto">
          <a:xfrm>
            <a:off x="4183323" y="4337104"/>
            <a:ext cx="18002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D3EED4B-469F-4BE5-A1B9-7B4C4AC52CB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183323" y="4508123"/>
            <a:ext cx="1709391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FC2BBB2-678D-487D-9D29-7D391BCEF90A}"/>
              </a:ext>
            </a:extLst>
          </p:cNvPr>
          <p:cNvSpPr txBox="1"/>
          <p:nvPr/>
        </p:nvSpPr>
        <p:spPr>
          <a:xfrm>
            <a:off x="4111112" y="4569304"/>
            <a:ext cx="2365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20.20.20.20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이야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제목 1">
            <a:extLst>
              <a:ext uri="{FF2B5EF4-FFF2-40B4-BE49-F238E27FC236}">
                <a16:creationId xmlns:a16="http://schemas.microsoft.com/office/drawing/2014/main" id="{1499D0D2-7E41-4355-BBF1-4A22A421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302247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308BFD-7D65-4488-95B7-556B2546EC68}"/>
              </a:ext>
            </a:extLst>
          </p:cNvPr>
          <p:cNvSpPr txBox="1"/>
          <p:nvPr/>
        </p:nvSpPr>
        <p:spPr>
          <a:xfrm>
            <a:off x="439543" y="2008618"/>
            <a:ext cx="8550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서버는 받은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IP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찾아가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www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ddarahakit.com </a:t>
            </a:r>
            <a:r>
              <a:rPr lang="en-US" altLang="ko-KR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 </a:t>
            </a:r>
            <a:r>
              <a:rPr lang="ko-KR" altLang="en-US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요청</a:t>
            </a:r>
          </a:p>
        </p:txBody>
      </p:sp>
      <p:pic>
        <p:nvPicPr>
          <p:cNvPr id="5" name="그래픽 4" descr="닫혀 있는 책">
            <a:extLst>
              <a:ext uri="{FF2B5EF4-FFF2-40B4-BE49-F238E27FC236}">
                <a16:creationId xmlns:a16="http://schemas.microsoft.com/office/drawing/2014/main" id="{7D78F120-A5BF-4BC2-8ABA-694CC2208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5488" y="4105727"/>
            <a:ext cx="638463" cy="637220"/>
          </a:xfrm>
          <a:prstGeom prst="rect">
            <a:avLst/>
          </a:prstGeom>
        </p:spPr>
      </p:pic>
      <p:pic>
        <p:nvPicPr>
          <p:cNvPr id="6" name="그래픽 5" descr="닫혀 있는 책">
            <a:extLst>
              <a:ext uri="{FF2B5EF4-FFF2-40B4-BE49-F238E27FC236}">
                <a16:creationId xmlns:a16="http://schemas.microsoft.com/office/drawing/2014/main" id="{6A5CDA8F-3B7C-42BC-AAE9-405CB0D20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911" y="3068120"/>
            <a:ext cx="638463" cy="637220"/>
          </a:xfrm>
          <a:prstGeom prst="rect">
            <a:avLst/>
          </a:prstGeom>
        </p:spPr>
      </p:pic>
      <p:pic>
        <p:nvPicPr>
          <p:cNvPr id="7" name="그래픽 6" descr="닫혀 있는 책">
            <a:extLst>
              <a:ext uri="{FF2B5EF4-FFF2-40B4-BE49-F238E27FC236}">
                <a16:creationId xmlns:a16="http://schemas.microsoft.com/office/drawing/2014/main" id="{69D9B7E9-2137-4E61-86F5-944FA6221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911" y="4105727"/>
            <a:ext cx="638463" cy="637220"/>
          </a:xfrm>
          <a:prstGeom prst="rect">
            <a:avLst/>
          </a:prstGeom>
        </p:spPr>
      </p:pic>
      <p:pic>
        <p:nvPicPr>
          <p:cNvPr id="8" name="그래픽 7" descr="닫혀 있는 책">
            <a:extLst>
              <a:ext uri="{FF2B5EF4-FFF2-40B4-BE49-F238E27FC236}">
                <a16:creationId xmlns:a16="http://schemas.microsoft.com/office/drawing/2014/main" id="{2E3B3B95-B7B0-4447-9FA0-9C6BDDB83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911" y="5273262"/>
            <a:ext cx="638463" cy="637220"/>
          </a:xfrm>
          <a:prstGeom prst="rect">
            <a:avLst/>
          </a:prstGeom>
        </p:spPr>
      </p:pic>
      <p:pic>
        <p:nvPicPr>
          <p:cNvPr id="9" name="그래픽 8" descr="컴퓨터">
            <a:extLst>
              <a:ext uri="{FF2B5EF4-FFF2-40B4-BE49-F238E27FC236}">
                <a16:creationId xmlns:a16="http://schemas.microsoft.com/office/drawing/2014/main" id="{9BB65E8E-E004-4B74-BA2A-E7D26A9CA0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624" y="3977118"/>
            <a:ext cx="916183" cy="91440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70F4069-8D9D-4095-B483-34145171D309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 flipV="1">
            <a:off x="4111952" y="3386730"/>
            <a:ext cx="2087959" cy="8444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29AA9D-3D5D-44B3-AEEE-97E66415F5F0}"/>
              </a:ext>
            </a:extLst>
          </p:cNvPr>
          <p:cNvSpPr txBox="1"/>
          <p:nvPr/>
        </p:nvSpPr>
        <p:spPr>
          <a:xfrm>
            <a:off x="3031832" y="4680953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79EED2-0488-47C0-9B88-785792FA45AB}"/>
              </a:ext>
            </a:extLst>
          </p:cNvPr>
          <p:cNvSpPr txBox="1"/>
          <p:nvPr/>
        </p:nvSpPr>
        <p:spPr>
          <a:xfrm>
            <a:off x="6742009" y="3236858"/>
            <a:ext cx="1073311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루트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63152-E9C5-4F20-BD19-7E5E413243A6}"/>
              </a:ext>
            </a:extLst>
          </p:cNvPr>
          <p:cNvSpPr txBox="1"/>
          <p:nvPr/>
        </p:nvSpPr>
        <p:spPr>
          <a:xfrm>
            <a:off x="6854644" y="4249979"/>
            <a:ext cx="1289756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최상위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B1B9-7A94-4B88-9B92-33C913B1EF14}"/>
              </a:ext>
            </a:extLst>
          </p:cNvPr>
          <p:cNvSpPr txBox="1"/>
          <p:nvPr/>
        </p:nvSpPr>
        <p:spPr>
          <a:xfrm>
            <a:off x="6854644" y="5422595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C225483-5A97-4253-B872-7DD1A7CC4551}"/>
              </a:ext>
            </a:extLst>
          </p:cNvPr>
          <p:cNvCxnSpPr>
            <a:cxnSpLocks/>
          </p:cNvCxnSpPr>
          <p:nvPr/>
        </p:nvCxnSpPr>
        <p:spPr bwMode="auto">
          <a:xfrm flipV="1">
            <a:off x="2018021" y="4424337"/>
            <a:ext cx="1460260" cy="204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17EA7E-5F2F-466C-ACB3-6CD951B42922}"/>
              </a:ext>
            </a:extLst>
          </p:cNvPr>
          <p:cNvSpPr txBox="1"/>
          <p:nvPr/>
        </p:nvSpPr>
        <p:spPr>
          <a:xfrm>
            <a:off x="4832032" y="4667945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www.ddarahakit.com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ko-KR" altLang="en-US" sz="1400" b="1" kern="10" dirty="0" err="1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뭐지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6EB3106-F6C1-4BEB-9147-2E2CF548E7E2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4073951" y="4424337"/>
            <a:ext cx="212596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AB6E5F8-6DF3-4FFE-8569-4EC4477492EC}"/>
              </a:ext>
            </a:extLst>
          </p:cNvPr>
          <p:cNvCxnSpPr>
            <a:cxnSpLocks/>
          </p:cNvCxnSpPr>
          <p:nvPr/>
        </p:nvCxnSpPr>
        <p:spPr bwMode="auto">
          <a:xfrm>
            <a:off x="4166252" y="4588533"/>
            <a:ext cx="2177948" cy="7825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4479318-B303-4753-96DB-8B6C32A5F12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166253" y="4764962"/>
            <a:ext cx="2108152" cy="75143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FD3AC7A-7DA9-444A-8F6D-B2CAC6B6D50F}"/>
              </a:ext>
            </a:extLst>
          </p:cNvPr>
          <p:cNvSpPr txBox="1"/>
          <p:nvPr/>
        </p:nvSpPr>
        <p:spPr>
          <a:xfrm>
            <a:off x="3908703" y="5255800"/>
            <a:ext cx="2365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30.30.30.30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이야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799CFE2B-752E-464E-9D29-640BBFC59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924467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E6CD04-16E4-432D-B326-8D29ED29AE83}"/>
              </a:ext>
            </a:extLst>
          </p:cNvPr>
          <p:cNvSpPr txBox="1"/>
          <p:nvPr/>
        </p:nvSpPr>
        <p:spPr>
          <a:xfrm>
            <a:off x="367116" y="1890923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5) Local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서버에게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요청</a:t>
            </a:r>
          </a:p>
        </p:txBody>
      </p:sp>
      <p:pic>
        <p:nvPicPr>
          <p:cNvPr id="5" name="그래픽 4" descr="닫혀 있는 책">
            <a:extLst>
              <a:ext uri="{FF2B5EF4-FFF2-40B4-BE49-F238E27FC236}">
                <a16:creationId xmlns:a16="http://schemas.microsoft.com/office/drawing/2014/main" id="{7C4EDC33-5A8C-4235-8F89-DE5637C2C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104" y="3988032"/>
            <a:ext cx="638463" cy="637220"/>
          </a:xfrm>
          <a:prstGeom prst="rect">
            <a:avLst/>
          </a:prstGeom>
        </p:spPr>
      </p:pic>
      <p:pic>
        <p:nvPicPr>
          <p:cNvPr id="6" name="그래픽 5" descr="닫혀 있는 책">
            <a:extLst>
              <a:ext uri="{FF2B5EF4-FFF2-40B4-BE49-F238E27FC236}">
                <a16:creationId xmlns:a16="http://schemas.microsoft.com/office/drawing/2014/main" id="{218763D7-68AE-43BE-BFAF-50CF1DFF2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9411" y="2950425"/>
            <a:ext cx="638463" cy="637220"/>
          </a:xfrm>
          <a:prstGeom prst="rect">
            <a:avLst/>
          </a:prstGeom>
        </p:spPr>
      </p:pic>
      <p:pic>
        <p:nvPicPr>
          <p:cNvPr id="7" name="그래픽 6" descr="닫혀 있는 책">
            <a:extLst>
              <a:ext uri="{FF2B5EF4-FFF2-40B4-BE49-F238E27FC236}">
                <a16:creationId xmlns:a16="http://schemas.microsoft.com/office/drawing/2014/main" id="{017D5B3C-08E0-4054-97C1-3C212A9EE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9411" y="3988032"/>
            <a:ext cx="638463" cy="637220"/>
          </a:xfrm>
          <a:prstGeom prst="rect">
            <a:avLst/>
          </a:prstGeom>
        </p:spPr>
      </p:pic>
      <p:pic>
        <p:nvPicPr>
          <p:cNvPr id="8" name="그래픽 7" descr="닫혀 있는 책">
            <a:extLst>
              <a:ext uri="{FF2B5EF4-FFF2-40B4-BE49-F238E27FC236}">
                <a16:creationId xmlns:a16="http://schemas.microsoft.com/office/drawing/2014/main" id="{DB2D1E90-E051-483F-8720-04ECE1ADC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9411" y="5155567"/>
            <a:ext cx="638463" cy="637220"/>
          </a:xfrm>
          <a:prstGeom prst="rect">
            <a:avLst/>
          </a:prstGeom>
        </p:spPr>
      </p:pic>
      <p:pic>
        <p:nvPicPr>
          <p:cNvPr id="9" name="그래픽 8" descr="컴퓨터">
            <a:extLst>
              <a:ext uri="{FF2B5EF4-FFF2-40B4-BE49-F238E27FC236}">
                <a16:creationId xmlns:a16="http://schemas.microsoft.com/office/drawing/2014/main" id="{64BDE7C1-D0B2-40A5-96A9-3B0D8B651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212" y="3859423"/>
            <a:ext cx="916183" cy="91440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1C75CB2-9CD2-4A0A-A9B2-3EE73D295A4E}"/>
              </a:ext>
            </a:extLst>
          </p:cNvPr>
          <p:cNvCxnSpPr>
            <a:cxnSpLocks/>
            <a:endCxn id="6" idx="1"/>
          </p:cNvCxnSpPr>
          <p:nvPr/>
        </p:nvCxnSpPr>
        <p:spPr bwMode="auto">
          <a:xfrm flipV="1">
            <a:off x="4536567" y="3269035"/>
            <a:ext cx="942844" cy="86324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B7B188-DA8B-4064-9D0F-588A18156AA6}"/>
              </a:ext>
            </a:extLst>
          </p:cNvPr>
          <p:cNvCxnSpPr>
            <a:stCxn id="5" idx="3"/>
            <a:endCxn id="7" idx="1"/>
          </p:cNvCxnSpPr>
          <p:nvPr/>
        </p:nvCxnSpPr>
        <p:spPr bwMode="auto">
          <a:xfrm>
            <a:off x="4536567" y="4306642"/>
            <a:ext cx="94284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9899572-53C0-4BB4-AFB6-C9CAB3582249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>
            <a:off x="4536567" y="4532671"/>
            <a:ext cx="942844" cy="9415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6273D4-BE3C-4871-B8B0-5DBF24FF6F24}"/>
              </a:ext>
            </a:extLst>
          </p:cNvPr>
          <p:cNvSpPr txBox="1"/>
          <p:nvPr/>
        </p:nvSpPr>
        <p:spPr>
          <a:xfrm>
            <a:off x="3660454" y="3711282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DD375-7E5A-44F4-A8E9-026DE74A1BF4}"/>
              </a:ext>
            </a:extLst>
          </p:cNvPr>
          <p:cNvSpPr txBox="1"/>
          <p:nvPr/>
        </p:nvSpPr>
        <p:spPr>
          <a:xfrm>
            <a:off x="6021509" y="3119163"/>
            <a:ext cx="1073311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루트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F9840-580F-4540-9BF0-01B93711ECFE}"/>
              </a:ext>
            </a:extLst>
          </p:cNvPr>
          <p:cNvSpPr txBox="1"/>
          <p:nvPr/>
        </p:nvSpPr>
        <p:spPr>
          <a:xfrm>
            <a:off x="6134144" y="4132284"/>
            <a:ext cx="1289756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최상위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727091-1E9F-4D07-9326-A6A50B703877}"/>
              </a:ext>
            </a:extLst>
          </p:cNvPr>
          <p:cNvSpPr txBox="1"/>
          <p:nvPr/>
        </p:nvSpPr>
        <p:spPr>
          <a:xfrm>
            <a:off x="6134144" y="5304900"/>
            <a:ext cx="916183" cy="338554"/>
          </a:xfrm>
          <a:prstGeom prst="rect">
            <a:avLst/>
          </a:prstGeom>
          <a:noFill/>
        </p:spPr>
        <p:txBody>
          <a:bodyPr wrap="square" lIns="36000" rIns="36000" rtlCol="0" anchor="ctr" anchorCtr="0">
            <a:spAutoFit/>
          </a:bodyPr>
          <a:lstStyle/>
          <a:p>
            <a:pPr algn="ctr"/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DNS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EAC7C-EBB5-4C0F-914D-34D5DF5D1803}"/>
              </a:ext>
            </a:extLst>
          </p:cNvPr>
          <p:cNvSpPr txBox="1"/>
          <p:nvPr/>
        </p:nvSpPr>
        <p:spPr>
          <a:xfrm>
            <a:off x="1951292" y="4606448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hlinkClick r:id="rId6"/>
              </a:rPr>
              <a:t>www.ddarahakit.com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endParaRPr lang="en-US" altLang="ko-KR" sz="1400" b="1" kern="10" dirty="0">
              <a:solidFill>
                <a:srgbClr val="0000FF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IP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주소는 </a:t>
            </a:r>
            <a:r>
              <a:rPr lang="en-US" altLang="ko-KR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30.30.30.30</a:t>
            </a:r>
            <a:r>
              <a:rPr lang="ko-KR" altLang="en-US" sz="14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이야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68F0738-8D34-4AD4-B8A3-7D91DA69D594}"/>
              </a:ext>
            </a:extLst>
          </p:cNvPr>
          <p:cNvCxnSpPr>
            <a:stCxn id="5" idx="1"/>
          </p:cNvCxnSpPr>
          <p:nvPr/>
        </p:nvCxnSpPr>
        <p:spPr bwMode="auto">
          <a:xfrm flipH="1">
            <a:off x="2239324" y="4306642"/>
            <a:ext cx="1658780" cy="998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제목 1">
            <a:extLst>
              <a:ext uri="{FF2B5EF4-FFF2-40B4-BE49-F238E27FC236}">
                <a16:creationId xmlns:a16="http://schemas.microsoft.com/office/drawing/2014/main" id="{512FBA9A-EFAC-4050-80CE-9889401A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06616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47F73-336D-4366-B538-E71D5599BED5}"/>
              </a:ext>
            </a:extLst>
          </p:cNvPr>
          <p:cNvSpPr txBox="1"/>
          <p:nvPr/>
        </p:nvSpPr>
        <p:spPr>
          <a:xfrm>
            <a:off x="251520" y="1441262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</a:t>
            </a:r>
            <a:r>
              <a:rPr lang="ko-KR" altLang="en-US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도메인주소로 </a:t>
            </a:r>
            <a:r>
              <a:rPr lang="en-US" altLang="ko-KR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IP</a:t>
            </a:r>
            <a:r>
              <a:rPr lang="ko-KR" altLang="en-US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주소를 알아오는 과정 실습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59D28-ED22-44E8-ABF8-539D78FD1A92}"/>
              </a:ext>
            </a:extLst>
          </p:cNvPr>
          <p:cNvSpPr txBox="1"/>
          <p:nvPr/>
        </p:nvSpPr>
        <p:spPr>
          <a:xfrm>
            <a:off x="395536" y="1999293"/>
            <a:ext cx="1800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r>
              <a:rPr lang="ko-KR" altLang="en-US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단계</a:t>
            </a:r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) </a:t>
            </a:r>
            <a:endParaRPr lang="ko-KR" altLang="en-US" sz="2200" b="1" kern="10" dirty="0">
              <a:solidFill>
                <a:srgbClr val="0000FF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D3C0F-9E47-4C31-AC48-BE4D4CD0ABDA}"/>
              </a:ext>
            </a:extLst>
          </p:cNvPr>
          <p:cNvSpPr txBox="1"/>
          <p:nvPr/>
        </p:nvSpPr>
        <p:spPr>
          <a:xfrm>
            <a:off x="1403648" y="24535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https://www.isc.org/download</a:t>
            </a:r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 </a:t>
            </a:r>
            <a:r>
              <a:rPr lang="ko-KR" altLang="en-US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접속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584A6-E351-4751-91EB-66F245774844}"/>
              </a:ext>
            </a:extLst>
          </p:cNvPr>
          <p:cNvSpPr txBox="1"/>
          <p:nvPr/>
        </p:nvSpPr>
        <p:spPr>
          <a:xfrm>
            <a:off x="1403648" y="2048710"/>
            <a:ext cx="7056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dig(DNS</a:t>
            </a:r>
            <a:r>
              <a:rPr lang="ko-KR" altLang="en-US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서버프로그램인 </a:t>
            </a:r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BIND9</a:t>
            </a:r>
            <a:r>
              <a:rPr lang="ko-KR" altLang="en-US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에 포함되어 있음</a:t>
            </a:r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/>
              </a:rPr>
              <a:t>)</a:t>
            </a:r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설치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65606D-9E13-4B51-97BC-2CBE9A8F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884984"/>
            <a:ext cx="7555013" cy="374441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23115A5C-5A17-4ABA-97FA-E11A8A2F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65105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47F73-336D-4366-B538-E71D5599BED5}"/>
              </a:ext>
            </a:extLst>
          </p:cNvPr>
          <p:cNvSpPr txBox="1"/>
          <p:nvPr/>
        </p:nvSpPr>
        <p:spPr>
          <a:xfrm>
            <a:off x="251520" y="1441262"/>
            <a:ext cx="7776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</a:t>
            </a:r>
            <a:r>
              <a:rPr lang="ko-KR" altLang="en-US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도메인주소로 </a:t>
            </a:r>
            <a:r>
              <a:rPr lang="en-US" altLang="ko-KR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IP</a:t>
            </a:r>
            <a:r>
              <a:rPr lang="ko-KR" altLang="en-US" sz="24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주소를 알아오는 과정 실습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FD8467-54C6-465B-8E62-95571C754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2204864"/>
            <a:ext cx="7944959" cy="3924848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DF249FAE-2084-481D-B890-9671E263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441826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CC94C8-7F35-4D62-A961-0918D377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149704"/>
            <a:ext cx="7363853" cy="4458322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9AFE3D32-F359-469D-B0C3-B74910AC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1201918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C070DB-E87F-4479-8EAA-8692C3C8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496" y="1644809"/>
            <a:ext cx="5068007" cy="4672073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ACC104AF-6934-4C3E-9022-3D2807BA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3114113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F59A5F-800D-4EC4-AD43-7737C474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348880"/>
            <a:ext cx="6564768" cy="3691698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1AE89117-14CE-4F6D-BD16-01E7216B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3062130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2F8DBB-EE1A-45DF-9CFA-69BD0368C10C}"/>
              </a:ext>
            </a:extLst>
          </p:cNvPr>
          <p:cNvSpPr txBox="1"/>
          <p:nvPr/>
        </p:nvSpPr>
        <p:spPr>
          <a:xfrm>
            <a:off x="516024" y="2230075"/>
            <a:ext cx="78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C:\bind </a:t>
            </a:r>
            <a:r>
              <a:rPr lang="ko-KR" altLang="en-US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폴더에</a:t>
            </a:r>
            <a:r>
              <a:rPr lang="en-US" altLang="ko-KR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</a:p>
          <a:p>
            <a:r>
              <a:rPr lang="en-US" altLang="ko-KR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   </a:t>
            </a:r>
            <a:r>
              <a:rPr lang="ko-KR" altLang="en-US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다운로드</a:t>
            </a:r>
            <a:r>
              <a:rPr lang="en-US" altLang="ko-KR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받은 </a:t>
            </a:r>
            <a:r>
              <a:rPr lang="en-US" altLang="ko-KR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BIND9.16.50.x64.zip </a:t>
            </a:r>
            <a:r>
              <a:rPr lang="ko-KR" altLang="en-US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파일</a:t>
            </a:r>
            <a:r>
              <a:rPr lang="ko-KR" altLang="en-US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을</a:t>
            </a:r>
            <a:r>
              <a:rPr lang="en-US" altLang="ko-KR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복사하고 압축파일을 푼다</a:t>
            </a:r>
            <a:r>
              <a:rPr lang="en-US" altLang="ko-KR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077611-FE29-49C1-AA61-21727BD5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852936"/>
            <a:ext cx="6192688" cy="387043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80A58-D363-40C3-960C-5B6DDB83D0BE}"/>
              </a:ext>
            </a:extLst>
          </p:cNvPr>
          <p:cNvSpPr txBox="1"/>
          <p:nvPr/>
        </p:nvSpPr>
        <p:spPr>
          <a:xfrm>
            <a:off x="467544" y="1693785"/>
            <a:ext cx="1800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r>
              <a:rPr lang="ko-KR" altLang="en-US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단계</a:t>
            </a:r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) </a:t>
            </a:r>
            <a:endParaRPr lang="ko-KR" altLang="en-US" sz="2200" b="1" kern="10" dirty="0">
              <a:solidFill>
                <a:srgbClr val="0000FF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26A21-8698-4473-BF2F-B1CA690BAF18}"/>
              </a:ext>
            </a:extLst>
          </p:cNvPr>
          <p:cNvSpPr txBox="1"/>
          <p:nvPr/>
        </p:nvSpPr>
        <p:spPr>
          <a:xfrm>
            <a:off x="1475656" y="1743202"/>
            <a:ext cx="7056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kern="10" dirty="0" err="1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내려받은</a:t>
            </a:r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3"/>
              </a:rPr>
              <a:t> </a:t>
            </a:r>
            <a:r>
              <a:rPr lang="ko-KR" altLang="en-US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압축파일을 </a:t>
            </a:r>
            <a:r>
              <a:rPr lang="en-US" altLang="ko-KR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c:\bind </a:t>
            </a:r>
            <a:r>
              <a:rPr lang="ko-KR" altLang="en-US" sz="20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폴더에 설치한다 </a:t>
            </a:r>
            <a:endParaRPr lang="ko-KR" altLang="en-US" sz="2000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22ACA91D-73D3-4824-8896-8D59C630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656290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DBE7C84-3438-4236-98BD-5782D1968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95375"/>
            <a:ext cx="7920880" cy="3931158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CC3A3E6B-3211-4F90-941E-DEA180DC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475225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374579-C2B9-4A7E-B2AC-08A0AA0A360B}"/>
              </a:ext>
            </a:extLst>
          </p:cNvPr>
          <p:cNvSpPr txBox="1"/>
          <p:nvPr/>
        </p:nvSpPr>
        <p:spPr>
          <a:xfrm>
            <a:off x="251520" y="1477741"/>
            <a:ext cx="18001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r>
              <a:rPr lang="ko-KR" altLang="en-US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단계</a:t>
            </a:r>
            <a:r>
              <a:rPr lang="en-US" altLang="ko-KR" sz="2200" b="1" kern="10" dirty="0">
                <a:solidFill>
                  <a:srgbClr val="0000FF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) </a:t>
            </a:r>
            <a:endParaRPr lang="ko-KR" altLang="en-US" sz="2200" b="1" kern="10" dirty="0">
              <a:solidFill>
                <a:srgbClr val="0000FF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B92A1-9642-43FB-8EAD-6708FC80BC9E}"/>
              </a:ext>
            </a:extLst>
          </p:cNvPr>
          <p:cNvSpPr txBox="1"/>
          <p:nvPr/>
        </p:nvSpPr>
        <p:spPr>
          <a:xfrm>
            <a:off x="1259632" y="1527158"/>
            <a:ext cx="7416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명령 프롬프트를 열고 </a:t>
            </a:r>
            <a:r>
              <a:rPr lang="en-US" altLang="ko-KR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c:\bind </a:t>
            </a:r>
            <a:r>
              <a:rPr lang="ko-KR" altLang="en-US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로</a:t>
            </a:r>
            <a:r>
              <a:rPr lang="en-US" altLang="ko-KR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현재 위치</a:t>
            </a:r>
            <a:r>
              <a:rPr lang="ko-KR" altLang="en-US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변경   </a:t>
            </a:r>
            <a:r>
              <a:rPr lang="en-US" altLang="ko-KR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&gt;cd</a:t>
            </a:r>
            <a:r>
              <a:rPr lang="ko-KR" altLang="en-US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en-US" altLang="ko-KR" sz="2000" b="1" kern="10" dirty="0">
                <a:solidFill>
                  <a:srgbClr val="000000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\bind</a:t>
            </a:r>
            <a:endParaRPr lang="ko-KR" altLang="en-US" sz="2000" dirty="0">
              <a:solidFill>
                <a:srgbClr val="00000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A66619-CBFF-4A73-831E-2AB9652B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759" y="2414969"/>
            <a:ext cx="4623077" cy="28342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D8D6D2-FEC5-43CB-8B7F-1AB99B679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5267859"/>
            <a:ext cx="7574280" cy="1526941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1D918404-8FEE-4A77-8BF5-13213BFB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  <p:sp>
        <p:nvSpPr>
          <p:cNvPr id="14" name="내용 개체 틀 1">
            <a:extLst>
              <a:ext uri="{FF2B5EF4-FFF2-40B4-BE49-F238E27FC236}">
                <a16:creationId xmlns:a16="http://schemas.microsoft.com/office/drawing/2014/main" id="{7C74192D-D384-4F37-8C04-0C8AC64F9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105" y="1908628"/>
            <a:ext cx="4089981" cy="4001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dirty="0"/>
              <a:t>C:\bind\</a:t>
            </a:r>
            <a:r>
              <a:rPr lang="en-US" altLang="ko-KR" dirty="0">
                <a:solidFill>
                  <a:srgbClr val="0000FF"/>
                </a:solidFill>
              </a:rPr>
              <a:t>dig +trace </a:t>
            </a:r>
            <a:r>
              <a:rPr lang="en-US" altLang="ko-KR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www.naver.com</a:t>
            </a:r>
            <a:r>
              <a:rPr lang="en-US" altLang="ko-KR" dirty="0">
                <a:solidFill>
                  <a:srgbClr val="0000FF"/>
                </a:solidFill>
              </a:rPr>
              <a:t> </a:t>
            </a:r>
            <a:r>
              <a:rPr lang="ko-KR" altLang="en-US" dirty="0"/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1917197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9876E13-2406-430F-9B1B-AC5939F66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65" y="1902918"/>
            <a:ext cx="6660232" cy="4520608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2CD2AAEB-BA7D-48A9-AD67-244DAE3D6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1268235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2648" y="2405041"/>
            <a:ext cx="8153400" cy="663166"/>
          </a:xfrm>
        </p:spPr>
        <p:txBody>
          <a:bodyPr/>
          <a:lstStyle/>
          <a:p>
            <a:r>
              <a:rPr lang="en-US" altLang="ko-KR" b="1" dirty="0"/>
              <a:t>URL(Uniform Resource Locator)</a:t>
            </a:r>
            <a:r>
              <a:rPr lang="ko-KR" altLang="en-US" dirty="0"/>
              <a:t>은 인터넷 상의 파일이나 데이터베이스 같은 자원에 대한 주소를 지정하는 방법이다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670" y="3247686"/>
            <a:ext cx="7268660" cy="2187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5E02733F-099F-40F0-A0A2-0E67231CDB3F}"/>
              </a:ext>
            </a:extLst>
          </p:cNvPr>
          <p:cNvSpPr txBox="1">
            <a:spLocks/>
          </p:cNvSpPr>
          <p:nvPr/>
        </p:nvSpPr>
        <p:spPr>
          <a:xfrm>
            <a:off x="305177" y="1730262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URL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CAF667F-C559-4B3B-A439-AE190732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4016545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B99DA8-B4F1-458B-9F7C-A13DA323F62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호스트 이름을 받아서 </a:t>
            </a:r>
            <a:r>
              <a:rPr lang="en-US" altLang="ko-KR" dirty="0"/>
              <a:t>IP </a:t>
            </a:r>
            <a:r>
              <a:rPr lang="ko-KR" altLang="en-US" dirty="0"/>
              <a:t>주소를 반환하는 프로그램을 작성해보자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인터넷 주소는 </a:t>
            </a:r>
            <a:r>
              <a:rPr lang="en-US" altLang="ko-KR" dirty="0" err="1"/>
              <a:t>InetAddress</a:t>
            </a:r>
            <a:r>
              <a:rPr lang="en-US" altLang="ko-KR" dirty="0"/>
              <a:t> </a:t>
            </a:r>
            <a:r>
              <a:rPr lang="ko-KR" altLang="en-US" dirty="0"/>
              <a:t>클래스가 담당한다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5E4DDD-B479-ECA0-C801-B590F84B9C83}"/>
              </a:ext>
            </a:extLst>
          </p:cNvPr>
          <p:cNvSpPr/>
          <p:nvPr/>
        </p:nvSpPr>
        <p:spPr>
          <a:xfrm>
            <a:off x="844116" y="2366682"/>
            <a:ext cx="7584141" cy="3527124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Host2ip 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 ( String[]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)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throws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IOException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String 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hostname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"www.kit.ac.kr"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marR="0" algn="l" rtl="0"/>
            <a:endParaRPr lang="ko-KR" altLang="en-US" sz="16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600" b="1" i="0" u="none" strike="noStrike" baseline="0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InetAddress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600" b="1" i="0" u="none" strike="noStrike" baseline="0" dirty="0" err="1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InetAddress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600" b="0" i="1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getByName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hostname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"IP </a:t>
            </a:r>
            <a:r>
              <a:rPr lang="ko-KR" altLang="en-US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6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.getHostAddress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());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catch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UnknownHostException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)  {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600" b="1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hostname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IP </a:t>
            </a:r>
            <a:r>
              <a:rPr lang="ko-KR" altLang="en-US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주소를 찾을 수 없습니다</a:t>
            </a:r>
            <a:r>
              <a:rPr lang="en-US" altLang="ko-KR" sz="16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956DB7-8A39-07A7-29CC-2022E5A12398}"/>
              </a:ext>
            </a:extLst>
          </p:cNvPr>
          <p:cNvSpPr/>
          <p:nvPr/>
        </p:nvSpPr>
        <p:spPr>
          <a:xfrm>
            <a:off x="844116" y="5971995"/>
            <a:ext cx="7584141" cy="69028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dirty="0">
                <a:solidFill>
                  <a:schemeClr val="tx1"/>
                </a:solidFill>
              </a:rPr>
              <a:t>IP </a:t>
            </a:r>
            <a:r>
              <a:rPr lang="ko-KR" altLang="en-US" dirty="0">
                <a:solidFill>
                  <a:schemeClr val="tx1"/>
                </a:solidFill>
              </a:rPr>
              <a:t>주소</a:t>
            </a:r>
            <a:r>
              <a:rPr lang="en-US" altLang="ko-KR" dirty="0">
                <a:solidFill>
                  <a:schemeClr val="tx1"/>
                </a:solidFill>
              </a:rPr>
              <a:t>: 210.110.208.61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3CEF4C3-24D3-400B-A483-7A877FF2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28600"/>
            <a:ext cx="8153401" cy="99060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17.1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네트워크프로그래밍의 기본개념</a:t>
            </a:r>
          </a:p>
        </p:txBody>
      </p:sp>
    </p:spTree>
    <p:extLst>
      <p:ext uri="{BB962C8B-B14F-4D97-AF65-F5344CB8AC3E}">
        <p14:creationId xmlns:p14="http://schemas.microsoft.com/office/powerpoint/2010/main" val="2525051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8C0A9-350E-46EE-A56F-659948C4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중간점검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EA4BFDB-5CF5-41B3-B2A5-302E35D957C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57472" y="1888349"/>
            <a:ext cx="8153400" cy="1337667"/>
          </a:xfrm>
        </p:spPr>
      </p:pic>
    </p:spTree>
    <p:extLst>
      <p:ext uri="{BB962C8B-B14F-4D97-AF65-F5344CB8AC3E}">
        <p14:creationId xmlns:p14="http://schemas.microsoft.com/office/powerpoint/2010/main" val="1022990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2648" y="1600200"/>
            <a:ext cx="8268802" cy="2120774"/>
          </a:xfrm>
        </p:spPr>
        <p:txBody>
          <a:bodyPr>
            <a:normAutofit/>
          </a:bodyPr>
          <a:lstStyle/>
          <a:p>
            <a:r>
              <a:rPr lang="en-US" altLang="ko-KR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java.net.URL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이용하여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우리의 프로그램과 인터넷 상의 원격 컴퓨터를 연결하고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원격 컴퓨터가 가지고 있는 자원에 접근할 수 있다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클래스를 사용하여서 원격컴퓨터에 접근하려면 아래와 같이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생성자를 호출하면서 웹사이트 주소를 전달한다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URL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객체는 일단 만들어지면 내용 수정이 불가하다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객체를 생성한 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URLConnection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클래스를 사용하여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응용프로그램 사이에 통신링크를 생성해야 원격컴퓨터와 연결된다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만약 원격파일을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읽을려면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파일에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연결된 스트림을 열어야 한다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17.2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인터넷에서</a:t>
            </a: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 다운로드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363" y="3720975"/>
            <a:ext cx="6372686" cy="3061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0946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2B0D97B-711D-537E-ECAF-24725D66B5B7}"/>
              </a:ext>
            </a:extLst>
          </p:cNvPr>
          <p:cNvSpPr/>
          <p:nvPr/>
        </p:nvSpPr>
        <p:spPr>
          <a:xfrm>
            <a:off x="355229" y="2771032"/>
            <a:ext cx="8526221" cy="2860218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URLConnectionReader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main(String[]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throws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Exception {</a:t>
            </a:r>
          </a:p>
          <a:p>
            <a:pPr marR="0" algn="l" rtl="0"/>
            <a:r>
              <a:rPr lang="en-US" altLang="ko-KR" sz="1500" b="1" i="0" u="none" strike="noStrike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URL site = new URL("https://www.naver.com/");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500" b="1" i="0" u="none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URLConnection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site.openConnection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BufferedReader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in =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BufferedReader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InputStreamReader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url.getInputStream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()));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String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inLine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marR="0" algn="l" rtl="0"/>
            <a:r>
              <a:rPr lang="ko-KR" altLang="en-US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while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((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inLine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in.readLine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 != </a:t>
            </a:r>
            <a:r>
              <a:rPr lang="en-US" altLang="ko-KR" sz="15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500" b="0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inLine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5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in.close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pPr marR="0" algn="l" rtl="0"/>
            <a:r>
              <a:rPr lang="ko-KR" altLang="en-US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  <a:p>
            <a:pPr marR="0" algn="l" rtl="0"/>
            <a:r>
              <a:rPr lang="en-US" altLang="ko-KR" sz="15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E3519D-F92D-F2A2-558E-88AA8EE3E0DA}"/>
              </a:ext>
            </a:extLst>
          </p:cNvPr>
          <p:cNvSpPr/>
          <p:nvPr/>
        </p:nvSpPr>
        <p:spPr>
          <a:xfrm>
            <a:off x="355228" y="5631250"/>
            <a:ext cx="8526220" cy="114277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&lt;!DOCTYPE html PUBLIC "-//W3C//DTD XHTML 1.0 Transitional//EN" "http://www.w3.org/TR/xhtml1/DTD/xhtml1-transitional.dtd"&gt;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&lt;html </a:t>
            </a:r>
            <a:r>
              <a:rPr lang="en-US" altLang="ko-KR" sz="1400" dirty="0" err="1">
                <a:solidFill>
                  <a:schemeClr val="tx1"/>
                </a:solidFill>
              </a:rPr>
              <a:t>xmlns</a:t>
            </a:r>
            <a:r>
              <a:rPr lang="en-US" altLang="ko-KR" sz="1400" dirty="0">
                <a:solidFill>
                  <a:schemeClr val="tx1"/>
                </a:solidFill>
              </a:rPr>
              <a:t>="http://www.w3.org/1999/xhtml" </a:t>
            </a:r>
            <a:r>
              <a:rPr lang="en-US" altLang="ko-KR" sz="1400" dirty="0" err="1">
                <a:solidFill>
                  <a:schemeClr val="tx1"/>
                </a:solidFill>
              </a:rPr>
              <a:t>xml:lang</a:t>
            </a:r>
            <a:r>
              <a:rPr lang="en-US" altLang="ko-KR" sz="1400" dirty="0">
                <a:solidFill>
                  <a:schemeClr val="tx1"/>
                </a:solidFill>
              </a:rPr>
              <a:t>="ko" lang="ko"&gt;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&lt;head&gt;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&lt;meta http-</a:t>
            </a:r>
            <a:r>
              <a:rPr lang="en-US" altLang="ko-KR" sz="1400" dirty="0" err="1">
                <a:solidFill>
                  <a:schemeClr val="tx1"/>
                </a:solidFill>
              </a:rPr>
              <a:t>equiv</a:t>
            </a:r>
            <a:r>
              <a:rPr lang="en-US" altLang="ko-KR" sz="1400" dirty="0">
                <a:solidFill>
                  <a:schemeClr val="tx1"/>
                </a:solidFill>
              </a:rPr>
              <a:t>="Content-Type" content="text/html; charset=</a:t>
            </a:r>
            <a:r>
              <a:rPr lang="en-US" altLang="ko-KR" sz="1400" dirty="0" err="1">
                <a:solidFill>
                  <a:schemeClr val="tx1"/>
                </a:solidFill>
              </a:rPr>
              <a:t>euc-kr</a:t>
            </a:r>
            <a:r>
              <a:rPr lang="en-US" altLang="ko-KR" sz="1400" dirty="0">
                <a:solidFill>
                  <a:schemeClr val="tx1"/>
                </a:solidFill>
              </a:rPr>
              <a:t>“====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49C71965-D98B-4A79-9E29-0BD40B127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228" y="1546815"/>
            <a:ext cx="8268802" cy="114277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US" altLang="ko-KR" sz="27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HTTP</a:t>
            </a:r>
            <a:r>
              <a:rPr lang="ko-KR" altLang="en-US" sz="27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연결을 통해 인터넷에서 파일을 읽는 경우 동작 절차</a:t>
            </a:r>
            <a:endParaRPr lang="en-US" altLang="ko-KR" sz="27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1) URL 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</a:t>
            </a: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     </a:t>
            </a:r>
            <a:endParaRPr lang="en-US" altLang="ko-KR" sz="2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2) URL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객체를 이용해 연결하기위해 </a:t>
            </a:r>
            <a:r>
              <a:rPr lang="en-US" altLang="ko-KR" sz="2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URLConnection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 생성</a:t>
            </a:r>
            <a:endParaRPr lang="en-US" altLang="ko-KR" sz="2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3) </a:t>
            </a:r>
            <a:r>
              <a:rPr lang="en-US" altLang="ko-KR" sz="2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URLConnection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객체의 </a:t>
            </a:r>
            <a:r>
              <a:rPr lang="en-US" altLang="ko-KR" sz="2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getInputStream</a:t>
            </a: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호출하여 </a:t>
            </a:r>
            <a:r>
              <a:rPr lang="ko-KR" altLang="en-US" sz="25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입력스트림을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얻는다</a:t>
            </a: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4) </a:t>
            </a:r>
            <a:r>
              <a:rPr lang="ko-KR" altLang="en-US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스트림에서 데이터를 읽는다</a:t>
            </a:r>
            <a:r>
              <a:rPr lang="en-US" altLang="ko-KR" sz="2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2">
            <a:extLst>
              <a:ext uri="{FF2B5EF4-FFF2-40B4-BE49-F238E27FC236}">
                <a16:creationId xmlns:a16="http://schemas.microsoft.com/office/drawing/2014/main" id="{BBB6416F-CD22-40C9-979A-B7F0525D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970" y="247261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17.2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인터넷에서</a:t>
            </a: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 다운로드</a:t>
            </a:r>
          </a:p>
        </p:txBody>
      </p:sp>
    </p:spTree>
    <p:extLst>
      <p:ext uri="{BB962C8B-B14F-4D97-AF65-F5344CB8AC3E}">
        <p14:creationId xmlns:p14="http://schemas.microsoft.com/office/powerpoint/2010/main" val="944440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700EF-52CC-4058-B860-61DB1FA8E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AB1796-E37F-48BB-9811-8FFDE1539B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1732897"/>
            <a:ext cx="8153400" cy="1392858"/>
          </a:xfrm>
        </p:spPr>
        <p:txBody>
          <a:bodyPr>
            <a:norm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URLConnection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클래스는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인터넷상의 자원을 접근하는데 상대적으로 고 수준의 메커니즘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소켓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(Socket)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같은 저 수준의 네트워크 통신 기능이 필요한 경우도 있음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0" indent="0">
              <a:buNone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예를 들면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자바로 클라이언트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 응용 프로그램을 만드는 경우가 해당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D6829F-9C85-48C8-8B40-D56A57314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76" y="3214688"/>
            <a:ext cx="7166676" cy="269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1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B1E19-9653-4C03-9018-330F5C4D63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229239"/>
            <a:ext cx="8447376" cy="723122"/>
          </a:xfrm>
        </p:spPr>
        <p:txBody>
          <a:bodyPr/>
          <a:lstStyle/>
          <a:p>
            <a:r>
              <a:rPr lang="ko-KR" altLang="en-US" dirty="0"/>
              <a:t>프로토콜</a:t>
            </a:r>
            <a:r>
              <a:rPr lang="en-US" altLang="ko-KR" dirty="0"/>
              <a:t>(Protocol)</a:t>
            </a:r>
            <a:r>
              <a:rPr lang="ko-KR" altLang="en-US" dirty="0"/>
              <a:t>은 컴퓨터 간에 상호통신을 할 때 데이터를 원활하고 신뢰성 있게 주고 받기 위해 필요한 약속을 규정하는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256C987-AE71-41E8-8914-7E59319C807C}"/>
              </a:ext>
            </a:extLst>
          </p:cNvPr>
          <p:cNvSpPr txBox="1">
            <a:spLocks/>
          </p:cNvSpPr>
          <p:nvPr/>
        </p:nvSpPr>
        <p:spPr>
          <a:xfrm>
            <a:off x="305177" y="1730262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</a:t>
            </a:r>
            <a:r>
              <a:rPr lang="ko-KR" altLang="en-US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프로토콜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1C839F0-931B-4A0E-8ACF-25D23EE5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50DA840-6DF5-4975-92EA-F1EABE2B4A52}"/>
              </a:ext>
            </a:extLst>
          </p:cNvPr>
          <p:cNvGrpSpPr/>
          <p:nvPr/>
        </p:nvGrpSpPr>
        <p:grpSpPr>
          <a:xfrm>
            <a:off x="1334277" y="2952361"/>
            <a:ext cx="5108877" cy="3598613"/>
            <a:chOff x="1334277" y="2952361"/>
            <a:chExt cx="5108877" cy="35986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0AA1266-459C-410A-852D-AC12F227C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0846" y="2952361"/>
              <a:ext cx="3742308" cy="359861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3E9775-E32A-4CCE-9B67-0789BB5B15C9}"/>
                </a:ext>
              </a:extLst>
            </p:cNvPr>
            <p:cNvSpPr txBox="1"/>
            <p:nvPr/>
          </p:nvSpPr>
          <p:spPr>
            <a:xfrm>
              <a:off x="1334277" y="6243197"/>
              <a:ext cx="22020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&lt;TCP/IP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통신 프로토콜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9469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4C1B84D-201E-41E5-AA15-C04BD6DE9E8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2362989"/>
            <a:ext cx="8153400" cy="426641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36352A-EB6E-4783-8789-1E19FD76B615}"/>
              </a:ext>
            </a:extLst>
          </p:cNvPr>
          <p:cNvSpPr txBox="1"/>
          <p:nvPr/>
        </p:nvSpPr>
        <p:spPr>
          <a:xfrm>
            <a:off x="2453951" y="1892309"/>
            <a:ext cx="39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&lt;TCP/IP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프로토콜 계층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F4F924A-955C-4AE7-9E32-FA489D894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</p:spTree>
    <p:extLst>
      <p:ext uri="{BB962C8B-B14F-4D97-AF65-F5344CB8AC3E}">
        <p14:creationId xmlns:p14="http://schemas.microsoft.com/office/powerpoint/2010/main" val="3635389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36352A-EB6E-4783-8789-1E19FD76B615}"/>
              </a:ext>
            </a:extLst>
          </p:cNvPr>
          <p:cNvSpPr txBox="1"/>
          <p:nvPr/>
        </p:nvSpPr>
        <p:spPr>
          <a:xfrm>
            <a:off x="5029200" y="122779"/>
            <a:ext cx="39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&lt;TCP/IP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프로토콜 계층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F4F924A-955C-4AE7-9E32-FA489D894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E896A-DC0A-45CC-BC12-428666C75B1E}"/>
              </a:ext>
            </a:extLst>
          </p:cNvPr>
          <p:cNvSpPr txBox="1"/>
          <p:nvPr/>
        </p:nvSpPr>
        <p:spPr>
          <a:xfrm>
            <a:off x="393108" y="1979256"/>
            <a:ext cx="8592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  정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이더넷으로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구성되어져 있고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TCP/IP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 프로토콜 사용하여 데이터 통신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송신측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보내려는 데이터를 아래계층으로 필요한 헤더를 붙여 보냄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(Data</a:t>
            </a: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Encapsulation)</a:t>
            </a:r>
          </a:p>
          <a:p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수신측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받은 데이터를 그 계층에 필요한 헤더부분을 해석하고 </a:t>
            </a:r>
            <a:r>
              <a:rPr lang="ko-KR" altLang="en-US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해더를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제거하고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상위계층에 보냄 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(Data Decapsulation)</a:t>
            </a:r>
            <a:endParaRPr lang="ko-KR" altLang="en-US" sz="16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4B25E-729F-46B9-9A76-2BE068E24B3E}"/>
              </a:ext>
            </a:extLst>
          </p:cNvPr>
          <p:cNvSpPr txBox="1"/>
          <p:nvPr/>
        </p:nvSpPr>
        <p:spPr>
          <a:xfrm>
            <a:off x="317241" y="1527885"/>
            <a:ext cx="497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&lt;TCP/IP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프로토콜 계층간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동작 방식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69912F-3673-464A-94FC-85C78082B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68" y="3190395"/>
            <a:ext cx="7621064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99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205256-2A20-45A8-96C7-8C5D74D94FDB}"/>
              </a:ext>
            </a:extLst>
          </p:cNvPr>
          <p:cNvSpPr txBox="1">
            <a:spLocks/>
          </p:cNvSpPr>
          <p:nvPr/>
        </p:nvSpPr>
        <p:spPr>
          <a:xfrm>
            <a:off x="305177" y="1564061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TCP(</a:t>
            </a:r>
            <a:r>
              <a:rPr lang="en-US" altLang="ko-KR" sz="2800" dirty="0"/>
              <a:t>Transmission Control Protocol)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DA71AF-F61F-4BB4-ABB6-1997C6657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03" y="2101924"/>
            <a:ext cx="5361000" cy="21667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E3909D-8AA2-4881-9AB6-B44236B4B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350" y="2180215"/>
            <a:ext cx="2233966" cy="198383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0ADA2A6-2459-42BF-A75D-1AF1B3BA74F9}"/>
              </a:ext>
            </a:extLst>
          </p:cNvPr>
          <p:cNvGrpSpPr/>
          <p:nvPr/>
        </p:nvGrpSpPr>
        <p:grpSpPr>
          <a:xfrm>
            <a:off x="5797703" y="2504117"/>
            <a:ext cx="3184110" cy="850710"/>
            <a:chOff x="824490" y="2439403"/>
            <a:chExt cx="6416041" cy="111032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680C41E-3D36-4BC7-994D-B4177662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880" y="2439403"/>
              <a:ext cx="5001323" cy="30484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4C021F4-8ABE-4856-B544-D12CB5759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4490" y="2795069"/>
              <a:ext cx="6363588" cy="36200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9AFD0F7-820A-4063-B171-5E0B1358D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364" y="3187723"/>
              <a:ext cx="6392167" cy="362001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CAFD95BF-412E-417A-BE74-DC4F003560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03" y="4274004"/>
            <a:ext cx="6016389" cy="2355395"/>
          </a:xfrm>
          <a:prstGeom prst="rect">
            <a:avLst/>
          </a:prstGeom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02080019-7DC6-42E4-9B2F-E9853DDF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</p:spTree>
    <p:extLst>
      <p:ext uri="{BB962C8B-B14F-4D97-AF65-F5344CB8AC3E}">
        <p14:creationId xmlns:p14="http://schemas.microsoft.com/office/powerpoint/2010/main" val="939448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3316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35" y="2233456"/>
            <a:ext cx="7991475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2FCA5C29-E247-4473-AB2E-F288122FE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588FDF6-0FF4-4512-959A-4F4E42175ABB}"/>
              </a:ext>
            </a:extLst>
          </p:cNvPr>
          <p:cNvSpPr txBox="1">
            <a:spLocks/>
          </p:cNvSpPr>
          <p:nvPr/>
        </p:nvSpPr>
        <p:spPr>
          <a:xfrm>
            <a:off x="359291" y="1631243"/>
            <a:ext cx="8153400" cy="495300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포트</a:t>
            </a:r>
            <a:r>
              <a:rPr lang="en-US" altLang="ko-KR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(port): </a:t>
            </a:r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가상적인 통신 선로</a:t>
            </a:r>
            <a:endParaRPr lang="en-US" altLang="ko-KR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3109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0C1529-7FC8-4935-B538-45F0F7C274D3}"/>
              </a:ext>
            </a:extLst>
          </p:cNvPr>
          <p:cNvSpPr txBox="1"/>
          <p:nvPr/>
        </p:nvSpPr>
        <p:spPr>
          <a:xfrm>
            <a:off x="463752" y="1633162"/>
            <a:ext cx="6696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◎ </a:t>
            </a:r>
            <a:r>
              <a:rPr lang="ko-KR" altLang="en-US" sz="22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포트번호의</a:t>
            </a:r>
            <a:r>
              <a:rPr lang="en-US" altLang="ko-KR" sz="22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2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분류</a:t>
            </a:r>
            <a:r>
              <a:rPr lang="en-US" altLang="ko-KR" sz="2200" b="1" kern="10" dirty="0">
                <a:solidFill>
                  <a:schemeClr val="tx2"/>
                </a:solidFill>
                <a:effectLst>
                  <a:outerShdw dist="35921" dir="2700000" algn="ctr" rotWithShape="0">
                    <a:srgbClr val="DBE4ED"/>
                  </a:outerShdw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endParaRPr lang="ko-KR" altLang="en-US" sz="2200" b="1" kern="10" dirty="0">
              <a:solidFill>
                <a:schemeClr val="tx2"/>
              </a:solidFill>
              <a:effectLst>
                <a:outerShdw dist="35921" dir="2700000" algn="ctr" rotWithShape="0">
                  <a:srgbClr val="DBE4ED"/>
                </a:outerShdw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1BB1C2-3269-4A69-9EC0-D4B89CF7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14" y="2064049"/>
            <a:ext cx="7743334" cy="208807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F405923-C144-4294-B3E0-492CD8BDC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14" y="4432040"/>
            <a:ext cx="4895346" cy="2299996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5B1ECF6C-EF0B-46F0-BBE2-B8901D6A9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</p:spTree>
    <p:extLst>
      <p:ext uri="{BB962C8B-B14F-4D97-AF65-F5344CB8AC3E}">
        <p14:creationId xmlns:p14="http://schemas.microsoft.com/office/powerpoint/2010/main" val="20785109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648" y="2133600"/>
            <a:ext cx="8153400" cy="9906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900" dirty="0"/>
              <a:t>소켓</a:t>
            </a:r>
            <a:r>
              <a:rPr lang="en-US" altLang="ko-KR" sz="1900" dirty="0"/>
              <a:t>(socket)</a:t>
            </a:r>
            <a:r>
              <a:rPr lang="ko-KR" altLang="en-US" sz="1900" dirty="0"/>
              <a:t>이란</a:t>
            </a:r>
            <a:r>
              <a:rPr lang="en-US" altLang="ko-KR" sz="1900" dirty="0"/>
              <a:t>? </a:t>
            </a:r>
          </a:p>
          <a:p>
            <a:pPr marL="0" indent="0">
              <a:buNone/>
            </a:pPr>
            <a:r>
              <a:rPr lang="en-US" altLang="ko-KR" dirty="0"/>
              <a:t>      -  TCP</a:t>
            </a:r>
            <a:r>
              <a:rPr lang="ko-KR" altLang="en-US" dirty="0"/>
              <a:t>를 사용하여 응용 프로그램끼리 통신을 하기 위한 연결 끝점</a:t>
            </a:r>
            <a:r>
              <a:rPr lang="en-US" altLang="ko-KR" dirty="0"/>
              <a:t>(end point)</a:t>
            </a:r>
          </a:p>
          <a:p>
            <a:pPr marL="0" indent="0">
              <a:buNone/>
            </a:pPr>
            <a:r>
              <a:rPr lang="en-US" altLang="ko-KR" dirty="0"/>
              <a:t>      -  </a:t>
            </a:r>
            <a:r>
              <a:rPr lang="ko-KR" altLang="en-US" dirty="0"/>
              <a:t>소켓은 </a:t>
            </a:r>
            <a:r>
              <a:rPr lang="en-US" altLang="ko-KR" dirty="0"/>
              <a:t> IP + Port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 통신 창구라고 보면 됨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4F33B5A-D885-44CD-904A-E290DB15D5D2}"/>
              </a:ext>
            </a:extLst>
          </p:cNvPr>
          <p:cNvSpPr txBox="1">
            <a:spLocks/>
          </p:cNvSpPr>
          <p:nvPr/>
        </p:nvSpPr>
        <p:spPr>
          <a:xfrm>
            <a:off x="305177" y="1527247"/>
            <a:ext cx="8153400" cy="54232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▣ Socket </a:t>
            </a:r>
            <a:r>
              <a:rPr lang="ko-KR" altLang="en-US" sz="2800" b="1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rPr>
              <a:t>클래스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949AFC6-9F1A-4FB8-A65B-D016DA7EC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491AC4-57E8-48F0-AF17-E580BA9DC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20" y="3120073"/>
            <a:ext cx="7548061" cy="36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975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C3013-F945-47CF-8EED-0F715542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82" y="1688065"/>
            <a:ext cx="7253058" cy="525623"/>
          </a:xfrm>
        </p:spPr>
        <p:txBody>
          <a:bodyPr>
            <a:normAutofit fontScale="90000"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예제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날짜 서버에 연결하기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B8503-7A6D-45FC-B997-307387F413C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2495551"/>
            <a:ext cx="8466038" cy="3041780"/>
          </a:xfrm>
        </p:spPr>
        <p:txBody>
          <a:bodyPr/>
          <a:lstStyle/>
          <a:p>
            <a:r>
              <a:rPr lang="ko-KR" altLang="en-US" dirty="0"/>
              <a:t>인터넷에 보면 정확한 현재 시각을 알려주는 서버들이 존재한다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(</a:t>
            </a:r>
            <a:r>
              <a:rPr lang="ko-KR" altLang="en-US" dirty="0"/>
              <a:t>원자 시계로 측정된 시각</a:t>
            </a:r>
            <a:r>
              <a:rPr lang="en-US" altLang="ko-KR" dirty="0"/>
              <a:t>). </a:t>
            </a:r>
          </a:p>
          <a:p>
            <a:r>
              <a:rPr lang="ko-KR" altLang="en-US" dirty="0"/>
              <a:t>미국 시각을 알려주는 서버</a:t>
            </a:r>
            <a:r>
              <a:rPr lang="en-US" altLang="ko-KR" dirty="0"/>
              <a:t>(NIST </a:t>
            </a:r>
            <a:r>
              <a:rPr lang="ko-KR" altLang="en-US" dirty="0"/>
              <a:t>서버</a:t>
            </a:r>
            <a:r>
              <a:rPr lang="en-US" altLang="ko-KR" dirty="0"/>
              <a:t>)</a:t>
            </a:r>
            <a:r>
              <a:rPr lang="ko-KR" altLang="en-US" dirty="0"/>
              <a:t>에 소켓을 이용하여 접속해 보자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소켓은 </a:t>
            </a:r>
            <a:r>
              <a:rPr lang="en-US" altLang="ko-KR" dirty="0"/>
              <a:t>Socket </a:t>
            </a:r>
            <a:r>
              <a:rPr lang="ko-KR" altLang="en-US" dirty="0"/>
              <a:t>클래스에 의하여 제공된다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 - Socket </a:t>
            </a:r>
            <a:r>
              <a:rPr lang="ko-KR" altLang="en-US" dirty="0"/>
              <a:t>클래스 생성자의 첫 번째 인수는 사이트 주소이고     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  두 번째 인수가 바로 포트 번호이다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 - NIST </a:t>
            </a:r>
            <a:r>
              <a:rPr lang="ko-KR" altLang="en-US" dirty="0"/>
              <a:t>서버를 지정하는 소켓을 생성하면 바로 서버와 연결된다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     - </a:t>
            </a:r>
            <a:r>
              <a:rPr lang="ko-KR" altLang="en-US" dirty="0"/>
              <a:t>소켓으로부터 입력 스트림을 얻어서 스트림에 읽으면 현재 시각을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E168E6-CB92-74E5-1BD9-A171F6A3A1BC}"/>
              </a:ext>
            </a:extLst>
          </p:cNvPr>
          <p:cNvSpPr/>
          <p:nvPr/>
        </p:nvSpPr>
        <p:spPr>
          <a:xfrm>
            <a:off x="943930" y="5819194"/>
            <a:ext cx="7822118" cy="42921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59453 21-08-27 06:34:46 50 0 0  65.7 UTC(NIST) *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313804C-58CD-49E4-B83B-FF8DFFC01E46}"/>
              </a:ext>
            </a:extLst>
          </p:cNvPr>
          <p:cNvSpPr txBox="1">
            <a:spLocks/>
          </p:cNvSpPr>
          <p:nvPr/>
        </p:nvSpPr>
        <p:spPr>
          <a:xfrm>
            <a:off x="612648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</p:spTree>
    <p:extLst>
      <p:ext uri="{BB962C8B-B14F-4D97-AF65-F5344CB8AC3E}">
        <p14:creationId xmlns:p14="http://schemas.microsoft.com/office/powerpoint/2010/main" val="30276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8D80A7F-5110-2173-0328-85B676AF248E}"/>
              </a:ext>
            </a:extLst>
          </p:cNvPr>
          <p:cNvSpPr/>
          <p:nvPr/>
        </p:nvSpPr>
        <p:spPr>
          <a:xfrm>
            <a:off x="612648" y="1607746"/>
            <a:ext cx="8153400" cy="475573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java.io.IOException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java.io.InputStream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java.net.Socket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import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java.util.Scanner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SocketTest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public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 ]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throws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IOException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</a:t>
            </a: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try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(Socket  s =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Socket("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time-c.nist.gov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", </a:t>
            </a:r>
            <a:r>
              <a:rPr lang="en-US" altLang="ko-KR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)) {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InputStream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inStream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s.getInputStream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Scanner </a:t>
            </a:r>
            <a:r>
              <a:rPr lang="en-US" altLang="ko-KR" u="sng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Scanner(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inStream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r>
              <a:rPr lang="en-US" altLang="ko-KR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while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in.hasNextLine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()) {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	String line = 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in.nextLine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	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b="1" i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(line);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}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}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}</a:t>
            </a:r>
          </a:p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293024-DE11-1D65-7F31-58E8CA214202}"/>
              </a:ext>
            </a:extLst>
          </p:cNvPr>
          <p:cNvSpPr/>
          <p:nvPr/>
        </p:nvSpPr>
        <p:spPr>
          <a:xfrm>
            <a:off x="779929" y="6463781"/>
            <a:ext cx="7584141" cy="3312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</a:rPr>
              <a:t>59453 21-08-27 06:34:46 50 0 0  65.7 UTC(NIST) *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4C3013-F945-47CF-8EED-0F715542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410" y="1782146"/>
            <a:ext cx="3045730" cy="388776"/>
          </a:xfrm>
        </p:spPr>
        <p:txBody>
          <a:bodyPr>
            <a:normAutofit fontScale="90000"/>
          </a:bodyPr>
          <a:lstStyle/>
          <a:p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예제</a:t>
            </a:r>
            <a:r>
              <a:rPr lang="en-US" altLang="ko-KR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서버에 연결하기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0313A87C-3362-4A8A-88E6-524A1F440870}"/>
              </a:ext>
            </a:extLst>
          </p:cNvPr>
          <p:cNvSpPr txBox="1">
            <a:spLocks/>
          </p:cNvSpPr>
          <p:nvPr/>
        </p:nvSpPr>
        <p:spPr>
          <a:xfrm>
            <a:off x="612648" y="246094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17.3 TCP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</p:spTree>
    <p:extLst>
      <p:ext uri="{BB962C8B-B14F-4D97-AF65-F5344CB8AC3E}">
        <p14:creationId xmlns:p14="http://schemas.microsoft.com/office/powerpoint/2010/main" val="4193090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C465C-1FBF-47B1-AEFD-16B053A6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A3EA63F-6197-4D48-ACB3-2CF088748B9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785757"/>
            <a:ext cx="8153400" cy="1291837"/>
          </a:xfrm>
        </p:spPr>
      </p:pic>
    </p:spTree>
    <p:extLst>
      <p:ext uri="{BB962C8B-B14F-4D97-AF65-F5344CB8AC3E}">
        <p14:creationId xmlns:p14="http://schemas.microsoft.com/office/powerpoint/2010/main" val="2857234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403FB-62AF-4C27-8388-8B5CA208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17.4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 클라이언트 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572F1-F396-4EA8-B9EC-A4E7EB48D1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두 사람이 간단한 채팅을 할 수 있는 프로그램을 작성해보자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0" indent="0">
              <a:buNone/>
            </a:pPr>
            <a:r>
              <a:rPr lang="en-US" altLang="ko-KR" dirty="0"/>
              <a:t>     GUI</a:t>
            </a:r>
            <a:r>
              <a:rPr lang="ko-KR" altLang="en-US" dirty="0"/>
              <a:t>도 없고</a:t>
            </a:r>
            <a:r>
              <a:rPr lang="en-US" altLang="ko-KR" dirty="0"/>
              <a:t>, </a:t>
            </a:r>
            <a:r>
              <a:rPr lang="ko-KR" altLang="en-US" dirty="0"/>
              <a:t>프로토콜도 “</a:t>
            </a:r>
            <a:r>
              <a:rPr lang="en-US" altLang="ko-KR" dirty="0"/>
              <a:t>quit” </a:t>
            </a:r>
            <a:r>
              <a:rPr lang="ko-KR" altLang="en-US" dirty="0"/>
              <a:t>뿐이다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B844D6-1BC7-408A-B608-BBF61D86D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21" y="2452674"/>
            <a:ext cx="6749388" cy="42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713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544223" y="1861457"/>
            <a:ext cx="8296469" cy="648478"/>
          </a:xfrm>
        </p:spPr>
        <p:txBody>
          <a:bodyPr/>
          <a:lstStyle/>
          <a:p>
            <a:r>
              <a:rPr lang="ko-KR" altLang="en-US" dirty="0"/>
              <a:t>클라이언트와 서버가 연결되어 있고 소켓을 통하여 서로 데이터를 주고 받고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369D364-F614-4E32-A70A-7D3F02E198F0}"/>
              </a:ext>
            </a:extLst>
          </p:cNvPr>
          <p:cNvSpPr txBox="1">
            <a:spLocks/>
          </p:cNvSpPr>
          <p:nvPr/>
        </p:nvSpPr>
        <p:spPr>
          <a:xfrm>
            <a:off x="755717" y="2667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17.4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 클라이언트 제작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D06FE1-DC78-4D66-A218-AAC366E66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83" y="2900063"/>
            <a:ext cx="7660657" cy="176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21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12648" y="1824134"/>
            <a:ext cx="8153400" cy="990600"/>
          </a:xfrm>
        </p:spPr>
        <p:txBody>
          <a:bodyPr>
            <a:normAutofit/>
          </a:bodyPr>
          <a:lstStyle/>
          <a:p>
            <a:r>
              <a:rPr lang="ko-KR" altLang="en-US" dirty="0"/>
              <a:t>처음 클라이언트와</a:t>
            </a:r>
            <a:r>
              <a:rPr lang="en-US" altLang="ko-KR" dirty="0"/>
              <a:t> </a:t>
            </a:r>
            <a:r>
              <a:rPr lang="ko-KR" altLang="en-US" dirty="0"/>
              <a:t>서버가</a:t>
            </a:r>
            <a:r>
              <a:rPr lang="en-US" altLang="ko-KR" dirty="0"/>
              <a:t> </a:t>
            </a:r>
            <a:r>
              <a:rPr lang="ko-KR" altLang="en-US" dirty="0"/>
              <a:t>연결되어</a:t>
            </a:r>
            <a:r>
              <a:rPr lang="en-US" altLang="ko-KR" dirty="0"/>
              <a:t> </a:t>
            </a:r>
            <a:r>
              <a:rPr lang="ko-KR" altLang="en-US" dirty="0"/>
              <a:t>데이터를</a:t>
            </a:r>
            <a:r>
              <a:rPr lang="en-US" altLang="ko-KR" dirty="0"/>
              <a:t> </a:t>
            </a:r>
            <a:r>
              <a:rPr lang="ko-KR" altLang="en-US" dirty="0"/>
              <a:t>주고</a:t>
            </a:r>
            <a:r>
              <a:rPr lang="en-US" altLang="ko-KR" dirty="0"/>
              <a:t> </a:t>
            </a:r>
            <a:r>
              <a:rPr lang="ko-KR" altLang="en-US" dirty="0"/>
              <a:t>받는</a:t>
            </a:r>
            <a:r>
              <a:rPr lang="en-US" altLang="ko-KR" dirty="0"/>
              <a:t> </a:t>
            </a:r>
            <a:r>
              <a:rPr lang="ko-KR" altLang="en-US" dirty="0"/>
              <a:t>상태에서</a:t>
            </a:r>
            <a:r>
              <a:rPr lang="en-US" altLang="ko-KR" dirty="0"/>
              <a:t>, </a:t>
            </a:r>
            <a:r>
              <a:rPr lang="ko-KR" altLang="en-US" dirty="0"/>
              <a:t>중간에</a:t>
            </a:r>
            <a:r>
              <a:rPr lang="en-US" altLang="ko-KR" dirty="0"/>
              <a:t> </a:t>
            </a:r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클라이언트가</a:t>
            </a:r>
            <a:r>
              <a:rPr lang="en-US" altLang="ko-KR" dirty="0"/>
              <a:t> </a:t>
            </a:r>
            <a:r>
              <a:rPr lang="ko-KR" altLang="en-US" dirty="0"/>
              <a:t>이 서버에 접속을 시도하면 두번째 클라이언트는 서버에 접속할 수 없다</a:t>
            </a:r>
            <a:r>
              <a:rPr lang="en-US" altLang="ko-KR" dirty="0"/>
              <a:t>.  </a:t>
            </a:r>
            <a:r>
              <a:rPr lang="ko-KR" altLang="en-US" dirty="0"/>
              <a:t>서버의 소켓을 이미 사용하고 있기 때문이다</a:t>
            </a:r>
            <a:r>
              <a:rPr lang="en-US" altLang="ko-KR" dirty="0"/>
              <a:t>. 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366" y="2814734"/>
            <a:ext cx="7504859" cy="311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369D364-F614-4E32-A70A-7D3F02E198F0}"/>
              </a:ext>
            </a:extLst>
          </p:cNvPr>
          <p:cNvSpPr txBox="1">
            <a:spLocks/>
          </p:cNvSpPr>
          <p:nvPr/>
        </p:nvSpPr>
        <p:spPr>
          <a:xfrm>
            <a:off x="755717" y="2667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17.4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 클라이언트 제작</a:t>
            </a:r>
          </a:p>
        </p:txBody>
      </p:sp>
    </p:spTree>
    <p:extLst>
      <p:ext uri="{BB962C8B-B14F-4D97-AF65-F5344CB8AC3E}">
        <p14:creationId xmlns:p14="http://schemas.microsoft.com/office/powerpoint/2010/main" val="15401132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A0F1D6-0711-4B97-9769-D260D07376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7" y="1866122"/>
            <a:ext cx="8153400" cy="1404257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서버는 연결 요청만을 받는 소켓을 따로 가지고 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     모든 클라이언트는 이곳으로 연결 요청을 하여야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연결 요청이 승인되면 서버는 해당 클라이언트를 상대하는 새로운 소켓을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 만든다</a:t>
            </a:r>
            <a:r>
              <a:rPr lang="en-US" altLang="ko-KR" dirty="0"/>
              <a:t>. </a:t>
            </a:r>
            <a:r>
              <a:rPr lang="ko-KR" altLang="en-US" dirty="0"/>
              <a:t>클라이언트는 이 새로운 소켓을 사용하여 데이터를 주고받는다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8366D3-BFC4-406C-AE99-DE6CFB901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3349300"/>
            <a:ext cx="7515225" cy="3107483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10C24B9-C1A4-41A7-B8F4-62F95BACDCBA}"/>
              </a:ext>
            </a:extLst>
          </p:cNvPr>
          <p:cNvSpPr txBox="1">
            <a:spLocks/>
          </p:cNvSpPr>
          <p:nvPr/>
        </p:nvSpPr>
        <p:spPr>
          <a:xfrm>
            <a:off x="699734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17.4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 클라이언트 제작</a:t>
            </a:r>
          </a:p>
        </p:txBody>
      </p:sp>
    </p:spTree>
    <p:extLst>
      <p:ext uri="{BB962C8B-B14F-4D97-AF65-F5344CB8AC3E}">
        <p14:creationId xmlns:p14="http://schemas.microsoft.com/office/powerpoint/2010/main" val="14367172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F4B40B3-8D36-4AD7-8B90-00E5299215B6}"/>
              </a:ext>
            </a:extLst>
          </p:cNvPr>
          <p:cNvSpPr txBox="1">
            <a:spLocks/>
          </p:cNvSpPr>
          <p:nvPr/>
        </p:nvSpPr>
        <p:spPr>
          <a:xfrm>
            <a:off x="305177" y="1555240"/>
            <a:ext cx="8153400" cy="54232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2800" b="1" kern="10" dirty="0">
                <a:latin typeface="새굴림" panose="02030600000101010101" pitchFamily="18" charset="-127"/>
                <a:ea typeface="새굴림" panose="02030600000101010101" pitchFamily="18" charset="-127"/>
              </a:rPr>
              <a:t>▣ Socket</a:t>
            </a:r>
            <a:r>
              <a:rPr lang="ko-KR" altLang="en-US" sz="2800" b="1" kern="10" dirty="0">
                <a:latin typeface="새굴림" panose="02030600000101010101" pitchFamily="18" charset="-127"/>
                <a:ea typeface="새굴림" panose="02030600000101010101" pitchFamily="18" charset="-127"/>
              </a:rPr>
              <a:t>클래스와 </a:t>
            </a:r>
            <a:r>
              <a:rPr lang="en-US" altLang="ko-KR" sz="2800" b="1" kern="1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ServerSocket</a:t>
            </a:r>
            <a:r>
              <a:rPr lang="ko-KR" altLang="en-US" sz="2800" b="1" kern="10" dirty="0">
                <a:latin typeface="새굴림" panose="02030600000101010101" pitchFamily="18" charset="-127"/>
                <a:ea typeface="새굴림" panose="02030600000101010101" pitchFamily="18" charset="-127"/>
              </a:rPr>
              <a:t>클래스</a:t>
            </a:r>
            <a:endParaRPr lang="ko-KR" altLang="en-US" sz="2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5C06F04-5D7A-4490-87DF-D8970F844E72}"/>
              </a:ext>
            </a:extLst>
          </p:cNvPr>
          <p:cNvSpPr txBox="1">
            <a:spLocks/>
          </p:cNvSpPr>
          <p:nvPr/>
        </p:nvSpPr>
        <p:spPr>
          <a:xfrm>
            <a:off x="699734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17.4 </a:t>
            </a:r>
            <a:r>
              <a:rPr lang="ko-KR" altLang="en-US" sz="4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 클라이언트 제작</a:t>
            </a:r>
          </a:p>
        </p:txBody>
      </p: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D732D0F5-E96F-49B8-AD38-E3276F11BB6D}"/>
              </a:ext>
            </a:extLst>
          </p:cNvPr>
          <p:cNvSpPr txBox="1">
            <a:spLocks/>
          </p:cNvSpPr>
          <p:nvPr/>
        </p:nvSpPr>
        <p:spPr>
          <a:xfrm>
            <a:off x="858354" y="3236028"/>
            <a:ext cx="8153400" cy="3393372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en-US" altLang="ko-KR" sz="2000" b="1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 생성</a:t>
            </a:r>
            <a:endParaRPr lang="en-US" altLang="ko-KR" sz="20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fontAlgn="auto">
              <a:spcAft>
                <a:spcPts val="0"/>
              </a:spcAft>
            </a:pP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server = new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portNumber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queueLength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L="0" lvl="1" indent="0" fontAlgn="auto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fontAlgn="auto">
              <a:spcAft>
                <a:spcPts val="0"/>
              </a:spcAft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위와 같이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생성자를 호출하면 포트 번호가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portNumber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포트를 기반으로 하는 소켓을 생성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fontAlgn="auto">
              <a:spcAft>
                <a:spcPts val="0"/>
              </a:spcAft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queueLength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서버에 연결되기를 기다리는 클라이언트의 최대 개수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fontAlgn="auto">
              <a:spcAft>
                <a:spcPts val="0"/>
              </a:spcAft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portNumber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클라이언트가 서버 컴퓨터에서 서버 애플리케이션을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5760" lvl="1" indent="0" fontAlgn="auto">
              <a:spcAft>
                <a:spcPts val="0"/>
              </a:spcAft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찾기 위하여 필요하며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클라이언트는 이 포트 번호를 이용하여 서버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65760" lvl="1" indent="0" fontAlgn="auto">
              <a:spcAft>
                <a:spcPts val="0"/>
              </a:spcAft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에게 연결을 요청해야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257C5CDC-990A-41FA-B024-2BC628ED91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99734" y="2133189"/>
            <a:ext cx="8153400" cy="1067210"/>
          </a:xfrm>
        </p:spPr>
        <p:txBody>
          <a:bodyPr>
            <a:normAutofit/>
          </a:bodyPr>
          <a:lstStyle/>
          <a:p>
            <a:r>
              <a:rPr lang="en-US" altLang="ko-KR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Socket </a:t>
            </a:r>
            <a:r>
              <a:rPr lang="ko-KR" altLang="en-US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클래스와 </a:t>
            </a:r>
            <a:r>
              <a:rPr lang="en-US" altLang="ko-KR" kern="10" dirty="0" err="1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ko-KR" altLang="en-US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클래스는</a:t>
            </a:r>
            <a:r>
              <a:rPr lang="en-US" altLang="ko-KR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10" dirty="0" err="1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클라이언트측과</a:t>
            </a:r>
            <a:r>
              <a:rPr lang="ko-KR" altLang="en-US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kern="10" dirty="0" err="1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서버측을</a:t>
            </a:r>
            <a:r>
              <a:rPr lang="ko-KR" altLang="en-US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구현하는데 사용된다</a:t>
            </a:r>
            <a:r>
              <a:rPr lang="en-US" altLang="ko-KR" kern="10" dirty="0">
                <a:effectLst>
                  <a:outerShdw dist="35921" dir="2700000" algn="ctr" rotWithShape="0">
                    <a:srgbClr val="DBE4ED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먼저 소켓을 이용하여 서버 측을 구현하는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단계를 살펴보자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856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ServerSocket</a:t>
            </a:r>
            <a:r>
              <a:rPr lang="ko-KR" altLang="en-US" sz="3600" dirty="0"/>
              <a:t>과 </a:t>
            </a:r>
            <a:r>
              <a:rPr lang="en-US" altLang="ko-KR" sz="3600" dirty="0"/>
              <a:t>Socket </a:t>
            </a:r>
            <a:r>
              <a:rPr lang="ko-KR" altLang="en-US" sz="3600" dirty="0"/>
              <a:t>클래스</a:t>
            </a:r>
            <a:endParaRPr lang="en-US" altLang="ko-KR" sz="3600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34ED516-ACE0-4754-9192-A086D74B1AD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9174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accept() </a:t>
            </a:r>
            <a:r>
              <a:rPr lang="ko-KR" altLang="en-US" sz="2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메소드 호출 </a:t>
            </a:r>
            <a:endParaRPr lang="en-US" altLang="ko-KR" sz="2000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62940" lvl="1" indent="-34290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서버는 클라이언트가 연결을 시도하기를 기다린다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320040" lvl="1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이것은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메소드인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accept()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호출하면 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662940" lvl="1" indent="-34290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Socket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clientSocket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server.accept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pPr marL="662940" lvl="1" indent="-342900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accept()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메서드는 클라이언트와 연결이 되면 새로운 소켓 객체를 생성하여 반환한다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54B46B-F751-4CC6-9A7A-F7608144B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34" y="4095750"/>
            <a:ext cx="72104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29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 err="1"/>
              <a:t>ServerSocket</a:t>
            </a:r>
            <a:r>
              <a:rPr lang="ko-KR" altLang="en-US" sz="3600" dirty="0"/>
              <a:t>과 </a:t>
            </a:r>
            <a:r>
              <a:rPr lang="en-US" altLang="ko-KR" sz="3600" dirty="0"/>
              <a:t>Socket </a:t>
            </a:r>
            <a:r>
              <a:rPr lang="ko-KR" altLang="en-US" sz="3600" dirty="0"/>
              <a:t>클래스</a:t>
            </a:r>
            <a:endParaRPr lang="en-US" altLang="ko-KR" sz="3600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34ED516-ACE0-4754-9192-A086D74B1AD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458616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800" b="1" i="0" u="none" strike="noStrike" baseline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소켓으로부터 스트림 객체를 얻는다</a:t>
            </a:r>
            <a:r>
              <a:rPr lang="en-US" altLang="ko-KR" sz="1800" b="1" i="0" u="none" strike="noStrike" baseline="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/>
            <a:r>
              <a:rPr lang="en-US" altLang="ko-KR" dirty="0" err="1"/>
              <a:t>InputStream</a:t>
            </a:r>
            <a:r>
              <a:rPr lang="en-US" altLang="ko-KR" dirty="0"/>
              <a:t> input = </a:t>
            </a:r>
            <a:r>
              <a:rPr lang="en-US" altLang="ko-KR" dirty="0" err="1"/>
              <a:t>clientSocket.getInputStream</a:t>
            </a:r>
            <a:r>
              <a:rPr lang="en-US" altLang="ko-KR" dirty="0"/>
              <a:t>();</a:t>
            </a:r>
          </a:p>
          <a:p>
            <a:pPr lvl="1"/>
            <a:r>
              <a:rPr lang="en-US" altLang="ko-KR" dirty="0" err="1"/>
              <a:t>OutputStream</a:t>
            </a:r>
            <a:r>
              <a:rPr lang="en-US" altLang="ko-KR" dirty="0"/>
              <a:t> output = </a:t>
            </a:r>
            <a:r>
              <a:rPr lang="en-US" altLang="ko-KR" dirty="0" err="1"/>
              <a:t>clientSocket.getOutputStream</a:t>
            </a:r>
            <a:r>
              <a:rPr lang="en-US" altLang="ko-KR" dirty="0"/>
              <a:t>();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8189DD-EA11-4A4A-B707-885EA0EF4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96" y="4374435"/>
            <a:ext cx="5869081" cy="2102565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51C1BBE-955A-4128-979D-D5B5B41882A9}"/>
              </a:ext>
            </a:extLst>
          </p:cNvPr>
          <p:cNvSpPr txBox="1">
            <a:spLocks/>
          </p:cNvSpPr>
          <p:nvPr/>
        </p:nvSpPr>
        <p:spPr>
          <a:xfrm>
            <a:off x="612648" y="2829508"/>
            <a:ext cx="8153400" cy="191744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2940" lvl="1" indent="-342900" fontAlgn="auto">
              <a:spcAft>
                <a:spcPts val="0"/>
              </a:spcAft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서버는 클라이언트가 연결을 시도하기를 기다린다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320040" lvl="1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이것은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메소드인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accept()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호출하면 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662940" lvl="1" indent="-342900" fontAlgn="auto">
              <a:spcAft>
                <a:spcPts val="0"/>
              </a:spcAft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Socket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clientSocket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server.accept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pPr marL="662940" lvl="1" indent="-342900" fontAlgn="auto">
              <a:spcAft>
                <a:spcPts val="0"/>
              </a:spcAft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accept()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메서드는 클라이언트와 연결이 되면 새로운 소켓 객체를 생성하여 반환한다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066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F85F1-8B35-4140-BCC8-E5874699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클라이언트 제작</a:t>
            </a: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E80EEF2-0075-4A32-966E-3F813D11A56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180322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대화 단계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800" b="1" i="0" u="none" strike="noStrike" baseline="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스트림을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이용하여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대화한다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65760" lvl="1" indent="0">
              <a:buNone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클라이언트사이에는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약속된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프로토콜이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있어야한다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8EC38BE-98A3-47E1-9EF4-48873F4D3671}"/>
              </a:ext>
            </a:extLst>
          </p:cNvPr>
          <p:cNvSpPr txBox="1">
            <a:spLocks/>
          </p:cNvSpPr>
          <p:nvPr/>
        </p:nvSpPr>
        <p:spPr>
          <a:xfrm>
            <a:off x="612648" y="3183293"/>
            <a:ext cx="8153400" cy="118032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lvl="1" fontAlgn="auto">
              <a:spcAft>
                <a:spcPts val="0"/>
              </a:spcAft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서버와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 사이에 전송이 끝나면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서버가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close()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메서드를 호출하여 스트림과 소켓을 닫는다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63438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F85F1-8B35-4140-BCC8-E5874699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3000502" cy="990600"/>
          </a:xfrm>
        </p:spPr>
        <p:txBody>
          <a:bodyPr/>
          <a:lstStyle/>
          <a:p>
            <a:r>
              <a:rPr lang="ko-KR" altLang="en-US" dirty="0"/>
              <a:t>채팅 서버 제작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BEA15D-3569-5560-C840-F1BF8D08B67B}"/>
              </a:ext>
            </a:extLst>
          </p:cNvPr>
          <p:cNvSpPr/>
          <p:nvPr/>
        </p:nvSpPr>
        <p:spPr>
          <a:xfrm>
            <a:off x="612648" y="1282700"/>
            <a:ext cx="8153400" cy="4829727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>
              <a:lnSpc>
                <a:spcPct val="110000"/>
              </a:lnSpc>
            </a:pP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Server { 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서버프로그램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클라이언트와 문자열을 주고 받는 기능제공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>
              <a:lnSpc>
                <a:spcPct val="110000"/>
              </a:lnSpc>
            </a:pP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  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소켓 객체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Socket 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clientSocket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null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  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클라이언트와의 연결 소켓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BufferedReader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 = 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  <a:r>
              <a:rPr lang="en-US" altLang="ko-KR" dirty="0"/>
              <a:t>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클라이언트에서 받은 데이터를 읽는 입력 스트림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PrintWriter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 = 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;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클라이언트로 데이터를 보내는 출력 스트림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Scanner  </a:t>
            </a:r>
            <a:r>
              <a:rPr lang="en-US" altLang="ko-KR" sz="1400" b="0" i="0" u="sng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Scanner(System.</a:t>
            </a:r>
            <a:r>
              <a:rPr lang="en-US" altLang="ko-KR" sz="1400" b="1" i="1" u="none" strike="noStrike" baseline="0" dirty="0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사용자 입력 처리</a:t>
            </a:r>
            <a:endParaRPr lang="ko-KR" altLang="en-US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>
              <a:lnSpc>
                <a:spcPct val="11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{ </a:t>
            </a:r>
          </a:p>
          <a:p>
            <a:pPr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(5000); 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소켓 생성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포트번호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5000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>
              <a:lnSpc>
                <a:spcPct val="110000"/>
              </a:lnSpc>
            </a:pP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연결을 기다리고 있음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>
              <a:lnSpc>
                <a:spcPct val="110000"/>
              </a:lnSpc>
            </a:pPr>
            <a:endParaRPr lang="en-US" altLang="ko-KR" sz="14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20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클라이언트의 연결 요청을 수락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1" i="0" u="none" strike="noStrike" baseline="0" dirty="0" err="1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serverSocket</a:t>
            </a:r>
            <a:r>
              <a:rPr lang="en-US" altLang="ko-KR" sz="1400" b="1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.accept</a:t>
            </a:r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System.</a:t>
            </a:r>
            <a:r>
              <a:rPr lang="en-US" altLang="ko-KR" sz="1400" b="1" i="1" dirty="0" err="1">
                <a:solidFill>
                  <a:srgbClr val="000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4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.println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클라이언트와 연결되었음</a:t>
            </a:r>
            <a:r>
              <a:rPr lang="en-US" altLang="ko-KR" sz="140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marR="0" algn="l" rtl="0">
              <a:lnSpc>
                <a:spcPct val="110000"/>
              </a:lnSpc>
            </a:pPr>
            <a:endParaRPr lang="en-US" altLang="ko-KR" sz="14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//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클라이언트와 데이터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주고받기위한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스트림 생성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out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PrintWriter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clientSocket.getOutputStream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);   </a:t>
            </a:r>
            <a:r>
              <a:rPr lang="en-US" altLang="ko-KR" sz="14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4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클라이언트로 데이터출력</a:t>
            </a:r>
            <a:endParaRPr lang="en-US" altLang="ko-KR" sz="14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endParaRPr lang="en-US" altLang="ko-KR" sz="1200" b="0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>
              <a:lnSpc>
                <a:spcPct val="110000"/>
              </a:lnSpc>
            </a:pP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BufferedReader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InputStreamReader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clientSocket.getInputStream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));    </a:t>
            </a:r>
            <a:r>
              <a:rPr lang="en-US" altLang="ko-KR" sz="14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4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클라이언트에서 데이터입력</a:t>
            </a:r>
            <a:endParaRPr lang="en-US" altLang="ko-KR" sz="14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just" rtl="0">
              <a:lnSpc>
                <a:spcPct val="110000"/>
              </a:lnSpc>
            </a:pP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endParaRPr lang="en-US" altLang="ko-KR" sz="14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C9764A99-8BC3-41CA-B3DC-2084FC569395}"/>
              </a:ext>
            </a:extLst>
          </p:cNvPr>
          <p:cNvSpPr txBox="1">
            <a:spLocks/>
          </p:cNvSpPr>
          <p:nvPr/>
        </p:nvSpPr>
        <p:spPr>
          <a:xfrm>
            <a:off x="4073658" y="959499"/>
            <a:ext cx="2491335" cy="41210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Server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프로그램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15370C-8666-4215-94AE-6E951207A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952" y="228600"/>
            <a:ext cx="4241800" cy="6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62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F85F1-8B35-4140-BCC8-E5874699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채팅 서버 제작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61D68A-2D5A-1713-7F1A-022DE0A55880}"/>
              </a:ext>
            </a:extLst>
          </p:cNvPr>
          <p:cNvSpPr/>
          <p:nvPr/>
        </p:nvSpPr>
        <p:spPr>
          <a:xfrm>
            <a:off x="779929" y="1083310"/>
            <a:ext cx="7584141" cy="5530850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클라이언트와의 통신처리</a:t>
            </a:r>
            <a:r>
              <a:rPr lang="en-US" altLang="ko-KR" sz="1200" b="0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</a:p>
          <a:p>
            <a:pPr marR="0" algn="l" defTabSz="360000" rtl="0"/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while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true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String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in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.readLine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클라이언트가 보낸 메시지 읽음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20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	</a:t>
            </a:r>
            <a:endParaRPr lang="en-US" altLang="ko-KR" sz="1200" b="0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.equalsIgnoreCase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"quit"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)) </a:t>
            </a:r>
            <a:r>
              <a:rPr lang="en-US" altLang="ko-KR" sz="1200" b="1" i="0" u="none" strike="noStrike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{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클라이언트가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quit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보내면 연결종료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클라이언트에서 연결을 종료하였음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break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while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u="none" strike="noStrike" baseline="0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반복문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종료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클라이언트가 보낸 문자열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ko-KR" altLang="en-US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+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defTabSz="360000" rtl="0"/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</a:t>
            </a:r>
            <a:r>
              <a:rPr lang="en-US" altLang="ko-KR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클라이언트로 보낼 문자열을 입력하고 </a:t>
            </a:r>
            <a:r>
              <a:rPr lang="ko-KR" altLang="en-US" sz="1200" b="0" i="0" u="none" strike="noStrike" baseline="0" dirty="0" err="1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엔터키를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치세요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String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sc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.nextLine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받기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endParaRPr lang="en-US" altLang="ko-KR" sz="1200" b="0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클라이언트로 메시지 전송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.write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+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"\n"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출력 스트림에 쓰기</a:t>
            </a:r>
            <a:endParaRPr lang="en-US" altLang="ko-KR" sz="1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.flush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스트림 강제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플러시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defTabSz="360000"/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20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리소스정리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출력스트림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소켓닫기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clientSocket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serverSocket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}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catch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.printStackTrace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입출력 예외 처리</a:t>
            </a:r>
            <a:endParaRPr lang="en-US" altLang="ko-KR" sz="1200" b="1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35420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F85F1-8B35-4140-BCC8-E5874699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3486912" cy="990600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채팅 클라이언트 제작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39B8FC-9236-6BF8-2B4A-F338176D674C}"/>
              </a:ext>
            </a:extLst>
          </p:cNvPr>
          <p:cNvSpPr/>
          <p:nvPr/>
        </p:nvSpPr>
        <p:spPr>
          <a:xfrm>
            <a:off x="496696" y="1631010"/>
            <a:ext cx="8385302" cy="4739310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 프로그램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서버와 문자열을 주고받는 기능 제공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Client {</a:t>
            </a:r>
          </a:p>
          <a:p>
            <a:pPr marR="0" algn="l" rtl="0"/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Socket 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clientSocket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서버와 연결할 소켓 객체</a:t>
            </a: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BufferedReader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  <a:r>
              <a:rPr lang="en-US" altLang="ko-KR" dirty="0"/>
              <a:t>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서버에서 받은 데이터를 읽는 입력 스트림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PrintWriter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  <a:r>
              <a:rPr lang="en-US" altLang="ko-KR" dirty="0"/>
              <a:t>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서버로 데이터를 보내는 출력 스트림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final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 Scanner  </a:t>
            </a:r>
            <a:r>
              <a:rPr lang="en-US" altLang="ko-KR" sz="1400" b="0" i="0" u="sng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sc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Scanner(System.</a:t>
            </a:r>
            <a:r>
              <a:rPr lang="en-US" altLang="ko-KR" sz="1400" b="1" i="1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</a:rPr>
              <a:t>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  <a:r>
              <a:rPr lang="en-US" altLang="ko-KR" dirty="0"/>
              <a:t>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처리</a:t>
            </a:r>
            <a:endParaRPr lang="en-US" altLang="ko-KR" sz="1200" b="1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200" b="1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try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    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서버에 연결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(localhost,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포트 번호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5000)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clientSocket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Socket(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"localhost"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5000);</a:t>
            </a:r>
          </a:p>
          <a:p>
            <a:pPr marR="0" algn="l" rtl="0"/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      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서버와 데이터를 주고받기 위한 스트림 생성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PrintWriter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clientSocket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.getOutputStream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());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서버로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R="0" algn="l" rtl="0"/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in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BufferedReader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1" i="0" u="none" strike="noStrike" baseline="0" dirty="0" err="1">
                <a:solidFill>
                  <a:srgbClr val="7F0055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InputStreamReader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clientSocket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.getInputStream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()));</a:t>
            </a:r>
          </a:p>
          <a:p>
            <a:pPr marR="0" algn="l" rtl="0"/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    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서버에서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</a:p>
          <a:p>
            <a:pPr marR="0" algn="l" rtl="0"/>
            <a:endParaRPr lang="en-US" altLang="ko-KR" sz="140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       String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메시지를 저장할 변수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61023F84-EC80-4830-A273-43EEA3F9DBC1}"/>
              </a:ext>
            </a:extLst>
          </p:cNvPr>
          <p:cNvSpPr txBox="1">
            <a:spLocks/>
          </p:cNvSpPr>
          <p:nvPr/>
        </p:nvSpPr>
        <p:spPr>
          <a:xfrm>
            <a:off x="3443680" y="1032675"/>
            <a:ext cx="2491335" cy="41210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 pitchFamily="2" charset="2"/>
              <a:buChar char="l"/>
              <a:defRPr kumimoji="0" sz="18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Client</a:t>
            </a:r>
            <a:r>
              <a:rPr lang="ko-KR" altLang="en-US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프로그램</a:t>
            </a:r>
            <a:r>
              <a:rPr lang="en-US" altLang="ko-KR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388031-5E74-4E62-B559-6D6B608A3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559" y="87553"/>
            <a:ext cx="4663440" cy="94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26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F85F1-8B35-4140-BCC8-E5874699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68" y="68580"/>
            <a:ext cx="8153400" cy="990600"/>
          </a:xfrm>
        </p:spPr>
        <p:txBody>
          <a:bodyPr/>
          <a:lstStyle/>
          <a:p>
            <a:r>
              <a:rPr lang="ko-KR" altLang="en-US" dirty="0"/>
              <a:t>채팅 클라이언트 제작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EE791A-05AB-0E25-7D45-CA3BBA4B7346}"/>
              </a:ext>
            </a:extLst>
          </p:cNvPr>
          <p:cNvSpPr/>
          <p:nvPr/>
        </p:nvSpPr>
        <p:spPr>
          <a:xfrm>
            <a:off x="779929" y="563880"/>
            <a:ext cx="7584141" cy="5951220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defTabSz="360000" rtl="0"/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서버와의 통신처리</a:t>
            </a:r>
            <a:endParaRPr lang="en-US" altLang="ko-KR" sz="1200" b="1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400" b="1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while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true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defTabSz="360000"/>
            <a:r>
              <a:rPr lang="ko-KR" altLang="en-US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	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//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 처리</a:t>
            </a:r>
            <a:endParaRPr lang="en-US" altLang="ko-KR" sz="1200" b="0" i="0" u="none" strike="noStrike" baseline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</a:t>
            </a:r>
            <a:r>
              <a:rPr lang="en-US" altLang="ko-KR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서버로 보낼 문자열을 입력하고 </a:t>
            </a:r>
            <a:r>
              <a:rPr lang="ko-KR" altLang="en-US" sz="1200" b="0" i="0" u="none" strike="noStrike" baseline="0" dirty="0" err="1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엔터키를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치세요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sc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.nextLine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사용자로부터 문자열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입력받기</a:t>
            </a:r>
            <a:endParaRPr lang="en-US" altLang="ko-KR" sz="1200" b="1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</a:t>
            </a:r>
            <a:r>
              <a:rPr lang="en-US" altLang="ko-KR" sz="1200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"quit"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시 연결 종료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if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.equalsIgnoreCase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</a:rPr>
              <a:t>"quit"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)) {</a:t>
            </a: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 메시지를 서버로 전송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.flush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         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출력 스트림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플러시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	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break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                 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반복문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종료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defTabSz="360000" rtl="0"/>
            <a:endParaRPr lang="en-US" altLang="ko-KR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전송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.flush</a:t>
            </a:r>
            <a:r>
              <a:rPr lang="en-US" altLang="ko-KR" sz="1200" b="1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();       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츨력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스트림 </a:t>
            </a:r>
            <a:r>
              <a:rPr lang="ko-KR" altLang="en-US" sz="1200" b="1" i="0" u="none" strike="noStrike" baseline="0" dirty="0" err="1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플러시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in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.readLine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응답 메시지 읽기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	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b="1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.println</a:t>
            </a:r>
            <a:r>
              <a:rPr lang="en-US" altLang="ko-KR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서버로부터 온 메시지</a:t>
            </a:r>
            <a:r>
              <a:rPr lang="en-US" altLang="ko-KR" sz="1200" b="0" i="0" u="none" strike="noStrike" baseline="0" dirty="0">
                <a:solidFill>
                  <a:srgbClr val="2A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ko-KR" altLang="en-US" sz="1200" b="0" i="0" u="none" strike="noStrike" baseline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+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msg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응답 출력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}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catch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b="0" i="0" u="none" strike="noStrike" baseline="0" dirty="0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           </a:t>
            </a:r>
            <a:r>
              <a:rPr lang="en-US" altLang="ko-KR" sz="1200" b="1" i="0" u="none" strike="noStrike" baseline="0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통신 과정에서 발생한 예외 처리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e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.printStackTrace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}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</a:rPr>
              <a:t>finally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defTabSz="360000"/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      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 정리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스트림 및 소켓 닫기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               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스트림 닫기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36000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	</a:t>
            </a:r>
            <a:r>
              <a:rPr lang="en-US" altLang="ko-KR" sz="1400" b="0" i="0" u="none" strike="noStrike" baseline="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clientSocket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     </a:t>
            </a:r>
            <a:r>
              <a:rPr lang="en-US" altLang="ko-KR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// </a:t>
            </a:r>
            <a:r>
              <a:rPr lang="ko-KR" altLang="en-US" sz="1200" b="1" dirty="0">
                <a:solidFill>
                  <a:srgbClr val="55C5D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소켓 닫기</a:t>
            </a:r>
            <a:endParaRPr lang="en-US" altLang="ko-KR" sz="1200" b="1" i="0" u="none" strike="noStrike" baseline="0" dirty="0">
              <a:solidFill>
                <a:srgbClr val="55C5D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defTabSz="360000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	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l" defTabSz="360000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0514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1B0D6-6F08-4F17-9FD8-9755A3290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서버와 클라이언트 프로그램 실행</a:t>
            </a:r>
          </a:p>
        </p:txBody>
      </p:sp>
      <p:sp>
        <p:nvSpPr>
          <p:cNvPr id="8" name="화살표: 위쪽/아래쪽 7">
            <a:extLst>
              <a:ext uri="{FF2B5EF4-FFF2-40B4-BE49-F238E27FC236}">
                <a16:creationId xmlns:a16="http://schemas.microsoft.com/office/drawing/2014/main" id="{D7F6F2F5-9103-4EA7-B0C0-343869BDB676}"/>
              </a:ext>
            </a:extLst>
          </p:cNvPr>
          <p:cNvSpPr/>
          <p:nvPr/>
        </p:nvSpPr>
        <p:spPr>
          <a:xfrm>
            <a:off x="4084230" y="3520776"/>
            <a:ext cx="1210236" cy="726141"/>
          </a:xfrm>
          <a:prstGeom prst="upDownArrow">
            <a:avLst>
              <a:gd name="adj1" fmla="val 50000"/>
              <a:gd name="adj2" fmla="val 265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781D59-2876-1A06-C72D-AFA2657DD804}"/>
              </a:ext>
            </a:extLst>
          </p:cNvPr>
          <p:cNvSpPr/>
          <p:nvPr/>
        </p:nvSpPr>
        <p:spPr>
          <a:xfrm>
            <a:off x="1032375" y="2088775"/>
            <a:ext cx="7584141" cy="1133811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C&gt; java Client</a:t>
            </a:r>
            <a:endParaRPr lang="ko-KR" altLang="en-US" sz="14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서버로 보낼 문자열을 입력하고 </a:t>
            </a:r>
            <a:r>
              <a:rPr lang="ko-KR" altLang="en-US" sz="14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엔터키를</a:t>
            </a:r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치세요</a:t>
            </a:r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hello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서버로부터 온 메시지</a:t>
            </a:r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hello too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서버로 보낼 문자열을 입력하고 </a:t>
            </a:r>
            <a:r>
              <a:rPr lang="ko-KR" altLang="en-US" sz="14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엔터키를</a:t>
            </a:r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치세요</a:t>
            </a:r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quit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CAA4EA-A866-EECE-AA22-56745510CFD2}"/>
              </a:ext>
            </a:extLst>
          </p:cNvPr>
          <p:cNvSpPr/>
          <p:nvPr/>
        </p:nvSpPr>
        <p:spPr>
          <a:xfrm>
            <a:off x="1032375" y="4482351"/>
            <a:ext cx="7584141" cy="1524002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C&gt; java Server</a:t>
            </a:r>
            <a:endParaRPr lang="ko-KR" altLang="en-US" sz="14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연결을 기다리고 있음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클라이언트와 연결되었음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클라이언트가 보낸 문자열</a:t>
            </a:r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hello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클라이언트로 보낼 문자열을 입력하고 </a:t>
            </a:r>
            <a:r>
              <a:rPr lang="ko-KR" altLang="en-US" sz="1400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엔터키를</a:t>
            </a:r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치세요</a:t>
            </a:r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hello too  </a:t>
            </a:r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󰎠</a:t>
            </a:r>
          </a:p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클라이언트에서 연결을 종료하였음</a:t>
            </a:r>
            <a:endParaRPr lang="en-US" altLang="ko-KR" sz="14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608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17.5 UDP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통신</a:t>
            </a:r>
          </a:p>
        </p:txBody>
      </p:sp>
      <p:sp>
        <p:nvSpPr>
          <p:cNvPr id="196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DatagramSocket </a:t>
            </a:r>
            <a:r>
              <a:rPr lang="ko-KR" altLang="en-US"/>
              <a:t>클래스</a:t>
            </a:r>
          </a:p>
          <a:p>
            <a:pPr lvl="1"/>
            <a:r>
              <a:rPr lang="en-US" altLang="ko-KR"/>
              <a:t>DatagramSocket()</a:t>
            </a:r>
            <a:r>
              <a:rPr lang="ko-KR" altLang="en-US"/>
              <a:t>은 </a:t>
            </a:r>
            <a:r>
              <a:rPr lang="en-US" altLang="ko-KR"/>
              <a:t>UDP </a:t>
            </a:r>
            <a:r>
              <a:rPr lang="ko-KR" altLang="en-US"/>
              <a:t>프로토콜을 사용하는 소켓을 생성</a:t>
            </a:r>
          </a:p>
          <a:p>
            <a:r>
              <a:rPr lang="en-US" altLang="ko-KR"/>
              <a:t>DatagramPacket</a:t>
            </a:r>
            <a:r>
              <a:rPr lang="ko-KR" altLang="en-US"/>
              <a:t> 클래스 </a:t>
            </a:r>
          </a:p>
          <a:p>
            <a:pPr lvl="1"/>
            <a:r>
              <a:rPr lang="en-US" altLang="ko-KR"/>
              <a:t>DatagramPacket()</a:t>
            </a:r>
            <a:r>
              <a:rPr lang="ko-KR" altLang="en-US"/>
              <a:t>은 </a:t>
            </a:r>
            <a:r>
              <a:rPr lang="en-US" altLang="ko-KR"/>
              <a:t>UDP </a:t>
            </a:r>
            <a:r>
              <a:rPr lang="ko-KR" altLang="en-US"/>
              <a:t>패킷을 생성한다</a:t>
            </a:r>
            <a:r>
              <a:rPr lang="en-US" altLang="ko-KR"/>
              <a:t>.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968324-8D4A-4818-A20B-C2F4674B8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6" y="3728949"/>
            <a:ext cx="6293224" cy="195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46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/>
              <a:t>UDP</a:t>
            </a:r>
          </a:p>
        </p:txBody>
      </p:sp>
      <p:sp>
        <p:nvSpPr>
          <p:cNvPr id="193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UDP(User Datagram Protoocol)</a:t>
            </a:r>
            <a:r>
              <a:rPr lang="ko-KR" altLang="en-US"/>
              <a:t>는 데이터를 몇 개의 고정 길이의 패킷</a:t>
            </a:r>
            <a:r>
              <a:rPr lang="en-US" altLang="ko-KR"/>
              <a:t>(</a:t>
            </a:r>
            <a:r>
              <a:rPr lang="ko-KR" altLang="en-US"/>
              <a:t>다이어그램이라고 불린다</a:t>
            </a:r>
            <a:r>
              <a:rPr lang="en-US" altLang="ko-KR"/>
              <a:t>)</a:t>
            </a:r>
            <a:r>
              <a:rPr lang="ko-KR" altLang="en-US"/>
              <a:t>으로 분할하여 전송</a:t>
            </a:r>
          </a:p>
        </p:txBody>
      </p:sp>
      <p:pic>
        <p:nvPicPr>
          <p:cNvPr id="1937412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317" y="2548329"/>
            <a:ext cx="4651375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76960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1C374-7BF1-486E-A005-39DAA8896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UDP</a:t>
            </a:r>
            <a:r>
              <a:rPr lang="ko-KR" altLang="en-US" dirty="0"/>
              <a:t>를 사용하여서 데이터 보내고 받기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4F7E38-DF6D-4763-B0DC-360F03D7E1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en-US" altLang="ko-KR" dirty="0"/>
              <a:t>1</a:t>
            </a:r>
            <a:r>
              <a:rPr lang="ko-KR" altLang="en-US" dirty="0"/>
              <a:t>개를 </a:t>
            </a:r>
            <a:r>
              <a:rPr lang="en-US" altLang="ko-KR" dirty="0"/>
              <a:t>UDP</a:t>
            </a:r>
            <a:r>
              <a:rPr lang="ko-KR" altLang="en-US" dirty="0"/>
              <a:t>를 이용하여 보내고 받는 프로그램을 가지고 </a:t>
            </a:r>
            <a:r>
              <a:rPr lang="en-US" altLang="ko-KR" dirty="0"/>
              <a:t>UDP </a:t>
            </a:r>
            <a:r>
              <a:rPr lang="ko-KR" altLang="en-US" dirty="0"/>
              <a:t>통신을 설명해보자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31CF1E-CE33-AE82-71C7-017DDC996F96}"/>
              </a:ext>
            </a:extLst>
          </p:cNvPr>
          <p:cNvSpPr/>
          <p:nvPr/>
        </p:nvSpPr>
        <p:spPr>
          <a:xfrm>
            <a:off x="897277" y="2581834"/>
            <a:ext cx="7584141" cy="672355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우리는 여전히 우리 운명의 주인이다</a:t>
            </a:r>
            <a:r>
              <a:rPr lang="en-US" altLang="ko-KR" sz="14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53378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Sender </a:t>
            </a:r>
            <a:r>
              <a:rPr lang="ko-KR" altLang="en-US"/>
              <a:t>클래스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2062BB-69EA-26AD-5CDF-03DC6E43DB35}"/>
              </a:ext>
            </a:extLst>
          </p:cNvPr>
          <p:cNvSpPr/>
          <p:nvPr/>
        </p:nvSpPr>
        <p:spPr>
          <a:xfrm>
            <a:off x="779929" y="1685365"/>
            <a:ext cx="7584141" cy="38727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Sender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socket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socket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String s =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</a:t>
            </a:r>
            <a:r>
              <a:rPr lang="ko-KR" altLang="en-US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우리는 여전히 우리 운명의 주인이다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byte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s.getBytes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"address"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의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“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port"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에 있는 클라이언트에게 데이터를 보낸다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InetAddress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address =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InetAddress.</a:t>
            </a:r>
            <a:r>
              <a:rPr lang="en-US" altLang="ko-KR" sz="1400" b="0" i="1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getByName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"127.0.0.1"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 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로컬 호스트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packet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buf.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length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address,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5000);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socket.send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(packet);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socket.close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바탕" panose="02030600000101010101" pitchFamily="18" charset="-127"/>
              </a:rPr>
              <a:t>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687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Receiver </a:t>
            </a:r>
            <a:r>
              <a:rPr lang="ko-KR" altLang="en-US"/>
              <a:t>클래스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A41650-2EC8-5757-9F88-56808FC6C8B6}"/>
              </a:ext>
            </a:extLst>
          </p:cNvPr>
          <p:cNvSpPr/>
          <p:nvPr/>
        </p:nvSpPr>
        <p:spPr>
          <a:xfrm>
            <a:off x="779929" y="1685365"/>
            <a:ext cx="7584141" cy="329901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Receiver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byte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byte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[256];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socket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(5000);  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포트 번호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: 5000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packet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buf.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length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socket.receive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(packet);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System.</a:t>
            </a:r>
            <a:r>
              <a:rPr lang="en-US" altLang="ko-KR" sz="1400" b="0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out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.println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String(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0268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서버와 클라이언트의 실행</a:t>
            </a:r>
          </a:p>
        </p:txBody>
      </p:sp>
      <p:sp>
        <p:nvSpPr>
          <p:cNvPr id="197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두개의 프로그램을 동시에 실행하여야 한다</a:t>
            </a:r>
            <a:r>
              <a:rPr lang="en-US" altLang="ko-KR"/>
              <a:t>. </a:t>
            </a:r>
          </a:p>
        </p:txBody>
      </p:sp>
      <p:sp>
        <p:nvSpPr>
          <p:cNvPr id="19701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pic>
        <p:nvPicPr>
          <p:cNvPr id="1970201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94" y="2146424"/>
            <a:ext cx="8491537" cy="156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54" y="2095079"/>
            <a:ext cx="680448" cy="8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390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예제로 </a:t>
            </a:r>
            <a:r>
              <a:rPr lang="en-US" altLang="ko-KR" dirty="0" err="1"/>
              <a:t>UDP</a:t>
            </a:r>
            <a:r>
              <a:rPr lang="en-US" altLang="ko-KR" dirty="0"/>
              <a:t> </a:t>
            </a:r>
            <a:r>
              <a:rPr lang="ko-KR" altLang="en-US" dirty="0"/>
              <a:t>통신을 이용하여서 간단한 채팅을 할 수 있는 메신저를 작성하여 보자</a:t>
            </a:r>
            <a:r>
              <a:rPr lang="en-US" altLang="ko-KR" dirty="0"/>
              <a:t>. </a:t>
            </a:r>
            <a:r>
              <a:rPr lang="ko-KR" altLang="en-US" dirty="0"/>
              <a:t>이 메신저는 </a:t>
            </a:r>
            <a:r>
              <a:rPr lang="ko-KR" altLang="en-US" dirty="0" err="1"/>
              <a:t>정해진</a:t>
            </a:r>
            <a:r>
              <a:rPr lang="ko-KR" altLang="en-US" dirty="0"/>
              <a:t> 상대와 텍스트를 주고 받을 수 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UDP</a:t>
            </a:r>
            <a:r>
              <a:rPr lang="ko-KR" altLang="en-US" dirty="0"/>
              <a:t>를 이용한 서버와 클라이언트 작성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55" y="2642037"/>
            <a:ext cx="7101689" cy="241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33407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MessengerA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0852CE-F04F-F8C6-B406-90CE5F23F946}"/>
              </a:ext>
            </a:extLst>
          </p:cNvPr>
          <p:cNvSpPr/>
          <p:nvPr/>
        </p:nvSpPr>
        <p:spPr>
          <a:xfrm>
            <a:off x="779929" y="1685365"/>
            <a:ext cx="7584141" cy="38727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protected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JTextField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textField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protected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JTextArea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InetAddress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address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null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final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int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myPort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= 5000;		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수신용 포트 번호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final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otherPort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6000;	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송신용 포트 번호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MyFrame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f=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MyFrame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address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InetAddress.</a:t>
            </a:r>
            <a:r>
              <a:rPr lang="en-US" altLang="ko-KR" sz="1400" b="0" i="1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getByName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"127.0.0.1"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DatagramSocket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myPort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 </a:t>
            </a:r>
            <a:endParaRPr lang="en-US" altLang="ko-KR" sz="1400" b="0" i="0" u="none" strike="noStrike" baseline="0" dirty="0">
              <a:solidFill>
                <a:srgbClr val="3F7F5F"/>
              </a:solidFill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92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MessengerA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803BFB-9CF9-4D04-2374-260B3D6D95D9}"/>
              </a:ext>
            </a:extLst>
          </p:cNvPr>
          <p:cNvSpPr/>
          <p:nvPr/>
        </p:nvSpPr>
        <p:spPr>
          <a:xfrm>
            <a:off x="779929" y="1685365"/>
            <a:ext cx="7584141" cy="3872753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패킷을 받아서 텍스트 영역에 표시한다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process()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while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true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try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byte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byte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[256];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buf.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length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.receive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 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패킷을 받는다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 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받은 패킷을 텍스트 영역에 표시한다</a:t>
            </a:r>
            <a:r>
              <a:rPr lang="en-US" altLang="ko-KR" sz="1400" b="0" i="0" u="none" strike="noStrike" baseline="0" dirty="0">
                <a:solidFill>
                  <a:srgbClr val="3F7F5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.append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"RECIEVED: 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+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String(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+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"\n"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 </a:t>
            </a:r>
            <a:endParaRPr lang="ko-KR" altLang="en-US" sz="1400" b="0" i="0" u="none" strike="noStrike" baseline="0" dirty="0">
              <a:solidFill>
                <a:srgbClr val="3F7F5F"/>
              </a:solidFill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catch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ioException.printStackTrace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 </a:t>
            </a:r>
            <a:endParaRPr lang="ko-KR" altLang="en-US" sz="1400" b="0" i="0" u="none" strike="noStrike" baseline="0" dirty="0">
              <a:solidFill>
                <a:srgbClr val="3F7F5F"/>
              </a:solidFill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 </a:t>
            </a:r>
            <a:endParaRPr lang="ko-KR" altLang="en-US" sz="1400" b="0" i="0" u="none" strike="noStrike" baseline="0" dirty="0">
              <a:solidFill>
                <a:srgbClr val="3F7F5F"/>
              </a:solidFill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077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MessengerA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783634-7A03-E71D-0A15-E57070157DEC}"/>
              </a:ext>
            </a:extLst>
          </p:cNvPr>
          <p:cNvSpPr/>
          <p:nvPr/>
        </p:nvSpPr>
        <p:spPr>
          <a:xfrm>
            <a:off x="779929" y="1685365"/>
            <a:ext cx="7584141" cy="451821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내부 클래스 정의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MyFrame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extends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JFrame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implements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ActionListener {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MyFrame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super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</a:t>
            </a:r>
            <a:r>
              <a:rPr lang="en-US" altLang="ko-KR" sz="1400" b="0" i="0" u="none" strike="noStrike" baseline="0" dirty="0" err="1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MessengerA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setDefaultCloseOperation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JFrame.</a:t>
            </a:r>
            <a:r>
              <a:rPr lang="en-US" altLang="ko-KR" sz="1400" b="0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EXIT_ON_CLOSE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textField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JTextField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(30);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textField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.addActionListener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this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JTextArea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(10, 30);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.setEditable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false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add(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textField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BorderLayout.</a:t>
            </a:r>
            <a:r>
              <a:rPr lang="en-US" altLang="ko-KR" sz="1400" b="0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PAGE_END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add(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BorderLayout.</a:t>
            </a:r>
            <a:r>
              <a:rPr lang="en-US" altLang="ko-KR" sz="1400" b="0" i="1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CENTER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pack();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setVisible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true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692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MessengerA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145938-39F2-0AD8-42C8-8FC4C32C01DB}"/>
              </a:ext>
            </a:extLst>
          </p:cNvPr>
          <p:cNvSpPr/>
          <p:nvPr/>
        </p:nvSpPr>
        <p:spPr>
          <a:xfrm>
            <a:off x="779929" y="1425388"/>
            <a:ext cx="7584141" cy="5204011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actionPerformed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ActionEvent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evt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String s =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textField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.getText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byte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[] buffer =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s.getBytes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packet;</a:t>
            </a:r>
          </a:p>
          <a:p>
            <a:pPr marR="0" algn="l" rtl="0"/>
            <a:endParaRPr lang="ko-KR" alt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  <a:ea typeface="굴림" panose="020B0600000101010101" pitchFamily="50" charset="-127"/>
            </a:endParaRP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패킷을 생성한다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packet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DatagramPacket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(buffer,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buffer.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length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address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,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otherPort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try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socket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.send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(packet);	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패킷을 보낸다</a:t>
            </a:r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}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catch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(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e)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e.printStackTrace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.append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"SENT: 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+ s + </a:t>
            </a:r>
            <a:r>
              <a:rPr lang="en-US" altLang="ko-KR" sz="1400" b="0" i="0" u="none" strike="noStrike" baseline="0" dirty="0">
                <a:solidFill>
                  <a:srgbClr val="2A00FF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"\n"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textField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.selectAll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      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.setCaretPosition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textArea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.getDocument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().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getLength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m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MessengerA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m.process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5362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MessengerB</a:t>
            </a:r>
            <a:r>
              <a:rPr lang="en-US" altLang="ko-KR" dirty="0"/>
              <a:t> </a:t>
            </a:r>
            <a:r>
              <a:rPr lang="ko-KR" altLang="en-US" dirty="0"/>
              <a:t>클래스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0B038A-3BDE-56F4-1610-5157BF834AD3}"/>
              </a:ext>
            </a:extLst>
          </p:cNvPr>
          <p:cNvSpPr/>
          <p:nvPr/>
        </p:nvSpPr>
        <p:spPr>
          <a:xfrm>
            <a:off x="779929" y="1775013"/>
            <a:ext cx="7584141" cy="3639670"/>
          </a:xfrm>
          <a:prstGeom prst="rect">
            <a:avLst/>
          </a:prstGeom>
          <a:solidFill>
            <a:srgbClr val="FFF5D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R="0" algn="l" rtl="0"/>
            <a:r>
              <a:rPr lang="en-US" altLang="ko-KR" sz="1400" b="0" i="0" u="none" strike="noStrike" baseline="0" dirty="0">
                <a:solidFill>
                  <a:srgbClr val="008000"/>
                </a:solidFill>
                <a:latin typeface="Comic Sans MS" panose="030F0702030302020204" pitchFamily="66" charset="0"/>
                <a:ea typeface="굴림" panose="020B0600000101010101" pitchFamily="50" charset="-127"/>
              </a:rPr>
              <a:t>// 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omic Sans MS" panose="030F0702030302020204" pitchFamily="66" charset="0"/>
                <a:ea typeface="굴림" panose="020B0600000101010101" pitchFamily="50" charset="-127"/>
              </a:rPr>
              <a:t>다음의 몇 개의 문장만 제외하고 </a:t>
            </a:r>
            <a:r>
              <a:rPr lang="en-US" altLang="ko-KR" sz="1400" b="0" i="0" u="none" strike="noStrike" baseline="0" dirty="0" err="1">
                <a:solidFill>
                  <a:srgbClr val="008000"/>
                </a:solidFill>
                <a:latin typeface="Comic Sans MS" panose="030F0702030302020204" pitchFamily="66" charset="0"/>
                <a:ea typeface="굴림" panose="020B0600000101010101" pitchFamily="50" charset="-127"/>
              </a:rPr>
              <a:t>MessengerA</a:t>
            </a:r>
            <a:r>
              <a:rPr lang="ko-KR" altLang="en-US" sz="1400" b="0" i="0" u="none" strike="noStrike" baseline="0" dirty="0">
                <a:solidFill>
                  <a:srgbClr val="008000"/>
                </a:solidFill>
                <a:latin typeface="Comic Sans MS" panose="030F0702030302020204" pitchFamily="66" charset="0"/>
                <a:ea typeface="굴림" panose="020B0600000101010101" pitchFamily="50" charset="-127"/>
              </a:rPr>
              <a:t>와 동일</a:t>
            </a:r>
          </a:p>
          <a:p>
            <a:pPr marR="0" algn="l" rtl="0"/>
            <a:r>
              <a:rPr lang="en-US" altLang="ko-KR" sz="1600" b="1" i="0" u="none" strike="noStrike" baseline="0" dirty="0">
                <a:solidFill>
                  <a:srgbClr val="7F0055"/>
                </a:solidFill>
                <a:latin typeface="Comic Sans MS" panose="030F0702030302020204" pitchFamily="66" charset="0"/>
                <a:ea typeface="굴림" panose="020B0600000101010101" pitchFamily="50" charset="-127"/>
              </a:rPr>
              <a:t>....</a:t>
            </a:r>
            <a:r>
              <a:rPr lang="ko-KR" altLang="en-US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class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...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final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myPort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6000;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final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int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C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otherPort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= 5000;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...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public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static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void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main(String[]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args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)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throws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IOException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{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m = </a:t>
            </a:r>
            <a:r>
              <a:rPr lang="en-US" altLang="ko-KR" sz="1400" b="1" i="0" u="none" strike="noStrike" baseline="0" dirty="0">
                <a:solidFill>
                  <a:srgbClr val="7F0055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new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MessengerB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    </a:t>
            </a:r>
            <a:r>
              <a:rPr lang="en-US" altLang="ko-KR" sz="14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m.process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();</a:t>
            </a:r>
          </a:p>
          <a:p>
            <a:pPr marR="0" algn="l" rtl="0"/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   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</a:p>
          <a:p>
            <a:pPr marR="0" algn="l" rtl="0"/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" panose="020B0600000101010101" pitchFamily="50" charset="-127"/>
              </a:rPr>
              <a:t>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49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F09EB-5B2A-4D3A-933B-BEF9C79F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중간점검 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0BD7FD5-3A7D-42A5-9A3B-ABE836FF332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712643"/>
            <a:ext cx="8153400" cy="1348420"/>
          </a:xfrm>
        </p:spPr>
      </p:pic>
    </p:spTree>
    <p:extLst>
      <p:ext uri="{BB962C8B-B14F-4D97-AF65-F5344CB8AC3E}">
        <p14:creationId xmlns:p14="http://schemas.microsoft.com/office/powerpoint/2010/main" val="2657931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03983-D6BC-40A3-A64B-E3EE6F3B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Mini</a:t>
            </a:r>
            <a:r>
              <a:rPr lang="ko-KR" altLang="en-US" dirty="0"/>
              <a:t> </a:t>
            </a:r>
            <a:r>
              <a:rPr lang="en-US" altLang="ko-KR" dirty="0"/>
              <a:t>Project:</a:t>
            </a:r>
            <a:r>
              <a:rPr lang="ko-KR" altLang="en-US" dirty="0"/>
              <a:t>다자 회의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F1A37-9B98-435B-90DF-60ACCB2F81E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최근에 코로나 바이러스가 유행하면서 줌과 같은 인터넷 회의 시스템이 많이 사용되고 있다</a:t>
            </a:r>
            <a:r>
              <a:rPr lang="en-US" altLang="ko-KR" dirty="0"/>
              <a:t>. </a:t>
            </a:r>
            <a:r>
              <a:rPr lang="ko-KR" altLang="en-US" dirty="0"/>
              <a:t>하나의 서버가 여러 클라이언트를 모아서 회의를 할 수 있는 프로그램을 작성해보자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3B0950-BF05-4392-BBFB-1024C46E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52" y="2547679"/>
            <a:ext cx="5407959" cy="408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24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53085" y="1671917"/>
            <a:ext cx="8504044" cy="4872317"/>
          </a:xfrm>
          <a:prstGeom prst="rect">
            <a:avLst/>
          </a:prstGeom>
          <a:solidFill>
            <a:srgbClr val="008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5" name="내용 개체 틀 1"/>
          <p:cNvSpPr txBox="1">
            <a:spLocks/>
          </p:cNvSpPr>
          <p:nvPr/>
        </p:nvSpPr>
        <p:spPr bwMode="gray">
          <a:xfrm>
            <a:off x="595223" y="1792941"/>
            <a:ext cx="7211683" cy="36675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 pitchFamily="2" charset="2"/>
              <a:buChar char="¢"/>
              <a:defRPr lang="en-US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 pitchFamily="2" charset="2"/>
              <a:buChar char="¤"/>
              <a:defRPr lang="en-US" sz="2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 pitchFamily="2" charset="2"/>
              <a:buChar char="¤"/>
              <a:defRPr lang="en-US" sz="18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¤"/>
              <a:defRPr lang="en-US" sz="16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 pitchFamily="2" charset="2"/>
              <a:buChar char="¤"/>
              <a:defRPr lang="en-US" sz="1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네트워크에는 서버와 클라이언트 컴퓨터가 존재한다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주소는 네트워크에서 컴퓨터를 식별하는 숫자이다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URL(Uniform Resource Locator)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은 인터넷상의 파일이나 데이터베이스 같은 자원에 대한 주소를 지정하는 방법이다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자바에서 </a:t>
            </a:r>
            <a:r>
              <a:rPr lang="en-US" altLang="ko-KR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InetAddress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클래스의 </a:t>
            </a:r>
            <a:r>
              <a:rPr lang="en-US" altLang="ko-KR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getByName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을 호출하면서 호스트 이름을 전달하면 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주소를 저장하고 있는 객체가 반환된다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웹에서 파일을 다운로드하려면 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java.net.URL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클래스를 사용한다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TCP(Transmission Control Protocol)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는 신뢰성 있게 통신하기 위하여 먼저 서로 간에 연결을 설정한 후에 데이터를 보내고 받는 방식이다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TCP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사용하여 응용 프로그램끼리 통신을 하기 위해서는 먼저 연결을 해야 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연결을 하기 위해서는 연결 끝점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(end point)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 있어야 하는데 그것이 바로 소켓이다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자바에서 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클래스와 </a:t>
            </a:r>
            <a:r>
              <a:rPr lang="en-US" altLang="ko-KR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ServerSocket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클래스는 </a:t>
            </a:r>
            <a:r>
              <a:rPr lang="ko-KR" altLang="en-US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클라이언트측과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서버측을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구현하는 데 사용된다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accept()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메소드는 클라이언트와 연결이 되면 새로운 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객체를 생성하여 반환한다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UDP(User Datagram Protocol)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프로토콜을 이용한 방식은 편지와 비슷하다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자바에서는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를 </a:t>
            </a:r>
            <a:r>
              <a:rPr lang="en-US" altLang="ko-KR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DatagramPacket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과 </a:t>
            </a:r>
            <a:r>
              <a:rPr lang="en-US" altLang="ko-KR" sz="1600" i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DatagramSocket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클래스로 지원한다</a:t>
            </a:r>
            <a:r>
              <a:rPr lang="en-US" altLang="ko-KR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906" y="5387596"/>
            <a:ext cx="1160037" cy="105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578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r>
              <a:rPr lang="en-US" altLang="ko-KR" sz="3600" dirty="0"/>
              <a:t>Q &amp; A</a:t>
            </a:r>
          </a:p>
        </p:txBody>
      </p:sp>
      <p:pic>
        <p:nvPicPr>
          <p:cNvPr id="457732" name="Picture 4" descr="MCj0416502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389" y="2417955"/>
            <a:ext cx="1706562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 descr="Male Teacher Cartoon Free Stock Photo - Public Domain Picture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948" y="1788893"/>
            <a:ext cx="3668245" cy="261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79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8594</TotalTime>
  <Words>3645</Words>
  <Application>Microsoft Office PowerPoint</Application>
  <PresentationFormat>화면 슬라이드 쇼(4:3)</PresentationFormat>
  <Paragraphs>499</Paragraphs>
  <Slides>66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81" baseType="lpstr">
      <vt:lpstr>HY얕은샘물M</vt:lpstr>
      <vt:lpstr>MinionPro-Regular</vt:lpstr>
      <vt:lpstr>YDVYMjOStd125</vt:lpstr>
      <vt:lpstr>굴림</vt:lpstr>
      <vt:lpstr>돋움</vt:lpstr>
      <vt:lpstr>맑은 고딕</vt:lpstr>
      <vt:lpstr>바탕</vt:lpstr>
      <vt:lpstr>새굴림</vt:lpstr>
      <vt:lpstr>Arial</vt:lpstr>
      <vt:lpstr>Century Schoolbook</vt:lpstr>
      <vt:lpstr>Comic Sans MS</vt:lpstr>
      <vt:lpstr>Tw Cen MT</vt:lpstr>
      <vt:lpstr>Wingdings</vt:lpstr>
      <vt:lpstr>Wingdings 2</vt:lpstr>
      <vt:lpstr>가을</vt:lpstr>
      <vt:lpstr>17장  네트워크 프로그래밍</vt:lpstr>
      <vt:lpstr>17장의 목표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17.1 네트워크프로그래밍의 기본개념</vt:lpstr>
      <vt:lpstr>중간점검</vt:lpstr>
      <vt:lpstr>17.2 인터넷에서 파일 다운로드</vt:lpstr>
      <vt:lpstr>17.2 인터넷에서 파일 다운로드</vt:lpstr>
      <vt:lpstr>17.3 TCP를 이용한 통신</vt:lpstr>
      <vt:lpstr>17.3 TCP를 이용한 통신</vt:lpstr>
      <vt:lpstr>17.3 TCP를 이용한 통신</vt:lpstr>
      <vt:lpstr>17.3 TCP를 이용한 통신</vt:lpstr>
      <vt:lpstr>17.3 TCP를 이용한 통신</vt:lpstr>
      <vt:lpstr>17.3 TCP를 이용한 통신</vt:lpstr>
      <vt:lpstr>17.3 TCP를 이용한 통신</vt:lpstr>
      <vt:lpstr>17.3 TCP를 이용한 통신</vt:lpstr>
      <vt:lpstr>[예제] 날짜 서버에 연결하기</vt:lpstr>
      <vt:lpstr>예제: 날짜 서버에 연결하기</vt:lpstr>
      <vt:lpstr>중간점검</vt:lpstr>
      <vt:lpstr>17.4 서버와 클라이언트 제작</vt:lpstr>
      <vt:lpstr>PowerPoint 프레젠테이션</vt:lpstr>
      <vt:lpstr>PowerPoint 프레젠테이션</vt:lpstr>
      <vt:lpstr>PowerPoint 프레젠테이션</vt:lpstr>
      <vt:lpstr>PowerPoint 프레젠테이션</vt:lpstr>
      <vt:lpstr>ServerSocket과 Socket 클래스</vt:lpstr>
      <vt:lpstr>ServerSocket과 Socket 클래스</vt:lpstr>
      <vt:lpstr>채팅 클라이언트 제작</vt:lpstr>
      <vt:lpstr>채팅 서버 제작</vt:lpstr>
      <vt:lpstr>채팅 서버 제작</vt:lpstr>
      <vt:lpstr>채팅 클라이언트 제작</vt:lpstr>
      <vt:lpstr>채팅 클라이언트 제작</vt:lpstr>
      <vt:lpstr>서버와 클라이언트 프로그램 실행</vt:lpstr>
      <vt:lpstr>17.5 UDP를 이용한 통신</vt:lpstr>
      <vt:lpstr>UDP</vt:lpstr>
      <vt:lpstr>예제: UDP를 사용하여서 데이터 보내고 받기</vt:lpstr>
      <vt:lpstr>Sender 클래스 </vt:lpstr>
      <vt:lpstr>Receiver 클래스 </vt:lpstr>
      <vt:lpstr>서버와 클라이언트의 실행</vt:lpstr>
      <vt:lpstr>UDP를 이용한 서버와 클라이언트 작성</vt:lpstr>
      <vt:lpstr>MessengerA 클래스 </vt:lpstr>
      <vt:lpstr>MessengerA 클래스 </vt:lpstr>
      <vt:lpstr>MessengerA 클래스 </vt:lpstr>
      <vt:lpstr>MessengerA 클래스 </vt:lpstr>
      <vt:lpstr>MessengerB 클래스 </vt:lpstr>
      <vt:lpstr>중간점검 </vt:lpstr>
      <vt:lpstr>Mini Project:다자 회의 시스템</vt:lpstr>
      <vt:lpstr>Summary</vt:lpstr>
      <vt:lpstr>Q &amp; A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User</cp:lastModifiedBy>
  <cp:revision>926</cp:revision>
  <dcterms:created xsi:type="dcterms:W3CDTF">2007-06-29T06:43:39Z</dcterms:created>
  <dcterms:modified xsi:type="dcterms:W3CDTF">2026-06-03T22:50:14Z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