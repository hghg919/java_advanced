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notesMasterIdLst>
    <p:notesMasterId r:id="rId81"/>
  </p:notesMasterIdLst>
  <p:handoutMasterIdLst>
    <p:handoutMasterId r:id="rId82"/>
  </p:handoutMasterIdLst>
  <p:sldIdLst>
    <p:sldId id="256" r:id="rId2"/>
    <p:sldId id="379" r:id="rId3"/>
    <p:sldId id="1022" r:id="rId4"/>
    <p:sldId id="1023" r:id="rId5"/>
    <p:sldId id="1024" r:id="rId6"/>
    <p:sldId id="1025" r:id="rId7"/>
    <p:sldId id="1027" r:id="rId8"/>
    <p:sldId id="1034" r:id="rId9"/>
    <p:sldId id="1035" r:id="rId10"/>
    <p:sldId id="1101" r:id="rId11"/>
    <p:sldId id="1104" r:id="rId12"/>
    <p:sldId id="1099" r:id="rId13"/>
    <p:sldId id="1117" r:id="rId14"/>
    <p:sldId id="1105" r:id="rId15"/>
    <p:sldId id="1106" r:id="rId16"/>
    <p:sldId id="1100" r:id="rId17"/>
    <p:sldId id="1108" r:id="rId18"/>
    <p:sldId id="1109" r:id="rId19"/>
    <p:sldId id="1110" r:id="rId20"/>
    <p:sldId id="1111" r:id="rId21"/>
    <p:sldId id="1112" r:id="rId22"/>
    <p:sldId id="1113" r:id="rId23"/>
    <p:sldId id="1114" r:id="rId24"/>
    <p:sldId id="1115" r:id="rId25"/>
    <p:sldId id="1116" r:id="rId26"/>
    <p:sldId id="1103" r:id="rId27"/>
    <p:sldId id="1045" r:id="rId28"/>
    <p:sldId id="1047" r:id="rId29"/>
    <p:sldId id="1048" r:id="rId30"/>
    <p:sldId id="1049" r:id="rId31"/>
    <p:sldId id="1050" r:id="rId32"/>
    <p:sldId id="1051" r:id="rId33"/>
    <p:sldId id="1124" r:id="rId34"/>
    <p:sldId id="1125" r:id="rId35"/>
    <p:sldId id="1126" r:id="rId36"/>
    <p:sldId id="1127" r:id="rId37"/>
    <p:sldId id="1053" r:id="rId38"/>
    <p:sldId id="1054" r:id="rId39"/>
    <p:sldId id="1055" r:id="rId40"/>
    <p:sldId id="1056" r:id="rId41"/>
    <p:sldId id="1058" r:id="rId42"/>
    <p:sldId id="1059" r:id="rId43"/>
    <p:sldId id="1118" r:id="rId44"/>
    <p:sldId id="1119" r:id="rId45"/>
    <p:sldId id="1060" r:id="rId46"/>
    <p:sldId id="1061" r:id="rId47"/>
    <p:sldId id="1062" r:id="rId48"/>
    <p:sldId id="1063" r:id="rId49"/>
    <p:sldId id="1064" r:id="rId50"/>
    <p:sldId id="1065" r:id="rId51"/>
    <p:sldId id="1066" r:id="rId52"/>
    <p:sldId id="1067" r:id="rId53"/>
    <p:sldId id="1068" r:id="rId54"/>
    <p:sldId id="1069" r:id="rId55"/>
    <p:sldId id="1070" r:id="rId56"/>
    <p:sldId id="1095" r:id="rId57"/>
    <p:sldId id="1071" r:id="rId58"/>
    <p:sldId id="1096" r:id="rId59"/>
    <p:sldId id="1073" r:id="rId60"/>
    <p:sldId id="1074" r:id="rId61"/>
    <p:sldId id="1075" r:id="rId62"/>
    <p:sldId id="1123" r:id="rId63"/>
    <p:sldId id="1121" r:id="rId64"/>
    <p:sldId id="1122" r:id="rId65"/>
    <p:sldId id="1076" r:id="rId66"/>
    <p:sldId id="1077" r:id="rId67"/>
    <p:sldId id="1078" r:id="rId68"/>
    <p:sldId id="1079" r:id="rId69"/>
    <p:sldId id="1080" r:id="rId70"/>
    <p:sldId id="1081" r:id="rId71"/>
    <p:sldId id="1082" r:id="rId72"/>
    <p:sldId id="1083" r:id="rId73"/>
    <p:sldId id="1084" r:id="rId74"/>
    <p:sldId id="1085" r:id="rId75"/>
    <p:sldId id="1086" r:id="rId76"/>
    <p:sldId id="1087" r:id="rId77"/>
    <p:sldId id="1088" r:id="rId78"/>
    <p:sldId id="1090" r:id="rId79"/>
    <p:sldId id="1092" r:id="rId80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8F1CD"/>
    <a:srgbClr val="0066FF"/>
    <a:srgbClr val="55C5D0"/>
    <a:srgbClr val="FFFFCC"/>
    <a:srgbClr val="FEEBCD"/>
    <a:srgbClr val="E8EFF8"/>
    <a:srgbClr val="FFFFFF"/>
    <a:srgbClr val="FFF3DB"/>
    <a:srgbClr val="DD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88416" autoAdjust="0"/>
  </p:normalViewPr>
  <p:slideViewPr>
    <p:cSldViewPr snapToGrid="0">
      <p:cViewPr varScale="1">
        <p:scale>
          <a:sx n="100" d="100"/>
          <a:sy n="100" d="100"/>
        </p:scale>
        <p:origin x="237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fld id="{8383B835-3BFE-4B85-82D8-1BE647A4113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5598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fld id="{FB19F679-FC61-4ED7-B113-A17BF1221A8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5059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F679-FC61-4ED7-B113-A17BF1221A80}" type="slidenum">
              <a:rPr lang="ko-KR" altLang="en-US" smtClean="0"/>
              <a:pPr/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6100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F679-FC61-4ED7-B113-A17BF1221A80}" type="slidenum">
              <a:rPr lang="ko-KR" altLang="en-US" smtClean="0"/>
              <a:pPr/>
              <a:t>56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328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B0D056-06C1-427C-B095-DD5CAE33F6FD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320040" indent="-32004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CBDD8EA-ABBC-431C-AC65-2492E152B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97393-2EB1-46AB-82F2-C97528613E4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2" y="228600"/>
            <a:ext cx="499238" cy="899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8417" y="4620904"/>
            <a:ext cx="8555979" cy="830998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  함수형 프로그래밍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스트림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4"/>
          <p:cNvSpPr txBox="1"/>
          <p:nvPr/>
        </p:nvSpPr>
        <p:spPr>
          <a:xfrm>
            <a:off x="2362200" y="870619"/>
            <a:ext cx="3810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ko-KR" altLang="en-US" sz="4800" i="1" dirty="0" err="1"/>
              <a:t>파워자바</a:t>
            </a:r>
            <a:r>
              <a:rPr lang="en-US" altLang="ko-KR" sz="4800" i="1" dirty="0"/>
              <a:t>(</a:t>
            </a:r>
            <a:r>
              <a:rPr lang="ko-KR" altLang="en-US" sz="4800" i="1" dirty="0"/>
              <a:t>개정</a:t>
            </a:r>
            <a:r>
              <a:rPr lang="en-US" altLang="ko-KR" sz="4800" i="1" dirty="0"/>
              <a:t>3</a:t>
            </a:r>
            <a:r>
              <a:rPr lang="ko-KR" altLang="en-US" sz="4800" i="1" dirty="0"/>
              <a:t>판</a:t>
            </a:r>
            <a:r>
              <a:rPr lang="en-US" altLang="ko-KR" sz="4800" i="1" dirty="0"/>
              <a:t>)</a:t>
            </a:r>
            <a:endParaRPr lang="ko-KR" altLang="en-US" sz="4800" i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AB09E4-A111-43CB-9176-BF421CFA1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21046"/>
            <a:ext cx="2653553" cy="26535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524685-1FD1-4D9F-AD66-328B22A3B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855" y="2635324"/>
            <a:ext cx="957097" cy="172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8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53F50-CCEC-406F-8944-97BC85DE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목표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552B773-E29D-4433-AE5D-BEBEA2BEDAA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426242" y="1600200"/>
            <a:ext cx="6526465" cy="4495800"/>
          </a:xfrm>
        </p:spPr>
      </p:pic>
    </p:spTree>
    <p:extLst>
      <p:ext uri="{BB962C8B-B14F-4D97-AF65-F5344CB8AC3E}">
        <p14:creationId xmlns:p14="http://schemas.microsoft.com/office/powerpoint/2010/main" val="205947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3EA7-BFBC-4A9B-82CB-4B3CE50F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프로그래밍의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8009F-B28B-44AF-A6E2-A901B60205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함수형 프로그래밍의 지원은 </a:t>
            </a:r>
            <a:r>
              <a:rPr lang="en-US" altLang="ko-KR" dirty="0"/>
              <a:t>Java 8</a:t>
            </a:r>
            <a:r>
              <a:rPr lang="ko-KR" altLang="en-US" dirty="0"/>
              <a:t>부터 시작되었다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E1D948-3CF2-41DD-9CC6-6070FF3C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36" y="2040739"/>
            <a:ext cx="4411475" cy="43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94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8009F-B28B-44AF-A6E2-A901B60205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함수형 프로그래밍을 잘 사용하면 아주 쉽게 프로그램을 작성할 수 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예를 들어</a:t>
            </a:r>
            <a:r>
              <a:rPr lang="en-US" altLang="ko-KR" dirty="0"/>
              <a:t>, </a:t>
            </a:r>
            <a:r>
              <a:rPr lang="ko-KR" altLang="en-US" dirty="0"/>
              <a:t>문자열들을 저장하고 있는 리스트가 있고</a:t>
            </a:r>
            <a:r>
              <a:rPr lang="en-US" altLang="ko-KR" dirty="0"/>
              <a:t>, </a:t>
            </a:r>
            <a:r>
              <a:rPr lang="ko-KR" altLang="en-US" dirty="0"/>
              <a:t>이것을 </a:t>
            </a:r>
            <a:r>
              <a:rPr lang="ko-KR" altLang="en-US" dirty="0">
                <a:solidFill>
                  <a:srgbClr val="0066FF"/>
                </a:solidFill>
              </a:rPr>
              <a:t>문자열의 </a:t>
            </a:r>
            <a:endParaRPr lang="en-US" altLang="ko-KR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66FF"/>
                </a:solidFill>
              </a:rPr>
              <a:t>     </a:t>
            </a:r>
            <a:r>
              <a:rPr lang="ko-KR" altLang="en-US" dirty="0">
                <a:solidFill>
                  <a:srgbClr val="0066FF"/>
                </a:solidFill>
              </a:rPr>
              <a:t>길이에 따라서 정렬</a:t>
            </a:r>
            <a:r>
              <a:rPr lang="ko-KR" altLang="en-US" dirty="0"/>
              <a:t>하려고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0E2F71-C3D4-40B9-85F5-26A2B284F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813582"/>
            <a:ext cx="8153399" cy="21882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8E59C3-2996-4CE3-B227-A0AD47325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546" y="5001861"/>
            <a:ext cx="4706007" cy="164120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8679242-548F-4433-AD09-322AB47B6BA7}"/>
              </a:ext>
            </a:extLst>
          </p:cNvPr>
          <p:cNvCxnSpPr>
            <a:cxnSpLocks/>
          </p:cNvCxnSpPr>
          <p:nvPr/>
        </p:nvCxnSpPr>
        <p:spPr>
          <a:xfrm flipV="1">
            <a:off x="7650940" y="4201137"/>
            <a:ext cx="0" cy="519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2F8C13-BC12-4123-B720-0E3312BA2B05}"/>
              </a:ext>
            </a:extLst>
          </p:cNvPr>
          <p:cNvSpPr/>
          <p:nvPr/>
        </p:nvSpPr>
        <p:spPr>
          <a:xfrm>
            <a:off x="6667758" y="4648038"/>
            <a:ext cx="1966364" cy="306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 연산자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3F6F79A8-C7B1-4D12-9E00-BE1FFF37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프로그래밍의 소개</a:t>
            </a:r>
          </a:p>
        </p:txBody>
      </p:sp>
    </p:spTree>
    <p:extLst>
      <p:ext uri="{BB962C8B-B14F-4D97-AF65-F5344CB8AC3E}">
        <p14:creationId xmlns:p14="http://schemas.microsoft.com/office/powerpoint/2010/main" val="349374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4CA95-B6E2-449F-AB4D-C7757603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 패러다임 분류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65B28ED-DE5F-44F3-9C44-AE07C309434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28183" y="1500057"/>
            <a:ext cx="4862699" cy="277266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17C6BF-D6F0-44BF-AFC5-7BBCE5DF3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691" y="4356207"/>
            <a:ext cx="5313359" cy="227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1A504-B95F-4619-A620-B09478A9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명령형 프로그래밍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A56F0E-65F9-4847-BEA1-C12E996CCD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098126"/>
            <a:ext cx="8153400" cy="4495800"/>
          </a:xfrm>
        </p:spPr>
        <p:txBody>
          <a:bodyPr/>
          <a:lstStyle/>
          <a:p>
            <a:r>
              <a:rPr lang="ko-KR" altLang="en-US" dirty="0"/>
              <a:t>정수가 </a:t>
            </a:r>
            <a:r>
              <a:rPr lang="en-US" altLang="ko-KR" dirty="0" err="1"/>
              <a:t>ArrayList</a:t>
            </a:r>
            <a:r>
              <a:rPr lang="ko-KR" altLang="en-US" dirty="0"/>
              <a:t>에 저장되어 있다고 가정하자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en-US" altLang="ko-KR" dirty="0" err="1"/>
              <a:t>ArrayList</a:t>
            </a:r>
            <a:r>
              <a:rPr lang="ko-KR" altLang="en-US" dirty="0"/>
              <a:t>에서 짝수만 추려내고 싶다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307645-7DB3-11DB-057D-229350570A99}"/>
              </a:ext>
            </a:extLst>
          </p:cNvPr>
          <p:cNvSpPr/>
          <p:nvPr/>
        </p:nvSpPr>
        <p:spPr>
          <a:xfrm>
            <a:off x="1050548" y="2864608"/>
            <a:ext cx="7584141" cy="32631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sng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Imperative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[])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List&lt;Integer&gt;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List.</a:t>
            </a:r>
            <a:r>
              <a:rPr lang="en-US" altLang="ko-KR" sz="1400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of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(12, 3, 16, 2, 1, 9, 7, 20	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List&lt;Integer&gt;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even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ArrayList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&lt;&gt;();</a:t>
            </a:r>
          </a:p>
          <a:p>
            <a:pPr algn="l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for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(Integer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: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	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짝수를 찾는다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.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%2 == 0 )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even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.add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for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(Integer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even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	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찾은 짝수를 출력한다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</a:rPr>
              <a:t>.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DE1A04-E15A-239B-1BBE-BD4837B0D4E7}"/>
              </a:ext>
            </a:extLst>
          </p:cNvPr>
          <p:cNvSpPr/>
          <p:nvPr/>
        </p:nvSpPr>
        <p:spPr>
          <a:xfrm>
            <a:off x="7460673" y="4653534"/>
            <a:ext cx="1157881" cy="1649506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12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16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2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20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76110-C27F-4988-9F40-1746F58C8462}"/>
              </a:ext>
            </a:extLst>
          </p:cNvPr>
          <p:cNvSpPr txBox="1"/>
          <p:nvPr/>
        </p:nvSpPr>
        <p:spPr>
          <a:xfrm>
            <a:off x="612648" y="1524017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명령형 프로그래밍 방법의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2BBB35-0C44-4283-86C6-DB58842B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543" y="2398443"/>
            <a:ext cx="3065409" cy="86253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A576C7C-AE87-4A32-A2D3-39E5DBEB0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542" y="1092128"/>
            <a:ext cx="3065410" cy="120100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97D1A3D-6338-4334-849B-DD9D85A1CCB8}"/>
              </a:ext>
            </a:extLst>
          </p:cNvPr>
          <p:cNvCxnSpPr>
            <a:cxnSpLocks/>
          </p:cNvCxnSpPr>
          <p:nvPr/>
        </p:nvCxnSpPr>
        <p:spPr>
          <a:xfrm>
            <a:off x="4669104" y="3560496"/>
            <a:ext cx="2961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32EED82-828B-4B64-B3A5-C7C4143714B2}"/>
              </a:ext>
            </a:extLst>
          </p:cNvPr>
          <p:cNvCxnSpPr>
            <a:cxnSpLocks/>
          </p:cNvCxnSpPr>
          <p:nvPr/>
        </p:nvCxnSpPr>
        <p:spPr>
          <a:xfrm flipV="1">
            <a:off x="5516020" y="2686557"/>
            <a:ext cx="485523" cy="6797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1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BF3A2-4836-4C05-A92D-4172B5C5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프로그래밍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7F042A-4E16-1B55-8C0F-43244E639D89}"/>
              </a:ext>
            </a:extLst>
          </p:cNvPr>
          <p:cNvSpPr/>
          <p:nvPr/>
        </p:nvSpPr>
        <p:spPr>
          <a:xfrm>
            <a:off x="779929" y="2249382"/>
            <a:ext cx="7584141" cy="32631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Test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l" rtl="0"/>
            <a:r>
              <a:rPr lang="en-US" altLang="ko-KR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 </a:t>
            </a:r>
            <a:r>
              <a:rPr lang="en-US" altLang="ko-KR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[]) {</a:t>
            </a:r>
          </a:p>
          <a:p>
            <a:pPr algn="l"/>
            <a:endParaRPr lang="ko-KR" altLang="en-US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List&lt;Integer&gt; </a:t>
            </a:r>
            <a:r>
              <a:rPr lang="en-US" altLang="ko-KR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List.</a:t>
            </a:r>
            <a:r>
              <a:rPr lang="en-US" altLang="ko-KR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of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(12, 3, 16, 2, 1, 9, 7, 20);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list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.filter(</a:t>
            </a:r>
            <a:r>
              <a:rPr lang="en-US" altLang="ko-KR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-&gt; </a:t>
            </a:r>
            <a:r>
              <a:rPr lang="en-US" altLang="ko-KR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% 2 == 0)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.</a:t>
            </a:r>
            <a:r>
              <a:rPr lang="en-US" altLang="ko-KR" b="0" i="0" u="sng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forEach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println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ko-KR" altLang="en-US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50C7AE-8EFC-262E-8375-E3035A30081E}"/>
              </a:ext>
            </a:extLst>
          </p:cNvPr>
          <p:cNvSpPr/>
          <p:nvPr/>
        </p:nvSpPr>
        <p:spPr>
          <a:xfrm>
            <a:off x="7198122" y="5050854"/>
            <a:ext cx="1157881" cy="1649506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12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16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2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20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4AD4B-564C-4157-9B9D-657255212B11}"/>
              </a:ext>
            </a:extLst>
          </p:cNvPr>
          <p:cNvSpPr txBox="1"/>
          <p:nvPr/>
        </p:nvSpPr>
        <p:spPr>
          <a:xfrm>
            <a:off x="612648" y="158228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함수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형 프로그래밍 방법의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4249D-BC4D-43B3-B941-2841AB5B52DE}"/>
              </a:ext>
            </a:extLst>
          </p:cNvPr>
          <p:cNvSpPr txBox="1"/>
          <p:nvPr/>
        </p:nvSpPr>
        <p:spPr>
          <a:xfrm>
            <a:off x="779929" y="5512535"/>
            <a:ext cx="6175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stream() :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  리스트안의 원소들을 하나씩 추출하는 메서드</a:t>
            </a:r>
            <a:endParaRPr lang="en-US" altLang="ko-KR" sz="16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1600" dirty="0" err="1">
                <a:latin typeface="돋움" panose="020B0600000101010101" pitchFamily="50" charset="-127"/>
                <a:ea typeface="돋움" panose="020B0600000101010101" pitchFamily="50" charset="-127"/>
              </a:rPr>
              <a:t>메소드앞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16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: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메서드 </a:t>
            </a:r>
            <a:r>
              <a:rPr lang="ko-KR" altLang="en-US" sz="1600" dirty="0" err="1">
                <a:latin typeface="돋움" panose="020B0600000101010101" pitchFamily="50" charset="-127"/>
                <a:ea typeface="돋움" panose="020B0600000101010101" pitchFamily="50" charset="-127"/>
              </a:rPr>
              <a:t>체이닝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(Chaining)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기법으로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이전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객체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결과의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 </a:t>
            </a:r>
          </a:p>
          <a:p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                filter()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메서드를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호출한다는 의미</a:t>
            </a:r>
            <a:endParaRPr lang="en-US" altLang="ko-KR" sz="16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600" dirty="0" err="1">
                <a:latin typeface="돋움" panose="020B0600000101010101" pitchFamily="50" charset="-127"/>
                <a:ea typeface="돋움" panose="020B0600000101010101" pitchFamily="50" charset="-127"/>
              </a:rPr>
              <a:t>forEach</a:t>
            </a:r>
            <a:r>
              <a:rPr lang="en-US" altLang="ko-KR" sz="1600" dirty="0">
                <a:latin typeface="돋움" panose="020B0600000101010101" pitchFamily="50" charset="-127"/>
                <a:ea typeface="돋움" panose="020B0600000101010101" pitchFamily="50" charset="-127"/>
              </a:rPr>
              <a:t>() : </a:t>
            </a: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들어오는 각 정수에 대해 전달받은 함수를 적용</a:t>
            </a:r>
            <a:endParaRPr lang="en-US" altLang="ko-KR" sz="1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95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1B705-6258-4061-A734-08833EF3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B7388-6A2A-4161-A536-7F4412008A4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239471"/>
            <a:ext cx="8153400" cy="916423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Java 8 </a:t>
            </a:r>
            <a:r>
              <a:rPr lang="ko-KR" altLang="en-US" dirty="0"/>
              <a:t>이전에는 함수는 값</a:t>
            </a:r>
            <a:r>
              <a:rPr lang="en-US" altLang="ko-KR" dirty="0"/>
              <a:t>(value)</a:t>
            </a:r>
            <a:r>
              <a:rPr lang="ko-KR" altLang="en-US" dirty="0"/>
              <a:t>이 아니었다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함수를 변수에 저장할 수 없었고</a:t>
            </a:r>
            <a:r>
              <a:rPr lang="en-US" altLang="ko-KR" dirty="0"/>
              <a:t> (</a:t>
            </a:r>
            <a:r>
              <a:rPr lang="ko-KR" altLang="en-US" dirty="0"/>
              <a:t>함수가 값이 아니었기 때문</a:t>
            </a:r>
            <a:r>
              <a:rPr lang="en-US" altLang="ko-KR" dirty="0"/>
              <a:t>),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다른 메소드로 함수를 전달할 수 없었음</a:t>
            </a:r>
            <a:r>
              <a:rPr lang="en-US" altLang="ko-KR" dirty="0"/>
              <a:t>(</a:t>
            </a:r>
            <a:r>
              <a:rPr lang="ko-KR" altLang="en-US" dirty="0"/>
              <a:t>함수가 값이 아니었기 때문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622893-9C89-48A0-BE65-9293242FC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2" y="3332639"/>
            <a:ext cx="3920148" cy="32967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9AE61-60D7-4345-8DD9-652EDC27CA1B}"/>
              </a:ext>
            </a:extLst>
          </p:cNvPr>
          <p:cNvSpPr txBox="1"/>
          <p:nvPr/>
        </p:nvSpPr>
        <p:spPr>
          <a:xfrm>
            <a:off x="556003" y="1689433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함수의 </a:t>
            </a:r>
            <a:r>
              <a:rPr lang="en-US" altLang="ko-KR" sz="24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ko-KR" altLang="en-US" sz="24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급 시민 승격</a:t>
            </a: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318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CC89B-050A-460C-8B38-17A347A9D2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178781"/>
          </a:xfrm>
        </p:spPr>
        <p:txBody>
          <a:bodyPr/>
          <a:lstStyle/>
          <a:p>
            <a:r>
              <a:rPr lang="en-US" altLang="ko-KR" dirty="0"/>
              <a:t>Java 8</a:t>
            </a:r>
            <a:r>
              <a:rPr lang="ko-KR" altLang="en-US" dirty="0"/>
              <a:t>에서는 함수가 </a:t>
            </a:r>
            <a:r>
              <a:rPr lang="en-US" altLang="ko-KR" dirty="0"/>
              <a:t>1</a:t>
            </a:r>
            <a:r>
              <a:rPr lang="ko-KR" altLang="en-US" dirty="0"/>
              <a:t>급 시민으로 승격되었는데</a:t>
            </a:r>
            <a:r>
              <a:rPr lang="en-US" altLang="ko-KR" dirty="0"/>
              <a:t>,  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함수가 값이 된 것임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함수가 값이 되면 다음과 같은 일들이 가능해진다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함수도 변수에 저장할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함수를 매개 변수로 받을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함수를 반환할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F537944-A2C5-477A-BF57-877EFF5A0E59}"/>
              </a:ext>
            </a:extLst>
          </p:cNvPr>
          <p:cNvSpPr txBox="1">
            <a:spLocks/>
          </p:cNvSpPr>
          <p:nvPr/>
        </p:nvSpPr>
        <p:spPr>
          <a:xfrm>
            <a:off x="1031060" y="4042647"/>
            <a:ext cx="5855262" cy="1352718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ko-KR" altLang="en-US" dirty="0">
                <a:sym typeface="Wingdings" panose="05000000000000000000" pitchFamily="2" charset="2"/>
              </a:rPr>
              <a:t> 함수를 다른 함수로 전달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ko-KR" dirty="0">
                <a:sym typeface="Wingdings" panose="05000000000000000000" pitchFamily="2" charset="2"/>
              </a:rPr>
              <a:t>      : </a:t>
            </a:r>
            <a:r>
              <a:rPr lang="ko-KR" altLang="en-US" dirty="0">
                <a:sym typeface="Wingdings" panose="05000000000000000000" pitchFamily="2" charset="2"/>
              </a:rPr>
              <a:t>동작 매개 변수화</a:t>
            </a:r>
            <a:r>
              <a:rPr lang="en-US" altLang="ko-KR" dirty="0">
                <a:sym typeface="Wingdings" panose="05000000000000000000" pitchFamily="2" charset="2"/>
              </a:rPr>
              <a:t>(behavior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parameterization) </a:t>
            </a:r>
            <a:r>
              <a:rPr lang="ko-KR" altLang="en-US" dirty="0">
                <a:sym typeface="Wingdings" panose="05000000000000000000" pitchFamily="2" charset="2"/>
              </a:rPr>
              <a:t>가능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ko-KR" altLang="en-US" dirty="0">
                <a:sym typeface="Wingdings" panose="05000000000000000000" pitchFamily="2" charset="2"/>
              </a:rPr>
              <a:t> 스트림</a:t>
            </a:r>
            <a:r>
              <a:rPr lang="en-US" altLang="ko-KR" dirty="0">
                <a:sym typeface="Wingdings" panose="05000000000000000000" pitchFamily="2" charset="2"/>
              </a:rPr>
              <a:t>(stream)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API</a:t>
            </a:r>
            <a:r>
              <a:rPr lang="ko-KR" altLang="en-US" dirty="0">
                <a:sym typeface="Wingdings" panose="05000000000000000000" pitchFamily="2" charset="2"/>
              </a:rPr>
              <a:t> 사용 가능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621991E-66C9-4675-BC98-EC8E6E02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0848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62847E-63DA-436E-AA88-658B6D97D6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7187" y="1542636"/>
            <a:ext cx="8153400" cy="366712"/>
          </a:xfrm>
        </p:spPr>
        <p:txBody>
          <a:bodyPr>
            <a:noAutofit/>
          </a:bodyPr>
          <a:lstStyle/>
          <a:p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자바의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(Lambda expression) 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구조</a:t>
            </a: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endParaRPr lang="ko-KR" altLang="en-US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9F123-5808-4885-AC20-836D7662DE83}"/>
              </a:ext>
            </a:extLst>
          </p:cNvPr>
          <p:cNvSpPr txBox="1"/>
          <p:nvPr/>
        </p:nvSpPr>
        <p:spPr>
          <a:xfrm>
            <a:off x="945713" y="5615916"/>
            <a:ext cx="725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매개변수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와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전달받아서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 + b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계산하여 반환하는 메서드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905D353-9F02-411E-8379-956A4475D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06" y="3891650"/>
            <a:ext cx="6562144" cy="172426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61BF5AD-B9F5-473C-B2F0-343DA601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06" y="2328096"/>
            <a:ext cx="6647869" cy="1366818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A1A75D86-FA7A-4835-A07E-AE5981FA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18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7D1DCB-565A-47FF-ADE9-C15B4217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07" y="1571807"/>
            <a:ext cx="5115639" cy="831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B5945F0-4E87-4ED8-B63E-626831FE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2" y="2574824"/>
            <a:ext cx="8253876" cy="15339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1E1E461-192A-4704-960C-9AC57ABA6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07" y="4159170"/>
            <a:ext cx="8065386" cy="107037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817E53F-9FCD-4F25-B08C-3480110F7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07" y="5352817"/>
            <a:ext cx="8226741" cy="14606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723918-C80F-400F-9EEC-59FAEA1326D9}"/>
              </a:ext>
            </a:extLst>
          </p:cNvPr>
          <p:cNvCxnSpPr/>
          <p:nvPr/>
        </p:nvCxnSpPr>
        <p:spPr>
          <a:xfrm>
            <a:off x="612648" y="3295650"/>
            <a:ext cx="55214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7D66A54-85AF-4A3C-BDED-5702FE0DB62A}"/>
              </a:ext>
            </a:extLst>
          </p:cNvPr>
          <p:cNvCxnSpPr>
            <a:cxnSpLocks/>
          </p:cNvCxnSpPr>
          <p:nvPr/>
        </p:nvCxnSpPr>
        <p:spPr>
          <a:xfrm>
            <a:off x="612648" y="4838700"/>
            <a:ext cx="65120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29C0AC-4D6C-4E62-A389-B76B38F48917}"/>
              </a:ext>
            </a:extLst>
          </p:cNvPr>
          <p:cNvCxnSpPr>
            <a:cxnSpLocks/>
          </p:cNvCxnSpPr>
          <p:nvPr/>
        </p:nvCxnSpPr>
        <p:spPr>
          <a:xfrm>
            <a:off x="612648" y="6054572"/>
            <a:ext cx="22829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1">
            <a:extLst>
              <a:ext uri="{FF2B5EF4-FFF2-40B4-BE49-F238E27FC236}">
                <a16:creationId xmlns:a16="http://schemas.microsoft.com/office/drawing/2014/main" id="{D86CA287-6CB5-4F4A-9A93-B4E53D83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7234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19">
            <a:extLst>
              <a:ext uri="{FF2B5EF4-FFF2-40B4-BE49-F238E27FC236}">
                <a16:creationId xmlns:a16="http://schemas.microsoft.com/office/drawing/2014/main" id="{ABD22FFD-C57F-4EFC-BC1F-7EAE80253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29" y="1494055"/>
            <a:ext cx="8407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▣  </a:t>
            </a:r>
            <a:r>
              <a:rPr lang="ko-KR" altLang="en-US" sz="28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작성하기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(1)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5D6977-71A4-4500-ADCE-0908AD994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42" y="2247643"/>
            <a:ext cx="7494561" cy="33990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0F4F789-7D8E-4C78-8228-9754BA791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00" y="4512857"/>
            <a:ext cx="8073000" cy="3371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FE9AD5-C2C5-4975-B22D-D4C8F5444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96" y="4935354"/>
            <a:ext cx="7810860" cy="8081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D9AE9A-3E92-4BCB-8D62-7516E1B9D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96" y="2910334"/>
            <a:ext cx="7754432" cy="1173043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D56CA75-E302-4E1D-89E5-03690228D899}"/>
              </a:ext>
            </a:extLst>
          </p:cNvPr>
          <p:cNvCxnSpPr>
            <a:cxnSpLocks/>
          </p:cNvCxnSpPr>
          <p:nvPr/>
        </p:nvCxnSpPr>
        <p:spPr>
          <a:xfrm>
            <a:off x="798296" y="2609850"/>
            <a:ext cx="35070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0D56B35-721E-47C5-9967-85F48C72827C}"/>
              </a:ext>
            </a:extLst>
          </p:cNvPr>
          <p:cNvCxnSpPr>
            <a:cxnSpLocks/>
          </p:cNvCxnSpPr>
          <p:nvPr/>
        </p:nvCxnSpPr>
        <p:spPr>
          <a:xfrm>
            <a:off x="4910399" y="2609850"/>
            <a:ext cx="23857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>
            <a:extLst>
              <a:ext uri="{FF2B5EF4-FFF2-40B4-BE49-F238E27FC236}">
                <a16:creationId xmlns:a16="http://schemas.microsoft.com/office/drawing/2014/main" id="{7E47B56E-7D36-482C-BCD6-2D9885B4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925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19">
            <a:extLst>
              <a:ext uri="{FF2B5EF4-FFF2-40B4-BE49-F238E27FC236}">
                <a16:creationId xmlns:a16="http://schemas.microsoft.com/office/drawing/2014/main" id="{ABD22FFD-C57F-4EFC-BC1F-7EAE80253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29" y="1494055"/>
            <a:ext cx="8407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▣  </a:t>
            </a:r>
            <a:r>
              <a:rPr lang="ko-KR" altLang="en-US" sz="28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작성하기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</a:rPr>
              <a:t>(2)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45850E-835C-4D9A-8E35-D0A3E004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84" y="2164881"/>
            <a:ext cx="6805580" cy="4396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CFA6E1-AC53-4208-B2B1-CC6CB4335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12" y="2604504"/>
            <a:ext cx="7944959" cy="10288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2D4A47-BF84-4EFC-8BED-867336D13CA7}"/>
              </a:ext>
            </a:extLst>
          </p:cNvPr>
          <p:cNvSpPr txBox="1"/>
          <p:nvPr/>
        </p:nvSpPr>
        <p:spPr>
          <a:xfrm>
            <a:off x="595884" y="4011307"/>
            <a:ext cx="595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  <a:sym typeface="Wingdings 3" panose="05040102010807070707" pitchFamily="18" charset="2"/>
              </a:rPr>
              <a:t>4.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  <a:sym typeface="Wingdings 3" panose="05040102010807070707" pitchFamily="18" charset="2"/>
              </a:rPr>
              <a:t> 함수 바디가 한 문장일 경우 괄호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  <a:sym typeface="Wingdings 3" panose="05040102010807070707" pitchFamily="18" charset="2"/>
              </a:rPr>
              <a:t>{ }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  <a:sym typeface="Wingdings 3" panose="05040102010807070707" pitchFamily="18" charset="2"/>
              </a:rPr>
              <a:t>생략 가능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04087-6153-4F90-BEBD-CABBD2CFDD31}"/>
              </a:ext>
            </a:extLst>
          </p:cNvPr>
          <p:cNvSpPr txBox="1"/>
          <p:nvPr/>
        </p:nvSpPr>
        <p:spPr>
          <a:xfrm>
            <a:off x="910111" y="4302122"/>
            <a:ext cx="641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단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한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문장이 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문일 경우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,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 중괄호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{ }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생략할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수 없음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BFAE7D5-3F58-4BEC-BB65-846E8981F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73" y="4671454"/>
            <a:ext cx="5553850" cy="209428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387542-12AB-4300-AC24-F6D3BBF20496}"/>
              </a:ext>
            </a:extLst>
          </p:cNvPr>
          <p:cNvCxnSpPr>
            <a:cxnSpLocks/>
          </p:cNvCxnSpPr>
          <p:nvPr/>
        </p:nvCxnSpPr>
        <p:spPr>
          <a:xfrm>
            <a:off x="1509974" y="4671454"/>
            <a:ext cx="52718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828DB272-243B-4506-BB0D-135046CD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580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2B218D9-2042-47C6-A8F7-591A86557B1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8175" y="1696385"/>
            <a:ext cx="8153400" cy="366712"/>
          </a:xfrm>
        </p:spPr>
        <p:txBody>
          <a:bodyPr>
            <a:noAutofit/>
          </a:bodyPr>
          <a:lstStyle/>
          <a:p>
            <a:r>
              <a:rPr lang="ko-KR" altLang="en-US" sz="2400" b="1" err="1"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 사례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1A62F-D1F5-4FD9-9974-9ECE9E972190}"/>
              </a:ext>
            </a:extLst>
          </p:cNvPr>
          <p:cNvSpPr txBox="1"/>
          <p:nvPr/>
        </p:nvSpPr>
        <p:spPr>
          <a:xfrm>
            <a:off x="769162" y="2217116"/>
            <a:ext cx="7996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람다식은 만들어진다고 바로 실행되는 것은 아님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  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람다식을 호출하고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실행하는 과정은 함수형 인터페이스 연관관계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A040C7-53FA-4F98-8C22-73DF2DB49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62" y="3199036"/>
            <a:ext cx="5372850" cy="4096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FD433C-8C4E-4E1D-97AD-A845EAAD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669" y="4431347"/>
            <a:ext cx="7373379" cy="3705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D4F9E5-092A-44F5-BB02-8CA69FAD4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669" y="5164066"/>
            <a:ext cx="6735115" cy="4382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D1AB59-067F-4803-A5DE-D167CE7460BD}"/>
              </a:ext>
            </a:extLst>
          </p:cNvPr>
          <p:cNvSpPr txBox="1"/>
          <p:nvPr/>
        </p:nvSpPr>
        <p:spPr>
          <a:xfrm>
            <a:off x="2340531" y="5640339"/>
            <a:ext cx="606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매개변수가 한 개일 경우 괄호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()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 생략 가능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(age)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 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age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 </a:t>
            </a:r>
            <a:endParaRPr lang="en-US" altLang="ko-KR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  <a:p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함수 바디가 한 문장일 경우 괄호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{}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  <a:sym typeface="Wingdings 3" panose="05040102010807070707" pitchFamily="18" charset="2"/>
              </a:rPr>
              <a:t>생략 가능</a:t>
            </a:r>
            <a:endParaRPr lang="en-US" altLang="ko-KR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5455E-DBA7-43B5-AD05-0588C2DA1A0E}"/>
              </a:ext>
            </a:extLst>
          </p:cNvPr>
          <p:cNvSpPr txBox="1"/>
          <p:nvPr/>
        </p:nvSpPr>
        <p:spPr>
          <a:xfrm>
            <a:off x="985787" y="4451626"/>
            <a:ext cx="382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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D980A2-C639-44EC-A4A5-94437A359B9A}"/>
              </a:ext>
            </a:extLst>
          </p:cNvPr>
          <p:cNvSpPr txBox="1"/>
          <p:nvPr/>
        </p:nvSpPr>
        <p:spPr>
          <a:xfrm>
            <a:off x="970279" y="3779735"/>
            <a:ext cx="359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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92F34-688D-45DC-BCA8-8D0B9ACAECA8}"/>
              </a:ext>
            </a:extLst>
          </p:cNvPr>
          <p:cNvSpPr txBox="1"/>
          <p:nvPr/>
        </p:nvSpPr>
        <p:spPr>
          <a:xfrm>
            <a:off x="1010063" y="5222787"/>
            <a:ext cx="382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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E0F08D2-EC4B-409B-892A-CE031BC1B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669" y="3809264"/>
            <a:ext cx="6020624" cy="37058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6BBCFC-6A38-4241-B066-FEE578EA1057}"/>
              </a:ext>
            </a:extLst>
          </p:cNvPr>
          <p:cNvCxnSpPr>
            <a:cxnSpLocks/>
          </p:cNvCxnSpPr>
          <p:nvPr/>
        </p:nvCxnSpPr>
        <p:spPr>
          <a:xfrm>
            <a:off x="1519499" y="5602277"/>
            <a:ext cx="47003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BD19EFAF-0B1F-49C4-BE10-81E564B3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331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152EE2-1A23-46FE-9AED-E13FF4F8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01" y="1675251"/>
            <a:ext cx="6420746" cy="4191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5A02D13-B0B2-4970-8A81-3111ABAAE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04" y="2382968"/>
            <a:ext cx="5591955" cy="3905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09EFC4-D49F-461E-BCB4-8C2BB38ED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880" y="3020201"/>
            <a:ext cx="4296375" cy="3715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51B1847-363A-4498-B03D-DE23B1740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35" y="3804915"/>
            <a:ext cx="3620005" cy="3810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287CDA-5F82-4741-A628-152E0FC65B3D}"/>
              </a:ext>
            </a:extLst>
          </p:cNvPr>
          <p:cNvSpPr txBox="1"/>
          <p:nvPr/>
        </p:nvSpPr>
        <p:spPr>
          <a:xfrm>
            <a:off x="1169120" y="4275989"/>
            <a:ext cx="697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람다함수는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return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 문을 사용하여 값을 리턴 할 수 있다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0B7A761-3585-45DE-B621-DFBE17278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318" y="4736478"/>
            <a:ext cx="5763429" cy="4191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6B7C84A-5C23-400F-85C2-5B86D1CBFF92}"/>
              </a:ext>
            </a:extLst>
          </p:cNvPr>
          <p:cNvSpPr txBox="1"/>
          <p:nvPr/>
        </p:nvSpPr>
        <p:spPr>
          <a:xfrm>
            <a:off x="997485" y="3020201"/>
            <a:ext cx="382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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6E0D3E-FFCD-4152-B28A-269E437A0E06}"/>
              </a:ext>
            </a:extLst>
          </p:cNvPr>
          <p:cNvSpPr txBox="1"/>
          <p:nvPr/>
        </p:nvSpPr>
        <p:spPr>
          <a:xfrm>
            <a:off x="981977" y="2348310"/>
            <a:ext cx="359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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  <a:sym typeface="Wingdings 3" panose="05040102010807070707" pitchFamily="18" charset="2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7FD8B5F-BA01-4CA3-ABF3-87BAD3F46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6318" y="5478972"/>
            <a:ext cx="5125165" cy="4001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862C0A9-0525-4F28-98A4-59956B87D6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9115" y="5342769"/>
            <a:ext cx="590632" cy="4953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31B9A81-19E9-4C36-BA44-9A9746C89B4E}"/>
              </a:ext>
            </a:extLst>
          </p:cNvPr>
          <p:cNvSpPr txBox="1"/>
          <p:nvPr/>
        </p:nvSpPr>
        <p:spPr>
          <a:xfrm>
            <a:off x="1436318" y="5858493"/>
            <a:ext cx="562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한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문장이 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return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문일 경우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,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 중괄호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{}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생략할</a:t>
            </a:r>
            <a:r>
              <a:rPr lang="en-US" altLang="ko-KR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수 없음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10DF43-D47C-4304-BA62-31CA310B493F}"/>
              </a:ext>
            </a:extLst>
          </p:cNvPr>
          <p:cNvCxnSpPr>
            <a:cxnSpLocks/>
          </p:cNvCxnSpPr>
          <p:nvPr/>
        </p:nvCxnSpPr>
        <p:spPr>
          <a:xfrm>
            <a:off x="1436318" y="3391728"/>
            <a:ext cx="41072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제목 1">
            <a:extLst>
              <a:ext uri="{FF2B5EF4-FFF2-40B4-BE49-F238E27FC236}">
                <a16:creationId xmlns:a16="http://schemas.microsoft.com/office/drawing/2014/main" id="{48C44E39-BAE9-41CE-B3DA-81F9BCAE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7080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9">
            <a:extLst>
              <a:ext uri="{FF2B5EF4-FFF2-40B4-BE49-F238E27FC236}">
                <a16:creationId xmlns:a16="http://schemas.microsoft.com/office/drawing/2014/main" id="{1A9CA5D1-0DCA-4786-A4B1-A65B02C36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47" y="1551118"/>
            <a:ext cx="66151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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 익명함수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익명객체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94837F-242D-4C62-9F62-AFEC17EB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86" y="2165781"/>
            <a:ext cx="5568690" cy="4300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353C80-6D4B-4EF4-98BB-6B85723ED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86" y="3821638"/>
            <a:ext cx="7515225" cy="4095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81B44C-1827-4E97-8897-950E0E01A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599" y="4230400"/>
            <a:ext cx="7602996" cy="15869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C50A89-EC14-4A6F-BEAA-B4458C8BC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42" y="5949883"/>
            <a:ext cx="7667625" cy="55245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3604EE4-D6A1-4FD0-993D-EDFE1F327F73}"/>
              </a:ext>
            </a:extLst>
          </p:cNvPr>
          <p:cNvGrpSpPr/>
          <p:nvPr/>
        </p:nvGrpSpPr>
        <p:grpSpPr>
          <a:xfrm>
            <a:off x="957262" y="2279007"/>
            <a:ext cx="7322799" cy="1430457"/>
            <a:chOff x="957262" y="2279007"/>
            <a:chExt cx="7322799" cy="14304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23D5CB6-8390-4769-B115-42BCB1C3C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7262" y="2535286"/>
              <a:ext cx="7229475" cy="117417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A09F63-2356-43DB-ADCE-4113EAAE1BBD}"/>
                </a:ext>
              </a:extLst>
            </p:cNvPr>
            <p:cNvSpPr txBox="1"/>
            <p:nvPr/>
          </p:nvSpPr>
          <p:spPr>
            <a:xfrm>
              <a:off x="7017704" y="2279007"/>
              <a:ext cx="12623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익명객체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F63DCF-F574-4D87-8753-90AD9E9ABC8E}"/>
              </a:ext>
            </a:extLst>
          </p:cNvPr>
          <p:cNvSpPr txBox="1"/>
          <p:nvPr/>
        </p:nvSpPr>
        <p:spPr>
          <a:xfrm>
            <a:off x="5347347" y="6409744"/>
            <a:ext cx="3642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☞ 함수형</a:t>
            </a:r>
            <a:r>
              <a:rPr lang="en-US" altLang="ko-KR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인터페이스로</a:t>
            </a:r>
            <a:r>
              <a:rPr lang="en-US" altLang="ko-KR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5A35EDA-764C-45B6-8B59-97C42130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2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DAF04F5-F812-49AB-809A-F279A13AEC58}"/>
              </a:ext>
            </a:extLst>
          </p:cNvPr>
          <p:cNvSpPr txBox="1"/>
          <p:nvPr/>
        </p:nvSpPr>
        <p:spPr>
          <a:xfrm>
            <a:off x="495300" y="2207661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햠수형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인터페이스를 구현한 객체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자바에서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선언된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추상메서드를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구현하는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방식으로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10BD8-5BFB-4F7B-ACD6-CC4FA6A6B20A}"/>
              </a:ext>
            </a:extLst>
          </p:cNvPr>
          <p:cNvSpPr txBox="1"/>
          <p:nvPr/>
        </p:nvSpPr>
        <p:spPr>
          <a:xfrm>
            <a:off x="844135" y="3781251"/>
            <a:ext cx="717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인터페이스란 </a:t>
            </a:r>
            <a:r>
              <a:rPr lang="ko-KR" altLang="en-US" sz="1800" b="1" i="0" u="none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추상 메서드 하나만 있는 인터페이스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말함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460E0-82DD-4423-B766-F735AE5AC1EE}"/>
              </a:ext>
            </a:extLst>
          </p:cNvPr>
          <p:cNvSpPr txBox="1"/>
          <p:nvPr/>
        </p:nvSpPr>
        <p:spPr>
          <a:xfrm>
            <a:off x="844135" y="4269268"/>
            <a:ext cx="783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추상 메소드 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calc() </a:t>
            </a:r>
            <a:r>
              <a:rPr lang="ko-KR" altLang="en-US" sz="18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한개만을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가진 함수형 인터페이스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MyFunction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형태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28C9A17-2573-44C1-A8BA-504A95B6C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71" y="3337010"/>
            <a:ext cx="5973546" cy="39807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B0D83CB-63F9-4C41-AA88-A01DE2735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28" y="4741096"/>
            <a:ext cx="6134956" cy="1095528"/>
          </a:xfrm>
          <a:prstGeom prst="rect">
            <a:avLst/>
          </a:prstGeom>
        </p:spPr>
      </p:pic>
      <p:sp>
        <p:nvSpPr>
          <p:cNvPr id="9" name="Text Box 19">
            <a:extLst>
              <a:ext uri="{FF2B5EF4-FFF2-40B4-BE49-F238E27FC236}">
                <a16:creationId xmlns:a16="http://schemas.microsoft.com/office/drawing/2014/main" id="{006D2B33-A78A-4518-9A56-5D7F6FD61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72" y="1653977"/>
            <a:ext cx="47275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 </a:t>
            </a:r>
            <a:r>
              <a:rPr lang="ko-KR" altLang="en-US" sz="2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만들고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호출하기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ACB29A7C-6DB7-4D25-B5EC-F6AD11B3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349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9410BD8-5BFB-4F7B-ACD6-CC4FA6A6B20A}"/>
              </a:ext>
            </a:extLst>
          </p:cNvPr>
          <p:cNvSpPr txBox="1"/>
          <p:nvPr/>
        </p:nvSpPr>
        <p:spPr>
          <a:xfrm>
            <a:off x="436077" y="2157517"/>
            <a:ext cx="8332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ko-KR" altLang="en-US" sz="1800" b="1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람다식의 작성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은 </a:t>
            </a:r>
            <a:r>
              <a:rPr lang="ko-KR" altLang="en-US" sz="1800" b="1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함수형 인터페이스의 추상 메소드를 구현하는 것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과 같으며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익명의 클래스가 만들어지는 방식으로 이루어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짐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자바에서 람다식은 함수형 인터페이스를 구현한 객체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익명의 클래스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로</a:t>
            </a:r>
            <a:endParaRPr lang="en-US" altLang="ko-KR" sz="1800" b="0" i="0" u="none" strike="noStrike" baseline="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l"/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다뤄져 다음과 같이 람다식을 인터페이스 타입의 변수에 치환할 수 있음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634F70-8B1C-409F-98D6-C438E3A0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0" y="1674985"/>
            <a:ext cx="6392167" cy="3905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1FEEA05-9DA9-4DB9-9E2E-8FD248076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21" y="3438982"/>
            <a:ext cx="3610479" cy="4667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DA058A-DED7-457C-8C37-68B59AE6D64F}"/>
              </a:ext>
            </a:extLst>
          </p:cNvPr>
          <p:cNvSpPr txBox="1"/>
          <p:nvPr/>
        </p:nvSpPr>
        <p:spPr>
          <a:xfrm>
            <a:off x="436076" y="4100609"/>
            <a:ext cx="858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n-US" altLang="ko-KR" sz="1800" b="0" i="0" u="none" strike="noStrike" baseline="0" dirty="0" err="1">
                <a:latin typeface="돋움" panose="020B0600000101010101" pitchFamily="50" charset="-127"/>
                <a:ea typeface="돋움" panose="020B0600000101010101" pitchFamily="50" charset="-127"/>
              </a:rPr>
              <a:t>MyFunction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인터페이스의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calc()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메소드를 구현한 람다식을 작성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calc()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메소드는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개의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int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타입 매개변수를 가지고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int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타입의 값을 </a:t>
            </a:r>
            <a:r>
              <a:rPr lang="ko-KR" altLang="en-US" sz="1800" b="0" i="0" u="none" strike="noStrike" baseline="0" dirty="0" err="1">
                <a:latin typeface="돋움" panose="020B0600000101010101" pitchFamily="50" charset="-127"/>
                <a:ea typeface="돋움" panose="020B0600000101010101" pitchFamily="50" charset="-127"/>
              </a:rPr>
              <a:t>리턴하므로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람다식은 다음과 같이 만들 수 있음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D4596B-CDE8-4458-A22C-9F9150096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83" y="5159773"/>
            <a:ext cx="5620534" cy="5334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7479BC3-2984-44D2-BA1D-9CFD1B030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021" y="297652"/>
            <a:ext cx="4015199" cy="855165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5145CCBD-A721-46C1-8E06-526A58E9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42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9410BD8-5BFB-4F7B-ACD6-CC4FA6A6B20A}"/>
              </a:ext>
            </a:extLst>
          </p:cNvPr>
          <p:cNvSpPr txBox="1"/>
          <p:nvPr/>
        </p:nvSpPr>
        <p:spPr>
          <a:xfrm>
            <a:off x="298613" y="2828835"/>
            <a:ext cx="86221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컴파일러는 이 문장을 다음과 같이 처리한다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+ </a:t>
            </a:r>
            <a:r>
              <a:rPr lang="en-US" altLang="ko-KR" sz="1800" b="0" i="0" u="none" strike="noStrike" baseline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MyFunction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인터페이스의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calc()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메소드를 구현한 람다식을 가진 익명의 </a:t>
            </a:r>
            <a:endParaRPr lang="en-US" altLang="ko-KR" sz="1800" b="0" i="0" u="none" strike="noStrike" baseline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클래스 객체를 생성하고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객체를 레퍼런스 변수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가리키게 한다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결국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생성된 객체 안에는 </a:t>
            </a:r>
            <a:endParaRPr lang="en-US" altLang="ko-KR" sz="1800" b="0" i="0" u="none" strike="noStrike" baseline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calc(x, y)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메소드가 다음과 같이 구현된 것으로 보면 됨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479BC3-2984-44D2-BA1D-9CFD1B03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21" y="297652"/>
            <a:ext cx="4015199" cy="8551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6ABB1D3-0B64-4F92-9C67-06562840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88" y="4403735"/>
            <a:ext cx="5506218" cy="5048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A9825B-1011-42A8-AF06-62F68F1F6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252" y="5006202"/>
            <a:ext cx="5589916" cy="17437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FEC0437-9BB4-4EC2-9BBD-491BA6721F49}"/>
              </a:ext>
            </a:extLst>
          </p:cNvPr>
          <p:cNvSpPr txBox="1"/>
          <p:nvPr/>
        </p:nvSpPr>
        <p:spPr>
          <a:xfrm>
            <a:off x="298613" y="1643944"/>
            <a:ext cx="828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람다식을 사용하기 위해서는 람다식을 다음과 같이 참조변수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 </a:t>
            </a:r>
            <a:r>
              <a:rPr lang="ko-KR" altLang="en-US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치환한다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27FE394-BE12-45A7-8CD4-4ECD818C9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59" y="2050744"/>
            <a:ext cx="5172797" cy="485843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16A7F505-AE00-43DE-AFFB-D9CA63E3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451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7479BC3-2984-44D2-BA1D-9CFD1B03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21" y="297652"/>
            <a:ext cx="4015199" cy="8551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9F30DA-0C41-40D6-BBCA-ADAC3A8F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0" y="1660250"/>
            <a:ext cx="1867161" cy="362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EB8D26-6255-4E02-90C6-14E6F4EF07C2}"/>
              </a:ext>
            </a:extLst>
          </p:cNvPr>
          <p:cNvSpPr txBox="1"/>
          <p:nvPr/>
        </p:nvSpPr>
        <p:spPr>
          <a:xfrm>
            <a:off x="594630" y="2169869"/>
            <a:ext cx="8332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-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레퍼런스 변수 </a:t>
            </a:r>
            <a:r>
              <a:rPr lang="en-US" altLang="ko-KR" sz="1800" b="0" i="0" u="none" strike="noStrike" baseline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를 이용하면 람다식을 호출할 수 있다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algn="l"/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- 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정수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1, 2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를 매개변수로 주어 람다식을 호출하고 </a:t>
            </a:r>
            <a:r>
              <a:rPr lang="ko-KR" altLang="en-US" sz="1800" b="0" i="0" u="none" strike="noStrike" baseline="0" dirty="0" err="1">
                <a:latin typeface="돋움" panose="020B0600000101010101" pitchFamily="50" charset="-127"/>
                <a:ea typeface="돋움" panose="020B0600000101010101" pitchFamily="50" charset="-127"/>
              </a:rPr>
              <a:t>리턴한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 값 </a:t>
            </a:r>
            <a:r>
              <a:rPr lang="en-US" altLang="ko-KR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r>
              <a:rPr lang="ko-KR" altLang="en-US" sz="18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을 출력한 사례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0502C9-CF42-49EA-B8DA-42AC6E098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13" y="3009832"/>
            <a:ext cx="4001058" cy="48584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9AA78F1-339E-4000-9E2A-EC7A6BF9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100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AF771F71-DA40-42BA-9D53-15962870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6" y="1895192"/>
            <a:ext cx="6839905" cy="4191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3C197E9-791E-41D1-9150-76CC5136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6" y="2490071"/>
            <a:ext cx="7110770" cy="40120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6834DE-B145-4C1F-81B9-92ECC01E8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691" y="5254202"/>
            <a:ext cx="1819529" cy="1247949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3E95A92B-BAF3-4B79-8732-B0080277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9280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3CE531A-8FF4-4D86-8C3D-481000BDB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6" y="1839175"/>
            <a:ext cx="6125430" cy="4572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C73245-B7CF-4D00-8BDA-7C4D1E239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21" y="2643517"/>
            <a:ext cx="6354062" cy="31246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2C7E48E-4CDC-472C-9840-D736E0F2B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815" y="4729783"/>
            <a:ext cx="1400370" cy="103837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52AC34A5-604F-4622-9C6F-B70E80AB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8588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7E2B5D8-576C-4AEC-9BE2-EF93DEDE5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21" y="1670953"/>
            <a:ext cx="6563641" cy="40963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4C87DC7-1265-4C6C-A02F-58E3221A2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21" y="2405089"/>
            <a:ext cx="7590329" cy="43463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1C3BCA-9071-45EF-80EE-87D0159BD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912" y="5599689"/>
            <a:ext cx="1027739" cy="80801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39B37600-B382-4895-A3DB-B903FBA1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33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37B606-073F-41D7-B37D-262A227D5FAF}"/>
              </a:ext>
            </a:extLst>
          </p:cNvPr>
          <p:cNvSpPr txBox="1"/>
          <p:nvPr/>
        </p:nvSpPr>
        <p:spPr>
          <a:xfrm>
            <a:off x="334878" y="1523514"/>
            <a:ext cx="710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 err="1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ko-KR" altLang="en-US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자체를 매개변수로 사용할 수 있다</a:t>
            </a:r>
            <a:r>
              <a:rPr lang="en-US" altLang="ko-KR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07D296-BD77-445F-B2D7-356375EB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78" y="1892846"/>
            <a:ext cx="7668695" cy="3905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CD66225-84B4-41D8-A7D4-FFE8A05F2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55" y="2652758"/>
            <a:ext cx="8442289" cy="410846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9261F072-7CB1-448A-8152-C0CF75DC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5649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8B32E90-4236-4A06-BD0C-4D070520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19" y="2124200"/>
            <a:ext cx="7306695" cy="409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089EE4-49E5-44E1-A38D-5D63A0B4BED8}"/>
              </a:ext>
            </a:extLst>
          </p:cNvPr>
          <p:cNvSpPr txBox="1"/>
          <p:nvPr/>
        </p:nvSpPr>
        <p:spPr>
          <a:xfrm>
            <a:off x="121011" y="1571359"/>
            <a:ext cx="886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함수형 인터페이스를 </a:t>
            </a:r>
            <a:r>
              <a:rPr lang="ko-KR" altLang="en-US" dirty="0" err="1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지네릭으로</a:t>
            </a:r>
            <a:r>
              <a:rPr lang="ko-KR" altLang="en-US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만들면</a:t>
            </a:r>
            <a:r>
              <a:rPr lang="en-US" altLang="ko-KR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다양한 타입 처리 가능한 </a:t>
            </a:r>
            <a:r>
              <a:rPr lang="ko-KR" altLang="en-US" dirty="0" err="1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람다식</a:t>
            </a:r>
            <a:r>
              <a:rPr lang="ko-KR" altLang="en-US" dirty="0">
                <a:solidFill>
                  <a:srgbClr val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작성 가능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B6269-819F-433D-8C21-D4789E77B189}"/>
              </a:ext>
            </a:extLst>
          </p:cNvPr>
          <p:cNvSpPr txBox="1"/>
          <p:nvPr/>
        </p:nvSpPr>
        <p:spPr>
          <a:xfrm>
            <a:off x="4531757" y="352037"/>
            <a:ext cx="4429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함수형 인터페이스를 제네릭 타입으로 만들고</a:t>
            </a:r>
            <a:r>
              <a:rPr lang="en-US" altLang="ko-KR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</a:p>
          <a:p>
            <a:pPr algn="l"/>
            <a:r>
              <a:rPr lang="ko-KR" altLang="en-US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람다식에 </a:t>
            </a:r>
            <a:r>
              <a:rPr lang="en-US" altLang="ko-KR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String </a:t>
            </a:r>
            <a:r>
              <a:rPr lang="ko-KR" altLang="en-US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타입과 </a:t>
            </a:r>
            <a:r>
              <a:rPr lang="en-US" altLang="ko-KR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Integer </a:t>
            </a:r>
            <a:r>
              <a:rPr lang="ko-KR" altLang="en-US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타입 객체를 </a:t>
            </a:r>
            <a:endParaRPr lang="en-US" altLang="ko-KR" sz="1600" b="0" i="0" u="none" strike="noStrike" baseline="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l"/>
            <a:r>
              <a:rPr lang="ko-KR" altLang="en-US" sz="1600" b="0" i="0" u="none" strike="noStrike" baseline="0" dirty="0">
                <a:latin typeface="돋움" panose="020B0600000101010101" pitchFamily="50" charset="-127"/>
                <a:ea typeface="돋움" panose="020B0600000101010101" pitchFamily="50" charset="-127"/>
              </a:rPr>
              <a:t>각각 매개변수로 넘겨주는 예제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1E193D4-17D4-4750-973C-A4F50964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1" y="2816428"/>
            <a:ext cx="8840343" cy="37369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98819D2-3001-4698-9570-5356EBB33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2769578"/>
            <a:ext cx="1355364" cy="103594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76C66C2E-76A4-4277-BC2A-85EA2F48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721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9">
            <a:extLst>
              <a:ext uri="{FF2B5EF4-FFF2-40B4-BE49-F238E27FC236}">
                <a16:creationId xmlns:a16="http://schemas.microsoft.com/office/drawing/2014/main" id="{1A9CA5D1-0DCA-4786-A4B1-A65B02C36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41" y="1571867"/>
            <a:ext cx="68255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 </a:t>
            </a:r>
            <a:r>
              <a:rPr lang="ko-KR" altLang="en-US" sz="2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장단점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8F70E4-DFEE-4511-913B-7856DD1CF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43" y="2164865"/>
            <a:ext cx="8618984" cy="22355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D05406-8570-4D33-8BF1-C4F493E14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43" y="4540011"/>
            <a:ext cx="8618984" cy="1931308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D5F59A1A-CB39-401C-8BDA-0B2A5B97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14.2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834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40303-748D-4F81-9D5C-CA2C4E4A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D64348-3697-4D51-9731-E976A1595D61}"/>
              </a:ext>
            </a:extLst>
          </p:cNvPr>
          <p:cNvSpPr txBox="1">
            <a:spLocks/>
          </p:cNvSpPr>
          <p:nvPr/>
        </p:nvSpPr>
        <p:spPr>
          <a:xfrm>
            <a:off x="371110" y="1784947"/>
            <a:ext cx="8643494" cy="4382939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영업사원이 자동차 재고를 저장하고 검색할 수 있는 애플리케이션을 원한다고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가정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auto">
              <a:spcAft>
                <a:spcPts val="0"/>
              </a:spcAft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처음에는 영업사원이 자동차 재고에서 흰색 자동차를 찾는 기능만 희망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다음날 자동차 가격이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만원 이하 자동차를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찾는 기능 추가 요구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이후 색상이 흰색이고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만원 이하 자동차 찾는 기능 추가 요구 등과 같이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빈번한 요구사항 변경에 부응하면서 최소한의 노력으로 구현 및 유지관리가 간단한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방법 필요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Aft>
                <a:spcPts val="0"/>
              </a:spcAft>
              <a:buNone/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auto">
              <a:spcAft>
                <a:spcPts val="0"/>
              </a:spcAft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이와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같이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고객의 빈번한 요구 사항 변경을 처리할 수 있기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위해서는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메서드에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무엇을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 것인지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것을 매개변수로 전달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6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동작매개 변수화 기법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필요 함</a:t>
            </a:r>
          </a:p>
        </p:txBody>
      </p:sp>
    </p:spTree>
    <p:extLst>
      <p:ext uri="{BB962C8B-B14F-4D97-AF65-F5344CB8AC3E}">
        <p14:creationId xmlns:p14="http://schemas.microsoft.com/office/powerpoint/2010/main" val="2919452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AC81F-0B01-48E4-BF15-FA5C051CC0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578224"/>
            <a:ext cx="8270748" cy="3244481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ko-KR" altLang="en-US" sz="3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동작매개변수화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(behavior parameterization) 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기법은 </a:t>
            </a:r>
            <a:endParaRPr lang="en-US" altLang="ko-KR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고객의 빈번한 요구 사항 변경을 처리할 수 있는 소프트웨어 개발 패턴이다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ko-KR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방법에서는 </a:t>
            </a:r>
            <a:r>
              <a:rPr lang="ko-KR" altLang="en-US" sz="3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요구를 담은 코드 블록을 생성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직접 인터페이스를 만들기 보다 자바가 제공하는 함수형 인터페이스를 사용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이것을 </a:t>
            </a:r>
            <a:r>
              <a:rPr lang="ko-KR" altLang="en-US" sz="3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메서드에 매개변수로 전달하는 기법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말한다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메서드에 데이터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전달하는 것이 아니라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무엇을 할지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행위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전달하는 것이다</a:t>
            </a:r>
            <a:r>
              <a:rPr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0C704C-2AEF-4BE8-AD4C-34D37114F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472" y="4304699"/>
            <a:ext cx="3881365" cy="2486626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50B8DA4-A658-4497-8F77-97056453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13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ADB21-9C4A-4897-8F5C-292CAEF4F2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735557"/>
            <a:ext cx="7993092" cy="1074317"/>
          </a:xfrm>
        </p:spPr>
        <p:txBody>
          <a:bodyPr>
            <a:no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재고 리스트에서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특정한 자동차를 선택하는 문제를 여러 가지 방법으로 구현하면서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예전의 방법과 최신의 방법을 비교해보자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A6E64F-BE6D-16AB-9000-84329F67D39B}"/>
              </a:ext>
            </a:extLst>
          </p:cNvPr>
          <p:cNvSpPr/>
          <p:nvPr/>
        </p:nvSpPr>
        <p:spPr>
          <a:xfrm>
            <a:off x="960904" y="3022154"/>
            <a:ext cx="7708463" cy="2318645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1" i="0" u="sng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private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i="0" u="sng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Car[ ] </a:t>
            </a:r>
            <a:r>
              <a:rPr lang="en-US" altLang="ko-KR" b="0" i="0" u="sng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carArray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=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Car(1,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"BENS SCLASS"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"BLACK"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11000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Car(2,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"BNW 9"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"BLUE"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8000),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Car(3,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"KEA 9"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"WHITE"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7000)</a:t>
            </a:r>
          </a:p>
          <a:p>
            <a:pPr marR="0" algn="l" rtl="0"/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endParaRPr lang="ko-KR" altLang="en-US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private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List&lt;Car&gt;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carArray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73B99E1-A105-4F85-9521-8B20C34B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8080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8F683-ECCD-40D2-93D6-AAB58DA51D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236851"/>
            <a:ext cx="7967283" cy="625111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우리는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filterWhiteCars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메소드를 작성하려고 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indent="0"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이 메소드는 흰색 자동차만을 추려서 리스트로 만들어서 반환하는 함수이다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4243A7-DB68-1A3C-98E1-99B61F636D90}"/>
              </a:ext>
            </a:extLst>
          </p:cNvPr>
          <p:cNvSpPr/>
          <p:nvPr/>
        </p:nvSpPr>
        <p:spPr>
          <a:xfrm>
            <a:off x="612648" y="3038320"/>
            <a:ext cx="7584141" cy="242047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List&lt;Car&gt; </a:t>
            </a:r>
            <a:r>
              <a:rPr lang="en-US" altLang="ko-KR" sz="1600" b="0" i="0" strike="noStrike" baseline="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filterWhiteCars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(List&lt;Car&gt; inventory) {</a:t>
            </a:r>
          </a:p>
          <a:p>
            <a:pPr marR="0" algn="l" rtl="0"/>
            <a:endParaRPr lang="en-US" altLang="ko-KR" sz="1600" b="0" i="0" u="sng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List&lt;Car&gt; result =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&lt;&gt;();                           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(Car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inventory){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600" b="0" i="0" u="none" strike="noStrike" baseline="0" dirty="0" err="1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WHITE"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.equals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car.getColor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()))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result.add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(car);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return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result;</a:t>
            </a:r>
          </a:p>
          <a:p>
            <a:pPr marR="0" algn="l" rtl="0"/>
            <a:r>
              <a:rPr lang="en-US" altLang="ko-KR" sz="1600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C1FF8D8-FD27-4EA6-8804-5D038D6D8532}"/>
              </a:ext>
            </a:extLst>
          </p:cNvPr>
          <p:cNvSpPr txBox="1">
            <a:spLocks/>
          </p:cNvSpPr>
          <p:nvPr/>
        </p:nvSpPr>
        <p:spPr>
          <a:xfrm>
            <a:off x="426531" y="1625269"/>
            <a:ext cx="8153400" cy="395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흰색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자동차만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리스트로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 경우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변수 없음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A3B5D8-FA16-413A-8B67-62A44CDF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098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8F683-ECCD-40D2-93D6-AAB58DA51D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988739"/>
            <a:ext cx="8153400" cy="392172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색상을 매개 변수화</a:t>
            </a:r>
            <a:r>
              <a:rPr lang="ko-KR" altLang="en-US" dirty="0"/>
              <a:t>하고 메소드에 색상을 나타내는 매개 변수를 추가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3A6BF6A-527E-4A53-9CDC-BC63A6BC9181}"/>
              </a:ext>
            </a:extLst>
          </p:cNvPr>
          <p:cNvSpPr txBox="1">
            <a:spLocks/>
          </p:cNvSpPr>
          <p:nvPr/>
        </p:nvSpPr>
        <p:spPr>
          <a:xfrm>
            <a:off x="441198" y="1553330"/>
            <a:ext cx="8496300" cy="395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흰색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외에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색상 등 추가 조건 원할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경우 대처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매개변수 추가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7A1264-F338-4A68-8C01-2571344F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66" y="2460927"/>
            <a:ext cx="7711834" cy="16839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DEC71C-2647-48A9-AC70-9FFB39734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67" y="4721707"/>
            <a:ext cx="7711834" cy="2080986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51CCF04-6A67-4AAA-B52A-0E8D525A9AF6}"/>
              </a:ext>
            </a:extLst>
          </p:cNvPr>
          <p:cNvSpPr txBox="1">
            <a:spLocks/>
          </p:cNvSpPr>
          <p:nvPr/>
        </p:nvSpPr>
        <p:spPr>
          <a:xfrm>
            <a:off x="716083" y="4357513"/>
            <a:ext cx="7711834" cy="39251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ko-KR" altLang="en-US" dirty="0"/>
              <a:t>가격</a:t>
            </a:r>
            <a:r>
              <a:rPr lang="en-US" altLang="ko-KR" dirty="0"/>
              <a:t> </a:t>
            </a:r>
            <a:r>
              <a:rPr lang="ko-KR" altLang="en-US" dirty="0"/>
              <a:t>조건을</a:t>
            </a:r>
            <a:r>
              <a:rPr lang="en-US" altLang="ko-KR" dirty="0"/>
              <a:t> </a:t>
            </a:r>
            <a:r>
              <a:rPr lang="ko-KR" altLang="en-US" dirty="0"/>
              <a:t>추가할</a:t>
            </a:r>
            <a:r>
              <a:rPr lang="en-US" altLang="ko-KR" dirty="0"/>
              <a:t> </a:t>
            </a:r>
            <a:r>
              <a:rPr lang="ko-KR" altLang="en-US" dirty="0"/>
              <a:t>경우 </a:t>
            </a:r>
            <a:r>
              <a:rPr lang="en-US" altLang="ko-KR" dirty="0"/>
              <a:t>, </a:t>
            </a:r>
            <a:r>
              <a:rPr lang="ko-KR" altLang="en-US" dirty="0"/>
              <a:t>매개 변수 추가   </a:t>
            </a:r>
            <a:r>
              <a:rPr lang="ko-KR" altLang="en-US" dirty="0">
                <a:solidFill>
                  <a:srgbClr val="0000FF"/>
                </a:solidFill>
                <a:sym typeface="Wingdings" panose="05000000000000000000" pitchFamily="2" charset="2"/>
              </a:rPr>
              <a:t> 좋은 해결책 아님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1A6B86E-CF84-469C-94AD-9BB43291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2284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0458D-FF57-43C0-96C5-D7F8889FC0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134" y="1871665"/>
            <a:ext cx="7973481" cy="6429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만약 우리가 원하는 동작을 함수로 전달하면 어떨까</a:t>
            </a:r>
            <a:r>
              <a:rPr lang="en-US" altLang="ko-KR" dirty="0"/>
              <a:t>? </a:t>
            </a:r>
            <a:r>
              <a:rPr lang="ko-KR" altLang="en-US" dirty="0"/>
              <a:t>가능한 방법은 자동차의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속성을 검사하여 </a:t>
            </a:r>
            <a:r>
              <a:rPr lang="en-US" altLang="ko-KR" dirty="0"/>
              <a:t>true, false</a:t>
            </a:r>
            <a:r>
              <a:rPr lang="ko-KR" altLang="en-US" dirty="0"/>
              <a:t>를 반환하는 함수를 작성하여 메소드로 전달하는 것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23FCE-0929-2F99-BC43-60DC4B1FCE89}"/>
              </a:ext>
            </a:extLst>
          </p:cNvPr>
          <p:cNvSpPr/>
          <p:nvPr/>
        </p:nvSpPr>
        <p:spPr>
          <a:xfrm>
            <a:off x="1091372" y="2670215"/>
            <a:ext cx="7584141" cy="2425952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sng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interface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CarPredicate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1" i="0" u="none" strike="noStrike" baseline="0" dirty="0" err="1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boolean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 (</a:t>
            </a:r>
            <a:r>
              <a:rPr lang="en-US" altLang="ko-KR" sz="1400" b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just" rtl="0"/>
            <a:endParaRPr lang="ko-KR" altLang="en-US" sz="14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List&lt;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filterCars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(List&lt;Car&gt; inventory,  </a:t>
            </a:r>
            <a:r>
              <a:rPr lang="en-US" altLang="ko-KR" sz="1400" b="1" i="0" u="none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CarPredicate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p)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List&lt;Car&gt; result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&lt;&gt;();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(Car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inventory)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p.test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(car))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result.add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(car);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return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result;</a:t>
            </a:r>
          </a:p>
          <a:p>
            <a:pPr marR="0" algn="l" rtl="0"/>
            <a:r>
              <a:rPr lang="en-US" altLang="ko-KR" sz="1400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16BE98-7617-4E52-94C2-2E923A8A1E01}"/>
              </a:ext>
            </a:extLst>
          </p:cNvPr>
          <p:cNvSpPr/>
          <p:nvPr/>
        </p:nvSpPr>
        <p:spPr>
          <a:xfrm>
            <a:off x="1091372" y="5157862"/>
            <a:ext cx="7584141" cy="1627714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whiteCheapPredicate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implements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CarPredicate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 err="1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boolean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test(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return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b="0" i="0" u="none" strike="noStrike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WHITE"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.equals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.getColor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)) &amp;&amp;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.getPrice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) &lt;= 5000;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400" b="0" i="0" u="sng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endParaRPr lang="en-US" altLang="ko-KR" sz="1400" b="0" i="0" u="sng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List&lt;Car&gt; </a:t>
            </a:r>
            <a:r>
              <a:rPr lang="en-US" altLang="ko-KR" sz="14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whiteCheapCars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0" i="0" strike="noStrike" baseline="0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filterCars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carList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whiteCheapPredicate</a:t>
            </a:r>
            <a:r>
              <a:rPr lang="en-US" altLang="ko-KR" sz="1400" b="1" i="0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)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58A9260-26C8-4254-8D6A-C335CF23BBA3}"/>
              </a:ext>
            </a:extLst>
          </p:cNvPr>
          <p:cNvSpPr txBox="1">
            <a:spLocks/>
          </p:cNvSpPr>
          <p:nvPr/>
        </p:nvSpPr>
        <p:spPr>
          <a:xfrm>
            <a:off x="417385" y="1476265"/>
            <a:ext cx="8543925" cy="395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메서드에 값만 넘겨주는 것이 아니라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블록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을인수로 넘겨주는 것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8EE4AFD-EB9F-4572-91B3-06CCB84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678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8EE4AFD-EB9F-4572-91B3-06CCB84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4182B76-DBD7-4B1F-BBAD-9340441E41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5065" y="1566866"/>
            <a:ext cx="7973481" cy="3190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dirty="0"/>
              <a:t>예제 </a:t>
            </a:r>
            <a:r>
              <a:rPr lang="en-US" altLang="ko-KR" sz="1600" dirty="0"/>
              <a:t>B)_</a:t>
            </a:r>
            <a:r>
              <a:rPr lang="ko-KR" altLang="en-US" sz="1600" b="1" dirty="0">
                <a:latin typeface="돋움" panose="020B0600000101010101" pitchFamily="50" charset="-127"/>
                <a:ea typeface="돋움" panose="020B0600000101010101" pitchFamily="50" charset="-127"/>
              </a:rPr>
              <a:t> 동작 매개 변수화</a:t>
            </a:r>
            <a:endParaRPr lang="ko-KR" altLang="en-US" sz="16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5D8F866-F073-4BEE-992A-7D652F9C6396}"/>
              </a:ext>
            </a:extLst>
          </p:cNvPr>
          <p:cNvSpPr txBox="1">
            <a:spLocks/>
          </p:cNvSpPr>
          <p:nvPr/>
        </p:nvSpPr>
        <p:spPr>
          <a:xfrm>
            <a:off x="335090" y="2176466"/>
            <a:ext cx="7973481" cy="2250276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&lt;</a:t>
            </a:r>
            <a:r>
              <a:rPr lang="ko-KR" altLang="en-US" sz="1600" b="1" dirty="0"/>
              <a:t> 예를 들어 학생 리스트가 있다고 가정 </a:t>
            </a:r>
            <a:r>
              <a:rPr lang="en-US" altLang="ko-KR" sz="1600" b="1" dirty="0"/>
              <a:t>&gt;</a:t>
            </a:r>
          </a:p>
          <a:p>
            <a:pPr lvl="1"/>
            <a:r>
              <a:rPr lang="ko-KR" altLang="en-US" sz="1600" dirty="0"/>
              <a:t>점수가 </a:t>
            </a:r>
            <a:r>
              <a:rPr lang="en-US" altLang="ko-KR" sz="1600" dirty="0"/>
              <a:t>80 </a:t>
            </a:r>
            <a:r>
              <a:rPr lang="ko-KR" altLang="en-US" sz="1600" dirty="0"/>
              <a:t>이상인 학생 출력 </a:t>
            </a:r>
          </a:p>
          <a:p>
            <a:pPr lvl="1"/>
            <a:r>
              <a:rPr lang="ko-KR" altLang="en-US" sz="1600" dirty="0"/>
              <a:t>이름이 </a:t>
            </a:r>
            <a:r>
              <a:rPr lang="en-US" altLang="ko-KR" sz="1600" dirty="0"/>
              <a:t>"</a:t>
            </a:r>
            <a:r>
              <a:rPr lang="ko-KR" altLang="en-US" sz="1600" dirty="0"/>
              <a:t>김</a:t>
            </a:r>
            <a:r>
              <a:rPr lang="en-US" altLang="ko-KR" sz="1600" dirty="0"/>
              <a:t>"</a:t>
            </a:r>
            <a:r>
              <a:rPr lang="ko-KR" altLang="en-US" sz="1600" dirty="0"/>
              <a:t>으로 시작하는 학생 출력 </a:t>
            </a:r>
          </a:p>
          <a:p>
            <a:pPr lvl="1"/>
            <a:r>
              <a:rPr lang="ko-KR" altLang="en-US" sz="1600" dirty="0"/>
              <a:t>나이가 </a:t>
            </a:r>
            <a:r>
              <a:rPr lang="en-US" altLang="ko-KR" sz="1600" dirty="0"/>
              <a:t>20 </a:t>
            </a:r>
            <a:r>
              <a:rPr lang="ko-KR" altLang="en-US" sz="1600" dirty="0"/>
              <a:t>이상인 학생 출력 </a:t>
            </a:r>
          </a:p>
          <a:p>
            <a:pPr marL="365760" lvl="1" indent="0">
              <a:buNone/>
            </a:pPr>
            <a:r>
              <a:rPr lang="ko-KR" altLang="en-US" sz="1600" dirty="0">
                <a:latin typeface="돋움" panose="020B0600000101010101" pitchFamily="50" charset="-127"/>
                <a:ea typeface="돋움" panose="020B0600000101010101" pitchFamily="50" charset="-127"/>
              </a:rPr>
              <a:t>⇒ </a:t>
            </a:r>
            <a:r>
              <a:rPr lang="ko-KR" altLang="en-US" sz="1600" dirty="0"/>
              <a:t>이런 요구마다 메서드를 따로 만들면</a:t>
            </a:r>
            <a:r>
              <a:rPr lang="en-US" altLang="ko-KR" sz="1600" dirty="0"/>
              <a:t>:</a:t>
            </a:r>
          </a:p>
          <a:p>
            <a:pPr marL="365760" lvl="1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printHighScoreStudents</a:t>
            </a:r>
            <a:r>
              <a:rPr lang="en-US" altLang="ko-KR" sz="1600" dirty="0"/>
              <a:t>()</a:t>
            </a:r>
            <a:br>
              <a:rPr lang="en-US" altLang="ko-KR" sz="1600" dirty="0"/>
            </a:br>
            <a:r>
              <a:rPr lang="en-US" altLang="ko-KR" sz="1600" dirty="0"/>
              <a:t>	</a:t>
            </a:r>
            <a:r>
              <a:rPr lang="en-US" altLang="ko-KR" sz="1600" dirty="0" err="1"/>
              <a:t>printAdultStudents</a:t>
            </a:r>
            <a:r>
              <a:rPr lang="en-US" altLang="ko-KR" sz="1600" dirty="0"/>
              <a:t>()</a:t>
            </a:r>
            <a:br>
              <a:rPr lang="en-US" altLang="ko-KR" sz="1600" dirty="0"/>
            </a:br>
            <a:r>
              <a:rPr lang="en-US" altLang="ko-KR" sz="1600" dirty="0"/>
              <a:t>	</a:t>
            </a:r>
            <a:r>
              <a:rPr lang="en-US" altLang="ko-KR" sz="1600" dirty="0" err="1"/>
              <a:t>printKimStudents</a:t>
            </a:r>
            <a:r>
              <a:rPr lang="en-US" altLang="ko-KR" sz="1600" dirty="0"/>
              <a:t>()        </a:t>
            </a:r>
            <a:r>
              <a:rPr lang="ko-KR" altLang="en-US" sz="1600" dirty="0"/>
              <a:t>메서드가 계속 증가</a:t>
            </a:r>
            <a:endParaRPr lang="en-US" altLang="ko-KR" sz="1600" dirty="0"/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endParaRPr lang="ko-KR" altLang="en-US" sz="1600" dirty="0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9B4B01BA-6C27-4B60-A8CE-64E11D7DB1B3}"/>
              </a:ext>
            </a:extLst>
          </p:cNvPr>
          <p:cNvSpPr/>
          <p:nvPr/>
        </p:nvSpPr>
        <p:spPr>
          <a:xfrm>
            <a:off x="3209925" y="4426742"/>
            <a:ext cx="266700" cy="290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9AC5E12-A2B9-4B3E-BFB0-843092AD416C}"/>
              </a:ext>
            </a:extLst>
          </p:cNvPr>
          <p:cNvSpPr txBox="1">
            <a:spLocks/>
          </p:cNvSpPr>
          <p:nvPr/>
        </p:nvSpPr>
        <p:spPr>
          <a:xfrm>
            <a:off x="1272443" y="4738691"/>
            <a:ext cx="6509481" cy="38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작업할지를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매개변수로 전달하자는 개념 등장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rgbClr val="0000FF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r>
              <a:rPr lang="en-US" altLang="ko-KR" sz="1600" b="1" dirty="0">
                <a:solidFill>
                  <a:srgbClr val="0000FF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2668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8EE4AFD-EB9F-4572-91B3-06CCB84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4182B76-DBD7-4B1F-BBAD-9340441E41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5065" y="1566866"/>
            <a:ext cx="7973481" cy="3190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600" dirty="0"/>
              <a:t>예제 </a:t>
            </a:r>
            <a:r>
              <a:rPr lang="en-US" altLang="ko-KR" sz="1600" dirty="0"/>
              <a:t>B)_</a:t>
            </a:r>
            <a:r>
              <a:rPr lang="ko-KR" altLang="en-US" sz="1600" b="1" dirty="0">
                <a:latin typeface="돋움" panose="020B0600000101010101" pitchFamily="50" charset="-127"/>
                <a:ea typeface="돋움" panose="020B0600000101010101" pitchFamily="50" charset="-127"/>
              </a:rPr>
              <a:t> 동작 매개 변수화</a:t>
            </a:r>
            <a:endParaRPr lang="ko-KR" altLang="en-US" sz="16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5D8F866-F073-4BEE-992A-7D652F9C6396}"/>
              </a:ext>
            </a:extLst>
          </p:cNvPr>
          <p:cNvSpPr txBox="1">
            <a:spLocks/>
          </p:cNvSpPr>
          <p:nvPr/>
        </p:nvSpPr>
        <p:spPr>
          <a:xfrm>
            <a:off x="296991" y="2508051"/>
            <a:ext cx="3503484" cy="2071683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class Student {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String name;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int score;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Student(String name, int score) {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this.name = name;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this.score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score;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}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7ABB689-57C5-41BF-A0BE-A1B08AB25BEF}"/>
              </a:ext>
            </a:extLst>
          </p:cNvPr>
          <p:cNvSpPr txBox="1">
            <a:spLocks/>
          </p:cNvSpPr>
          <p:nvPr/>
        </p:nvSpPr>
        <p:spPr>
          <a:xfrm>
            <a:off x="2167796" y="5008369"/>
            <a:ext cx="4541708" cy="319084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lvl="1" indent="0">
              <a:buNone/>
            </a:pPr>
            <a:r>
              <a:rPr lang="ko-KR" altLang="en-US" sz="1600" b="1" dirty="0">
                <a:latin typeface="돋움" panose="020B0600000101010101" pitchFamily="50" charset="-127"/>
                <a:ea typeface="돋움" panose="020B0600000101010101" pitchFamily="50" charset="-127"/>
              </a:rPr>
              <a:t>⇒ 조건이 바뀔 때마다 메서드 추가 필요</a:t>
            </a:r>
            <a:endParaRPr lang="ko-KR" altLang="en-US" sz="1600" b="1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41B815F-8C3C-4EDF-9FE4-B55181985AB2}"/>
              </a:ext>
            </a:extLst>
          </p:cNvPr>
          <p:cNvSpPr txBox="1">
            <a:spLocks/>
          </p:cNvSpPr>
          <p:nvPr/>
        </p:nvSpPr>
        <p:spPr>
          <a:xfrm>
            <a:off x="4267200" y="2436618"/>
            <a:ext cx="4498848" cy="2180031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public static void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printHighScore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(List&lt;Student&gt; list) {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for(Student s : list) {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if(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s.score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&gt;= 80) {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System.out.println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(s.name);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}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}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8C1F393-3A7A-4A1B-BE95-8BB6A10D8098}"/>
              </a:ext>
            </a:extLst>
          </p:cNvPr>
          <p:cNvSpPr txBox="1">
            <a:spLocks/>
          </p:cNvSpPr>
          <p:nvPr/>
        </p:nvSpPr>
        <p:spPr>
          <a:xfrm>
            <a:off x="230316" y="2022873"/>
            <a:ext cx="2817684" cy="421485"/>
          </a:xfrm>
          <a:prstGeom prst="rect">
            <a:avLst/>
          </a:prstGeom>
          <a:ln w="6350">
            <a:noFill/>
          </a:ln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전통적인 방식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비효율적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)&gt;</a:t>
            </a:r>
          </a:p>
        </p:txBody>
      </p:sp>
    </p:spTree>
    <p:extLst>
      <p:ext uri="{BB962C8B-B14F-4D97-AF65-F5344CB8AC3E}">
        <p14:creationId xmlns:p14="http://schemas.microsoft.com/office/powerpoint/2010/main" val="1398846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8EE4AFD-EB9F-4572-91B3-06CCB84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8C1F393-3A7A-4A1B-BE95-8BB6A10D8098}"/>
              </a:ext>
            </a:extLst>
          </p:cNvPr>
          <p:cNvSpPr txBox="1">
            <a:spLocks/>
          </p:cNvSpPr>
          <p:nvPr/>
        </p:nvSpPr>
        <p:spPr>
          <a:xfrm>
            <a:off x="211266" y="1574394"/>
            <a:ext cx="2817684" cy="291712"/>
          </a:xfrm>
          <a:prstGeom prst="rect">
            <a:avLst/>
          </a:prstGeom>
          <a:ln w="6350">
            <a:noFill/>
          </a:ln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동작 매개변수화 적용 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C85A7-4E38-4285-B5C4-6682113ECB09}"/>
              </a:ext>
            </a:extLst>
          </p:cNvPr>
          <p:cNvSpPr txBox="1"/>
          <p:nvPr/>
        </p:nvSpPr>
        <p:spPr>
          <a:xfrm>
            <a:off x="261746" y="1989531"/>
            <a:ext cx="395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 사용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B9309-2516-4575-8288-128609F67BB2}"/>
              </a:ext>
            </a:extLst>
          </p:cNvPr>
          <p:cNvSpPr txBox="1"/>
          <p:nvPr/>
        </p:nvSpPr>
        <p:spPr>
          <a:xfrm>
            <a:off x="3295267" y="1986618"/>
            <a:ext cx="3022855" cy="83099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interface </a:t>
            </a:r>
            <a:r>
              <a:rPr lang="en-US" altLang="ko-KR" sz="160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StudentCondition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boolean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test(Student s);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862A9-0F84-494F-900B-67268B9A0B0A}"/>
              </a:ext>
            </a:extLst>
          </p:cNvPr>
          <p:cNvSpPr txBox="1"/>
          <p:nvPr/>
        </p:nvSpPr>
        <p:spPr>
          <a:xfrm>
            <a:off x="261746" y="3216268"/>
            <a:ext cx="395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조건을 매개변수로 전달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35B72-0348-438A-8B33-FDEC6F9148BF}"/>
              </a:ext>
            </a:extLst>
          </p:cNvPr>
          <p:cNvSpPr txBox="1"/>
          <p:nvPr/>
        </p:nvSpPr>
        <p:spPr>
          <a:xfrm>
            <a:off x="612648" y="3585033"/>
            <a:ext cx="8153400" cy="181588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public static void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printStudents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(List&lt;Student&gt; list, </a:t>
            </a:r>
            <a:r>
              <a:rPr lang="en-US" altLang="ko-KR" sz="160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StudentCondition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condition) {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for(Student s : list) {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if(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condition.test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(s)) {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System.out.println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(s.name);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}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}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520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8EE4AFD-EB9F-4572-91B3-06CCB84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C85A7-4E38-4285-B5C4-6682113ECB09}"/>
              </a:ext>
            </a:extLst>
          </p:cNvPr>
          <p:cNvSpPr txBox="1"/>
          <p:nvPr/>
        </p:nvSpPr>
        <p:spPr>
          <a:xfrm>
            <a:off x="176021" y="1660900"/>
            <a:ext cx="395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24F0D-5753-45F4-BF7E-4DB69B6CEFCE}"/>
              </a:ext>
            </a:extLst>
          </p:cNvPr>
          <p:cNvSpPr txBox="1"/>
          <p:nvPr/>
        </p:nvSpPr>
        <p:spPr>
          <a:xfrm>
            <a:off x="644269" y="2077827"/>
            <a:ext cx="3737231" cy="13234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List&lt;Student&gt; list = </a:t>
            </a:r>
            <a:r>
              <a:rPr lang="en-US" altLang="ko-KR" sz="1600" dirty="0" err="1"/>
              <a:t>Arrays.asList</a:t>
            </a:r>
            <a:r>
              <a:rPr lang="en-US" altLang="ko-KR" sz="1600" dirty="0"/>
              <a:t>(</a:t>
            </a:r>
            <a:br>
              <a:rPr lang="en-US" altLang="ko-KR" sz="1600" dirty="0"/>
            </a:br>
            <a:r>
              <a:rPr lang="en-US" altLang="ko-KR" sz="1600" dirty="0"/>
              <a:t>    new Student("Kim", 90),</a:t>
            </a:r>
            <a:br>
              <a:rPr lang="en-US" altLang="ko-KR" sz="1600" dirty="0"/>
            </a:br>
            <a:r>
              <a:rPr lang="en-US" altLang="ko-KR" sz="1600" dirty="0"/>
              <a:t>    new Student("Lee", 70),</a:t>
            </a:r>
            <a:br>
              <a:rPr lang="en-US" altLang="ko-KR" sz="1600" dirty="0"/>
            </a:br>
            <a:r>
              <a:rPr lang="en-US" altLang="ko-KR" sz="1600" dirty="0"/>
              <a:t>    new Student("Park", 85)</a:t>
            </a:r>
            <a:br>
              <a:rPr lang="en-US" altLang="ko-KR" sz="1600" dirty="0"/>
            </a:br>
            <a:r>
              <a:rPr lang="en-US" altLang="ko-KR" sz="1600" dirty="0"/>
              <a:t>);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9778F-C704-4071-8925-67C027E8200A}"/>
              </a:ext>
            </a:extLst>
          </p:cNvPr>
          <p:cNvSpPr txBox="1"/>
          <p:nvPr/>
        </p:nvSpPr>
        <p:spPr>
          <a:xfrm>
            <a:off x="407571" y="3734627"/>
            <a:ext cx="225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80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 학생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4102D-A2F0-4F18-8EDF-321294E31ED4}"/>
              </a:ext>
            </a:extLst>
          </p:cNvPr>
          <p:cNvSpPr txBox="1"/>
          <p:nvPr/>
        </p:nvSpPr>
        <p:spPr>
          <a:xfrm>
            <a:off x="745804" y="4146195"/>
            <a:ext cx="3826196" cy="33855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printStudents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(list, s -&gt;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s.score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&gt;= 80);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11414A5-6AB3-4AB0-B783-E68114C0914F}"/>
              </a:ext>
            </a:extLst>
          </p:cNvPr>
          <p:cNvGrpSpPr/>
          <p:nvPr/>
        </p:nvGrpSpPr>
        <p:grpSpPr>
          <a:xfrm>
            <a:off x="5508304" y="4062116"/>
            <a:ext cx="1192245" cy="523948"/>
            <a:chOff x="745804" y="4612491"/>
            <a:chExt cx="1192245" cy="52394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2DC3A5B-B968-4A78-8A66-015D60C6C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804" y="4673152"/>
              <a:ext cx="638252" cy="30261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DA4B034-DE6D-4C1B-BEEB-0137B18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443" y="4612491"/>
              <a:ext cx="671606" cy="523948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04BE2B-2C74-4F91-9875-6F2B1A6EC218}"/>
              </a:ext>
            </a:extLst>
          </p:cNvPr>
          <p:cNvSpPr txBox="1"/>
          <p:nvPr/>
        </p:nvSpPr>
        <p:spPr>
          <a:xfrm>
            <a:off x="407571" y="5058232"/>
            <a:ext cx="225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이름이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k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ADEF0-0D2F-43F4-B5DE-B44FCDF9512F}"/>
              </a:ext>
            </a:extLst>
          </p:cNvPr>
          <p:cNvSpPr txBox="1"/>
          <p:nvPr/>
        </p:nvSpPr>
        <p:spPr>
          <a:xfrm>
            <a:off x="745804" y="5469800"/>
            <a:ext cx="4511996" cy="33855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printStudents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(list, s -&gt;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s.name.startsWith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("K"));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B4829E-BE3F-4CC1-918A-77B784A9E0AC}"/>
              </a:ext>
            </a:extLst>
          </p:cNvPr>
          <p:cNvGrpSpPr/>
          <p:nvPr/>
        </p:nvGrpSpPr>
        <p:grpSpPr>
          <a:xfrm>
            <a:off x="5508304" y="5430474"/>
            <a:ext cx="1056795" cy="334434"/>
            <a:chOff x="5508304" y="5430474"/>
            <a:chExt cx="1056795" cy="33443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8D03D44-93DB-4297-84DB-FC2A10C68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8304" y="5446382"/>
              <a:ext cx="638252" cy="30261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5523718-272D-4A73-A53A-5E0D24183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28943" y="5430474"/>
              <a:ext cx="536156" cy="3344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0877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EBE0592-59CD-1BD5-DE06-3BD0A617D8AE}"/>
              </a:ext>
            </a:extLst>
          </p:cNvPr>
          <p:cNvSpPr/>
          <p:nvPr/>
        </p:nvSpPr>
        <p:spPr>
          <a:xfrm>
            <a:off x="888224" y="2807321"/>
            <a:ext cx="7584141" cy="1875625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>
              <a:lnSpc>
                <a:spcPct val="150000"/>
              </a:lnSpc>
            </a:pP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List&lt;Car&gt; </a:t>
            </a:r>
            <a:r>
              <a:rPr lang="en-US" altLang="ko-KR" sz="14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whiteCars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0" i="0" strike="noStrike" baseline="0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filterCars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carList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CarPredicate</a:t>
            </a:r>
            <a:r>
              <a:rPr lang="en-US" altLang="ko-KR" sz="1400" b="1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{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</a:p>
          <a:p>
            <a:pPr marR="0" algn="l" rtl="0">
              <a:lnSpc>
                <a:spcPct val="15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 err="1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boolean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test(Car car){</a:t>
            </a:r>
          </a:p>
          <a:p>
            <a:pPr marR="0" algn="l" rtl="0">
              <a:lnSpc>
                <a:spcPct val="15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return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WHITE"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.equals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car.getColor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  <a:p>
            <a:pPr marR="0" algn="l" rtl="0">
              <a:lnSpc>
                <a:spcPct val="150000"/>
              </a:lnSpc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>
              <a:lnSpc>
                <a:spcPct val="150000"/>
              </a:lnSpc>
            </a:pPr>
            <a:r>
              <a:rPr lang="en-US" altLang="ko-KR" sz="14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});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6AF32F-8595-4C92-ABDF-1265F288C8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42043" y="2144979"/>
            <a:ext cx="8296935" cy="395400"/>
          </a:xfrm>
        </p:spPr>
        <p:txBody>
          <a:bodyPr>
            <a:normAutofit/>
          </a:bodyPr>
          <a:lstStyle/>
          <a:p>
            <a:r>
              <a:rPr lang="ko-KR" altLang="en-US" dirty="0"/>
              <a:t>다음코드는 </a:t>
            </a:r>
            <a:r>
              <a:rPr lang="en-US" altLang="ko-KR" dirty="0" err="1"/>
              <a:t>CarPredicate</a:t>
            </a:r>
            <a:r>
              <a:rPr lang="en-US" altLang="ko-KR" dirty="0"/>
              <a:t> </a:t>
            </a:r>
            <a:r>
              <a:rPr lang="ko-KR" altLang="en-US" dirty="0"/>
              <a:t>익명클래스를 사용하여 객체를 만들고 필터링 예제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5C72249-1DD8-47C1-A3FA-566C5280F4E6}"/>
              </a:ext>
            </a:extLst>
          </p:cNvPr>
          <p:cNvSpPr txBox="1">
            <a:spLocks/>
          </p:cNvSpPr>
          <p:nvPr/>
        </p:nvSpPr>
        <p:spPr>
          <a:xfrm>
            <a:off x="469113" y="1639227"/>
            <a:ext cx="8153400" cy="395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익명클래스를 사용하여 클래스를 선언함과 동시에 인스턴스화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D2527F3-262C-45FA-BDB6-350928E8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4198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DEDAE96-0546-9998-329C-A47C1DC14F9E}"/>
              </a:ext>
            </a:extLst>
          </p:cNvPr>
          <p:cNvSpPr/>
          <p:nvPr/>
        </p:nvSpPr>
        <p:spPr>
          <a:xfrm>
            <a:off x="825246" y="2632299"/>
            <a:ext cx="8084337" cy="571725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List&lt;Car&gt; 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whiteCars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 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filterCars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carList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(Car car) -&gt; </a:t>
            </a:r>
            <a:r>
              <a:rPr lang="en-US" altLang="ko-KR" sz="1600" b="0" i="0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600" b="0" i="0" strike="noStrike" baseline="0" dirty="0" err="1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WHITE"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.equals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car.getColor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()));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63780E-1E20-23A3-4EA6-9DAF54871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55" y="3966262"/>
            <a:ext cx="6416242" cy="217736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6C652D8-32C4-495D-9DD3-E8B0E1057B8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40880" y="2135763"/>
            <a:ext cx="8296935" cy="395400"/>
          </a:xfrm>
        </p:spPr>
        <p:txBody>
          <a:bodyPr>
            <a:normAutofit/>
          </a:bodyPr>
          <a:lstStyle/>
          <a:p>
            <a:r>
              <a:rPr lang="ko-KR" altLang="en-US" dirty="0"/>
              <a:t>람다식으로 </a:t>
            </a:r>
            <a:r>
              <a:rPr lang="ko-KR" altLang="en-US" dirty="0" err="1"/>
              <a:t>표현시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0000FF"/>
                </a:solidFill>
              </a:rPr>
              <a:t>함수형 인터페이스</a:t>
            </a:r>
            <a:r>
              <a:rPr lang="ko-KR" altLang="en-US" dirty="0"/>
              <a:t> 반드시 필요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1D5A9A5-B108-489D-A0C4-F40CB92F8386}"/>
              </a:ext>
            </a:extLst>
          </p:cNvPr>
          <p:cNvSpPr txBox="1">
            <a:spLocks/>
          </p:cNvSpPr>
          <p:nvPr/>
        </p:nvSpPr>
        <p:spPr>
          <a:xfrm>
            <a:off x="469113" y="1639227"/>
            <a:ext cx="8440470" cy="395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람다식을 이용해 작성한 경우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AA6D3F8-527B-44B7-B14B-42B9F51D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ko-KR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14.3 </a:t>
            </a:r>
            <a:r>
              <a:rPr lang="ko-KR" altLang="en-US" sz="4000" b="1" dirty="0">
                <a:latin typeface="돋움" panose="020B0600000101010101" pitchFamily="50" charset="-127"/>
                <a:ea typeface="돋움" panose="020B0600000101010101" pitchFamily="50" charset="-127"/>
              </a:rPr>
              <a:t>동작 매개 변수화</a:t>
            </a:r>
            <a:b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sz="3600" b="1" dirty="0">
                <a:latin typeface="돋움" panose="020B0600000101010101" pitchFamily="50" charset="-127"/>
                <a:ea typeface="돋움" panose="020B0600000101010101" pitchFamily="50" charset="-127"/>
              </a:rPr>
              <a:t>        </a:t>
            </a:r>
            <a:r>
              <a:rPr lang="en-US" altLang="ko-KR" sz="3600" dirty="0">
                <a:latin typeface="돋움" panose="020B0600000101010101" pitchFamily="50" charset="-127"/>
                <a:ea typeface="돋움" panose="020B0600000101010101" pitchFamily="50" charset="-127"/>
              </a:rPr>
              <a:t>(behavior parameterization)</a:t>
            </a:r>
            <a:endParaRPr lang="ko-KR" altLang="en-US" sz="36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9914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0A84F-DAE6-4E2A-8864-D365955E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2258293-096D-477E-9204-A12536E3843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788520"/>
            <a:ext cx="8153400" cy="1322172"/>
          </a:xfrm>
        </p:spPr>
      </p:pic>
    </p:spTree>
    <p:extLst>
      <p:ext uri="{BB962C8B-B14F-4D97-AF65-F5344CB8AC3E}">
        <p14:creationId xmlns:p14="http://schemas.microsoft.com/office/powerpoint/2010/main" val="302330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3D3AE-8E54-49D0-81A7-39C9A854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D225-2B12-4D2E-99CA-B7C838F236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2169" y="1721571"/>
            <a:ext cx="8676581" cy="789904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람다식을 올바르게 컴파일하려면 반드시 함수형 인터페이스가 정의되어야 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선언된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추상메서드를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구현하는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방식으로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81A50-082A-4638-885E-C985D44A3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48" y="3087586"/>
            <a:ext cx="6235505" cy="245919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46C4DE86-A023-4D7C-8E13-3EBEA6755D8E}"/>
              </a:ext>
            </a:extLst>
          </p:cNvPr>
          <p:cNvSpPr txBox="1">
            <a:spLocks/>
          </p:cNvSpPr>
          <p:nvPr/>
        </p:nvSpPr>
        <p:spPr>
          <a:xfrm>
            <a:off x="862814" y="5679907"/>
            <a:ext cx="7418544" cy="7899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ko-KR" altLang="en-US" dirty="0"/>
              <a:t>람다식을 사용하려면</a:t>
            </a:r>
            <a:r>
              <a:rPr lang="en-US" altLang="ko-KR" dirty="0"/>
              <a:t>,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누군가가 먼저 </a:t>
            </a:r>
            <a:r>
              <a:rPr lang="ko-KR" altLang="en-US" b="1" dirty="0">
                <a:solidFill>
                  <a:srgbClr val="0066FF"/>
                </a:solidFill>
              </a:rPr>
              <a:t>람다식을 위한 함수형 인터페이스를 정의</a:t>
            </a:r>
            <a:r>
              <a:rPr lang="ko-KR" altLang="en-US" dirty="0"/>
              <a:t>하여야 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007732-8254-4E84-AC40-E6482569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59" y="2575662"/>
            <a:ext cx="676369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74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E3A2D9F-94F0-3E92-6FA4-AACB2FBE1FF4}"/>
              </a:ext>
            </a:extLst>
          </p:cNvPr>
          <p:cNvSpPr/>
          <p:nvPr/>
        </p:nvSpPr>
        <p:spPr>
          <a:xfrm>
            <a:off x="779929" y="2609232"/>
            <a:ext cx="7584141" cy="404308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0" i="0" u="sng" strike="noStrike" baseline="0" dirty="0">
                <a:solidFill>
                  <a:srgbClr val="646464"/>
                </a:solidFill>
                <a:latin typeface="Century Schoolbook" panose="02040604050505020304" pitchFamily="18" charset="0"/>
              </a:rPr>
              <a:t>@</a:t>
            </a:r>
            <a:r>
              <a:rPr lang="en-US" altLang="ko-KR" sz="1400" b="0" i="0" u="none" strike="noStrike" baseline="0" dirty="0">
                <a:solidFill>
                  <a:srgbClr val="646464"/>
                </a:solidFill>
                <a:latin typeface="Century Schoolbook" panose="02040604050505020304" pitchFamily="18" charset="0"/>
              </a:rPr>
              <a:t>FunctionalInterface</a:t>
            </a:r>
          </a:p>
          <a:p>
            <a:pPr algn="l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interface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MyMath</a:t>
            </a:r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calculate(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</a:t>
            </a:r>
          </a:p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sng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Test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[])    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value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9;</a:t>
            </a:r>
          </a:p>
          <a:p>
            <a:pPr marR="0" algn="l" rtl="0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MyMath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)-&gt;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*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x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l" rtl="0"/>
            <a:r>
              <a:rPr lang="es-E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s-E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es-E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s-E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y</a:t>
            </a:r>
            <a:r>
              <a:rPr lang="es-E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s-E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s</a:t>
            </a:r>
            <a:r>
              <a:rPr lang="es-E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.calculate(</a:t>
            </a:r>
            <a:r>
              <a:rPr lang="es-E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value</a:t>
            </a:r>
            <a:r>
              <a:rPr lang="es-E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6D60B28E-43CF-9721-72E6-5A9C2151AD59}"/>
              </a:ext>
            </a:extLst>
          </p:cNvPr>
          <p:cNvSpPr/>
          <p:nvPr/>
        </p:nvSpPr>
        <p:spPr>
          <a:xfrm>
            <a:off x="4778188" y="2313396"/>
            <a:ext cx="1470212" cy="8516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1447"/>
              <a:gd name="adj6" fmla="val -1478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함수형</a:t>
            </a:r>
            <a:r>
              <a:rPr lang="en-US" altLang="ko-KR" dirty="0"/>
              <a:t> </a:t>
            </a:r>
            <a:r>
              <a:rPr lang="ko-KR" altLang="en-US" dirty="0"/>
              <a:t>인터페이스</a:t>
            </a:r>
          </a:p>
        </p:txBody>
      </p:sp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0BF3AACE-5E13-76DA-FD5F-2BF7F3BCFBC7}"/>
              </a:ext>
            </a:extLst>
          </p:cNvPr>
          <p:cNvSpPr/>
          <p:nvPr/>
        </p:nvSpPr>
        <p:spPr>
          <a:xfrm>
            <a:off x="5665693" y="4769726"/>
            <a:ext cx="2554941" cy="8516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5131"/>
              <a:gd name="adj6" fmla="val -86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람다식은 </a:t>
            </a:r>
            <a:r>
              <a:rPr lang="en-US" altLang="ko-KR" dirty="0" err="1"/>
              <a:t>MyMath</a:t>
            </a:r>
            <a:r>
              <a:rPr lang="en-US" altLang="ko-KR" dirty="0"/>
              <a:t> </a:t>
            </a:r>
            <a:r>
              <a:rPr lang="ko-KR" altLang="en-US" dirty="0"/>
              <a:t>인터페이스의 인스턴스가 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05E15-2605-4273-A43F-CF4606FF422D}"/>
              </a:ext>
            </a:extLst>
          </p:cNvPr>
          <p:cNvSpPr txBox="1"/>
          <p:nvPr/>
        </p:nvSpPr>
        <p:spPr>
          <a:xfrm>
            <a:off x="437262" y="1677648"/>
            <a:ext cx="68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예제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: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함수형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인터페이스와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 err="1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람다식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F110318-8B9E-45FE-B0CC-D42F4C0A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4198775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CB6B89-B7CB-44E2-82AB-EDF5992E3D9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345335"/>
            <a:ext cx="8153400" cy="703055"/>
          </a:xfrm>
        </p:spPr>
        <p:txBody>
          <a:bodyPr/>
          <a:lstStyle/>
          <a:p>
            <a:r>
              <a:rPr lang="ko-KR" altLang="en-US" dirty="0"/>
              <a:t>자바에서는 많이 사용되는 함수형 인터페이스는 </a:t>
            </a:r>
            <a:r>
              <a:rPr lang="en-US" altLang="ko-KR" dirty="0" err="1"/>
              <a:t>java.util.function</a:t>
            </a:r>
            <a:r>
              <a:rPr lang="en-US" altLang="ko-KR" dirty="0"/>
              <a:t> </a:t>
            </a:r>
            <a:r>
              <a:rPr lang="ko-KR" altLang="en-US" dirty="0" err="1"/>
              <a:t>패키지로제공한다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1CD589-E30A-4FC4-98DB-A8E2F5B20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5" y="3192858"/>
            <a:ext cx="8239260" cy="3362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02561-EB7A-4942-9CDE-73BE822C0E1F}"/>
              </a:ext>
            </a:extLst>
          </p:cNvPr>
          <p:cNvSpPr txBox="1"/>
          <p:nvPr/>
        </p:nvSpPr>
        <p:spPr>
          <a:xfrm>
            <a:off x="437262" y="1677648"/>
            <a:ext cx="68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미리 만들어져 있는 함수형 인터페이스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C9B7D3A-75E5-443E-BC71-152443D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3022262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7C9B7D3A-75E5-443E-BC71-152443D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2404680E-2101-400C-A22F-6C4360184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223" y="1681434"/>
            <a:ext cx="540397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자주 사용되는 다양한 함수형 인터페이스 제공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10" name="그룹 51">
            <a:extLst>
              <a:ext uri="{FF2B5EF4-FFF2-40B4-BE49-F238E27FC236}">
                <a16:creationId xmlns:a16="http://schemas.microsoft.com/office/drawing/2014/main" id="{C2026816-8CE4-4900-A8E3-BA5295D9FDB1}"/>
              </a:ext>
            </a:extLst>
          </p:cNvPr>
          <p:cNvGrpSpPr/>
          <p:nvPr/>
        </p:nvGrpSpPr>
        <p:grpSpPr>
          <a:xfrm>
            <a:off x="961451" y="5400675"/>
            <a:ext cx="6922074" cy="1268411"/>
            <a:chOff x="752303" y="5695603"/>
            <a:chExt cx="4052636" cy="1303150"/>
          </a:xfrm>
          <a:solidFill>
            <a:srgbClr val="E8F1CD"/>
          </a:solidFill>
        </p:grpSpPr>
        <p:sp>
          <p:nvSpPr>
            <p:cNvPr id="11" name="모서리가 둥근 직사각형 30">
              <a:extLst>
                <a:ext uri="{FF2B5EF4-FFF2-40B4-BE49-F238E27FC236}">
                  <a16:creationId xmlns:a16="http://schemas.microsoft.com/office/drawing/2014/main" id="{D2D5147F-C018-4B69-BF24-1C4E8DFF6424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F63232B-E71F-4A78-AEF1-2629931E5D1B}"/>
                </a:ext>
              </a:extLst>
            </p:cNvPr>
            <p:cNvSpPr/>
            <p:nvPr/>
          </p:nvSpPr>
          <p:spPr>
            <a:xfrm>
              <a:off x="807741" y="5763223"/>
              <a:ext cx="3961531" cy="1144220"/>
            </a:xfrm>
            <a:prstGeom prst="rect">
              <a:avLst/>
            </a:prstGeom>
            <a:grpFill/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Predicate&lt;String&gt;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isEmptyStr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= s -&gt;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()==0;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String s = "";</a:t>
              </a:r>
            </a:p>
            <a:p>
              <a:pPr>
                <a:spcBef>
                  <a:spcPts val="0"/>
                </a:spcBef>
              </a:pP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if(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isEmptyStr.</a:t>
              </a:r>
              <a:r>
                <a:rPr lang="en-US" sz="14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(s)) // if(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()==0)</a:t>
              </a:r>
            </a:p>
            <a:p>
              <a:pPr>
                <a:spcBef>
                  <a:spcPts val="0"/>
                </a:spcBef>
              </a:pP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    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("This is an empty String.");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CE6C905-4D3E-49B3-8E25-0814E1C91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44" y="2124346"/>
            <a:ext cx="6846360" cy="3111297"/>
          </a:xfrm>
          <a:prstGeom prst="rect">
            <a:avLst/>
          </a:prstGeom>
        </p:spPr>
      </p:pic>
      <p:sp>
        <p:nvSpPr>
          <p:cNvPr id="14" name="Text Box 19">
            <a:extLst>
              <a:ext uri="{FF2B5EF4-FFF2-40B4-BE49-F238E27FC236}">
                <a16:creationId xmlns:a16="http://schemas.microsoft.com/office/drawing/2014/main" id="{9908CB8B-6F54-4A9D-9EEB-E4EA3DF04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4447" y="1422302"/>
            <a:ext cx="35633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 </a:t>
            </a:r>
            <a:r>
              <a:rPr lang="en-US" altLang="ko-KR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java.util.function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54C61E-4C4D-487B-86EB-4D17DCA3D98A}"/>
              </a:ext>
            </a:extLst>
          </p:cNvPr>
          <p:cNvCxnSpPr/>
          <p:nvPr/>
        </p:nvCxnSpPr>
        <p:spPr>
          <a:xfrm>
            <a:off x="1276350" y="5667375"/>
            <a:ext cx="1800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33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7C9B7D3A-75E5-443E-BC71-152443D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C7D46F86-B1EB-4E74-A7CF-2EF5D30AF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128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매개변수가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 함수형 인터페이스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51">
            <a:extLst>
              <a:ext uri="{FF2B5EF4-FFF2-40B4-BE49-F238E27FC236}">
                <a16:creationId xmlns:a16="http://schemas.microsoft.com/office/drawing/2014/main" id="{101C20E9-C7CE-416E-B6EF-C381428730D8}"/>
              </a:ext>
            </a:extLst>
          </p:cNvPr>
          <p:cNvGrpSpPr/>
          <p:nvPr/>
        </p:nvGrpSpPr>
        <p:grpSpPr>
          <a:xfrm>
            <a:off x="863588" y="4776763"/>
            <a:ext cx="6826763" cy="1460524"/>
            <a:chOff x="752303" y="5695603"/>
            <a:chExt cx="4052636" cy="1303150"/>
          </a:xfrm>
          <a:solidFill>
            <a:srgbClr val="E8F1CD"/>
          </a:solidFill>
        </p:grpSpPr>
        <p:sp>
          <p:nvSpPr>
            <p:cNvPr id="16" name="모서리가 둥근 직사각형 30">
              <a:extLst>
                <a:ext uri="{FF2B5EF4-FFF2-40B4-BE49-F238E27FC236}">
                  <a16:creationId xmlns:a16="http://schemas.microsoft.com/office/drawing/2014/main" id="{82459A12-B7DD-4545-90D7-56C50A889A37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F6F34CC-1E60-4B47-8CB3-855DA678F6B3}"/>
                </a:ext>
              </a:extLst>
            </p:cNvPr>
            <p:cNvSpPr/>
            <p:nvPr/>
          </p:nvSpPr>
          <p:spPr>
            <a:xfrm>
              <a:off x="807741" y="5763226"/>
              <a:ext cx="3961531" cy="1170369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  @FunctionalInterface</a:t>
              </a:r>
            </a:p>
            <a:p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  interface </a:t>
              </a:r>
              <a:r>
                <a:rPr lang="fr-FR" sz="14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Tri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Function&lt;</a:t>
              </a:r>
              <a:r>
                <a:rPr lang="fr-FR" sz="14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T,U,V</a:t>
              </a:r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,R&gt; {</a:t>
              </a:r>
            </a:p>
            <a:p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     R apply(T t, U u, V v);</a:t>
              </a:r>
            </a:p>
            <a:p>
              <a:r>
                <a:rPr lang="fr-FR" sz="1400" b="1" dirty="0">
                  <a:latin typeface="Courier New" pitchFamily="49" charset="0"/>
                  <a:cs typeface="Courier New" pitchFamily="49" charset="0"/>
                </a:rPr>
                <a:t>  }</a:t>
              </a: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A60F625-6A67-41C2-8717-42782680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51" y="2224086"/>
            <a:ext cx="7681537" cy="2302368"/>
          </a:xfrm>
          <a:prstGeom prst="rect">
            <a:avLst/>
          </a:prstGeom>
        </p:spPr>
      </p:pic>
      <p:sp>
        <p:nvSpPr>
          <p:cNvPr id="19" name="Text Box 19">
            <a:extLst>
              <a:ext uri="{FF2B5EF4-FFF2-40B4-BE49-F238E27FC236}">
                <a16:creationId xmlns:a16="http://schemas.microsoft.com/office/drawing/2014/main" id="{7DEAAE21-EF73-48F5-9F76-109AD3E1C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1462580"/>
            <a:ext cx="35194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 </a:t>
            </a:r>
            <a:r>
              <a:rPr lang="en-US" altLang="ko-KR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java.util.function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0E4B8-46A4-4D6C-96E4-18A32502D6DA}"/>
              </a:ext>
            </a:extLst>
          </p:cNvPr>
          <p:cNvSpPr txBox="1"/>
          <p:nvPr/>
        </p:nvSpPr>
        <p:spPr>
          <a:xfrm>
            <a:off x="5367165" y="5268899"/>
            <a:ext cx="266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</a:t>
            </a:r>
            <a:r>
              <a:rPr lang="ko-KR" altLang="en-US" sz="1400" dirty="0"/>
              <a:t>매개변수가 </a:t>
            </a:r>
            <a:r>
              <a:rPr lang="en-US" altLang="ko-KR" sz="1400" dirty="0"/>
              <a:t>3</a:t>
            </a:r>
            <a:r>
              <a:rPr lang="ko-KR" altLang="en-US" sz="1400" dirty="0"/>
              <a:t>개 일 경우는 작성 후 사용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98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DF0D73-C3BA-4FEF-A81F-0346130005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2250" y="2451202"/>
            <a:ext cx="8648701" cy="1439960"/>
          </a:xfrm>
        </p:spPr>
        <p:txBody>
          <a:bodyPr>
            <a:noAutofit/>
          </a:bodyPr>
          <a:lstStyle/>
          <a:p>
            <a:r>
              <a:rPr lang="en-US" altLang="ko-KR" dirty="0"/>
              <a:t>Function&lt;T, R&gt; </a:t>
            </a:r>
            <a:r>
              <a:rPr lang="ko-KR" altLang="en-US" dirty="0"/>
              <a:t>인터페이스는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특정 객체를 받아서 특정 객체를 반환하는 추상 인터페이스이다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추상 메소드 </a:t>
            </a:r>
            <a:r>
              <a:rPr lang="en-US" altLang="ko-KR" dirty="0"/>
              <a:t>apply()</a:t>
            </a:r>
            <a:r>
              <a:rPr lang="ko-KR" altLang="en-US" dirty="0"/>
              <a:t>는 </a:t>
            </a:r>
            <a:r>
              <a:rPr lang="en-US" altLang="ko-KR" dirty="0"/>
              <a:t>T </a:t>
            </a:r>
            <a:r>
              <a:rPr lang="ko-KR" altLang="en-US" dirty="0"/>
              <a:t>타입의 객체를 입력으로 하고 </a:t>
            </a:r>
            <a:r>
              <a:rPr lang="en-US" altLang="ko-KR" dirty="0"/>
              <a:t>R </a:t>
            </a:r>
            <a:r>
              <a:rPr lang="ko-KR" altLang="en-US" dirty="0"/>
              <a:t>타입의 객체를 반환한다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다음과 같이 정의되어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F2DEF2-7260-33D0-3968-06526DEECC5A}"/>
              </a:ext>
            </a:extLst>
          </p:cNvPr>
          <p:cNvSpPr/>
          <p:nvPr/>
        </p:nvSpPr>
        <p:spPr>
          <a:xfrm>
            <a:off x="728306" y="4238510"/>
            <a:ext cx="4187303" cy="11602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646464"/>
                </a:solidFill>
                <a:latin typeface="Century Schoolbook" panose="02040604050505020304" pitchFamily="18" charset="0"/>
              </a:rPr>
              <a:t>@FunctionalInterface</a:t>
            </a:r>
          </a:p>
          <a:p>
            <a:pPr marR="0" algn="l" rtl="0"/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interface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Function&lt;T, R&gt; {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R apply(T </a:t>
            </a:r>
            <a:r>
              <a:rPr lang="en-US" altLang="ko-KR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D09D8D-A14C-15A4-3582-45816303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27" y="3930801"/>
            <a:ext cx="3734782" cy="1775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56BBCB-A620-47EE-89A5-01ECC2FE7319}"/>
              </a:ext>
            </a:extLst>
          </p:cNvPr>
          <p:cNvSpPr txBox="1"/>
          <p:nvPr/>
        </p:nvSpPr>
        <p:spPr>
          <a:xfrm>
            <a:off x="281986" y="1646553"/>
            <a:ext cx="68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Function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인터페이스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C478A91-22C8-46B0-A2AF-A5E2BED94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3408752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80D77BE-1BE1-3F81-AA99-7435BC71EAD6}"/>
              </a:ext>
            </a:extLst>
          </p:cNvPr>
          <p:cNvSpPr/>
          <p:nvPr/>
        </p:nvSpPr>
        <p:spPr>
          <a:xfrm>
            <a:off x="914400" y="1926562"/>
            <a:ext cx="7518678" cy="32631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fr-FR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fr-FR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java.util.function.Function;</a:t>
            </a:r>
          </a:p>
          <a:p>
            <a:pPr marR="0" algn="l" rtl="0"/>
            <a:endParaRPr lang="en-US" altLang="ko-KR" sz="16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endParaRPr lang="ko-KR" altLang="en-US" sz="16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FunctionTest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600" b="0" i="0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rtl="0"/>
            <a:endParaRPr lang="ko-KR" altLang="en-US" sz="16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sv-SE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Function&lt;Integer, Integer&gt;  </a:t>
            </a:r>
            <a:r>
              <a:rPr lang="sv-SE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r>
              <a:rPr lang="sv-SE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=  </a:t>
            </a:r>
            <a:r>
              <a:rPr lang="sv-SE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sv-SE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-&gt;  </a:t>
            </a:r>
            <a:r>
              <a:rPr lang="sv-SE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lang="sv-SE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*4;  </a:t>
            </a:r>
          </a:p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.apply(3));</a:t>
            </a:r>
          </a:p>
          <a:p>
            <a:pPr marR="0" algn="l" rtl="0"/>
            <a:endParaRPr lang="ko-KR" altLang="en-US" sz="16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Function&lt;String, Integer&gt; </a:t>
            </a:r>
            <a:r>
              <a:rPr lang="en-US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f2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-&gt; </a:t>
            </a:r>
            <a:r>
              <a:rPr lang="en-US" altLang="ko-KR" sz="1600" b="0" i="0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.length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 </a:t>
            </a:r>
          </a:p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f2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.apply(</a:t>
            </a:r>
            <a:r>
              <a:rPr lang="en-US" altLang="ko-KR" sz="1600" b="0" i="0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"Hello"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));</a:t>
            </a:r>
          </a:p>
          <a:p>
            <a:pPr marR="0" algn="l" rtl="0"/>
            <a:r>
              <a:rPr lang="ko-KR" altLang="en-US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6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E7CDA3CC-6288-D928-39B7-0500C7E27D81}"/>
              </a:ext>
            </a:extLst>
          </p:cNvPr>
          <p:cNvSpPr/>
          <p:nvPr/>
        </p:nvSpPr>
        <p:spPr>
          <a:xfrm>
            <a:off x="6515447" y="3070578"/>
            <a:ext cx="2329134" cy="1033742"/>
          </a:xfrm>
          <a:prstGeom prst="borderCallout2">
            <a:avLst>
              <a:gd name="adj1" fmla="val 16907"/>
              <a:gd name="adj2" fmla="val -1790"/>
              <a:gd name="adj3" fmla="val 18750"/>
              <a:gd name="adj4" fmla="val -16667"/>
              <a:gd name="adj5" fmla="val 46336"/>
              <a:gd name="adj6" fmla="val -40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람다식을 함수형 인터페이스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Function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변수에 저장한다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D39439-8CE1-9F56-92F1-384EECC5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21" y="5213195"/>
            <a:ext cx="3283579" cy="1416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B97B1-4A83-45AC-91B4-6495A7245FAE}"/>
              </a:ext>
            </a:extLst>
          </p:cNvPr>
          <p:cNvSpPr txBox="1"/>
          <p:nvPr/>
        </p:nvSpPr>
        <p:spPr>
          <a:xfrm>
            <a:off x="437434" y="1469220"/>
            <a:ext cx="2064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예제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: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5F84368-A67D-42B4-83CF-E3657B94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A23B71-D85B-4E8B-913B-D39956E37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449" y="5308726"/>
            <a:ext cx="2462501" cy="84737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330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3C58C-84FB-4CA5-AABB-546666D00D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7" y="2428334"/>
            <a:ext cx="8153400" cy="685800"/>
          </a:xfrm>
        </p:spPr>
        <p:txBody>
          <a:bodyPr/>
          <a:lstStyle/>
          <a:p>
            <a:r>
              <a:rPr lang="en-US" altLang="ko-KR" dirty="0"/>
              <a:t>Predicate </a:t>
            </a:r>
            <a:r>
              <a:rPr lang="ko-KR" altLang="en-US" dirty="0"/>
              <a:t>인터페이스는 단일 값을 매개 변수로 사용하고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true </a:t>
            </a:r>
            <a:r>
              <a:rPr lang="ko-KR" altLang="en-US" dirty="0"/>
              <a:t>또는 </a:t>
            </a:r>
            <a:r>
              <a:rPr lang="en-US" altLang="ko-KR" dirty="0"/>
              <a:t>false</a:t>
            </a:r>
            <a:r>
              <a:rPr lang="ko-KR" altLang="en-US" dirty="0"/>
              <a:t>를 반환하는 간단한 함수를 나타낸다</a:t>
            </a:r>
            <a:r>
              <a:rPr lang="en-US" altLang="ko-KR" dirty="0"/>
              <a:t>. </a:t>
            </a:r>
            <a:r>
              <a:rPr lang="ko-KR" altLang="en-US" dirty="0"/>
              <a:t>다음과 같이 사용할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C92AD2-2433-182D-AD39-B90FD5244FE7}"/>
              </a:ext>
            </a:extLst>
          </p:cNvPr>
          <p:cNvSpPr/>
          <p:nvPr/>
        </p:nvSpPr>
        <p:spPr>
          <a:xfrm>
            <a:off x="897277" y="3859218"/>
            <a:ext cx="7584141" cy="59167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it-IT" altLang="ko-KR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Predicate  predicate  =  (v)  -&gt;  v != null;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B67A5-2CB9-4A52-A417-E411C9102D46}"/>
              </a:ext>
            </a:extLst>
          </p:cNvPr>
          <p:cNvSpPr txBox="1"/>
          <p:nvPr/>
        </p:nvSpPr>
        <p:spPr>
          <a:xfrm>
            <a:off x="281986" y="1684152"/>
            <a:ext cx="68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Predicate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인터페이스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76C0F73-2286-4145-823A-466BC9AD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  <p:grpSp>
        <p:nvGrpSpPr>
          <p:cNvPr id="9" name="그룹 51">
            <a:extLst>
              <a:ext uri="{FF2B5EF4-FFF2-40B4-BE49-F238E27FC236}">
                <a16:creationId xmlns:a16="http://schemas.microsoft.com/office/drawing/2014/main" id="{84D37A53-1987-4554-B66B-40AC12BBD292}"/>
              </a:ext>
            </a:extLst>
          </p:cNvPr>
          <p:cNvGrpSpPr/>
          <p:nvPr/>
        </p:nvGrpSpPr>
        <p:grpSpPr>
          <a:xfrm>
            <a:off x="897276" y="4803508"/>
            <a:ext cx="7584141" cy="1511895"/>
            <a:chOff x="752303" y="5695603"/>
            <a:chExt cx="4052636" cy="1303150"/>
          </a:xfrm>
          <a:solidFill>
            <a:srgbClr val="E8F1CD"/>
          </a:solidFill>
        </p:grpSpPr>
        <p:sp>
          <p:nvSpPr>
            <p:cNvPr id="10" name="모서리가 둥근 직사각형 30">
              <a:extLst>
                <a:ext uri="{FF2B5EF4-FFF2-40B4-BE49-F238E27FC236}">
                  <a16:creationId xmlns:a16="http://schemas.microsoft.com/office/drawing/2014/main" id="{A480BC9E-5F21-407E-A388-365C35AF37E8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3DCC9E0-3409-4BCF-B45B-3E8E98AC0EEA}"/>
                </a:ext>
              </a:extLst>
            </p:cNvPr>
            <p:cNvSpPr/>
            <p:nvPr/>
          </p:nvSpPr>
          <p:spPr>
            <a:xfrm>
              <a:off x="807741" y="5763223"/>
              <a:ext cx="3961531" cy="1144220"/>
            </a:xfrm>
            <a:prstGeom prst="rect">
              <a:avLst/>
            </a:prstGeom>
            <a:grpFill/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Predicate&lt;String&gt;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isEmptyStr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= s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()==0;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String s = "";</a:t>
              </a:r>
            </a:p>
            <a:p>
              <a:pPr>
                <a:spcBef>
                  <a:spcPts val="0"/>
                </a:spcBef>
              </a:pP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spcBef>
                  <a:spcPts val="0"/>
                </a:spcBef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if(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isEmptyStr.</a:t>
              </a:r>
              <a:r>
                <a:rPr lang="en-US" sz="16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test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(s)) // if(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s.length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()==0)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System.out.println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("This is an empty String.");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56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3C58C-84FB-4CA5-AABB-546666D00D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540476"/>
            <a:ext cx="8153400" cy="685800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/>
              <a:t>BiFunction</a:t>
            </a:r>
            <a:r>
              <a:rPr lang="ko-KR" altLang="en-US" dirty="0"/>
              <a:t>은 두 개의 인수를 취하고 하나의 객체를 반환하는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함수형 인터페이스이다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8F594E-4A9F-CD76-E435-7CB45C2BC299}"/>
              </a:ext>
            </a:extLst>
          </p:cNvPr>
          <p:cNvSpPr/>
          <p:nvPr/>
        </p:nvSpPr>
        <p:spPr>
          <a:xfrm>
            <a:off x="1016644" y="3459641"/>
            <a:ext cx="7584141" cy="1631577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&lt;Integer, Integer, Integer&gt;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(x1, x2) -&gt; x1 + x2;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Integer result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func.apply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(1, 2);</a:t>
            </a:r>
          </a:p>
          <a:p>
            <a:pPr marR="0" algn="l" rtl="0"/>
            <a:endParaRPr lang="ko-KR" altLang="en-US" sz="16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&lt;Integer, Integer, Double&gt; func1 = (x1, x2) -&gt;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Math.pow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(x1, x2);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Double result2 = func1.apply(10, 2);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35C50-A6F1-49F0-A426-2023C9D54045}"/>
              </a:ext>
            </a:extLst>
          </p:cNvPr>
          <p:cNvSpPr txBox="1"/>
          <p:nvPr/>
        </p:nvSpPr>
        <p:spPr>
          <a:xfrm>
            <a:off x="348661" y="1638964"/>
            <a:ext cx="684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en-US" altLang="ko-KR" sz="2800" b="1" dirty="0" err="1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BiFunction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인터페이스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845C537-FC17-4DC0-9680-37E35262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함수형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61503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FC795-5E4C-4884-98AB-E2CF950FA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8E0B91D-718E-41AA-9FF3-27CC5BCBBC2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782679"/>
            <a:ext cx="8153400" cy="1549005"/>
          </a:xfrm>
        </p:spPr>
      </p:pic>
    </p:spTree>
    <p:extLst>
      <p:ext uri="{BB962C8B-B14F-4D97-AF65-F5344CB8AC3E}">
        <p14:creationId xmlns:p14="http://schemas.microsoft.com/office/powerpoint/2010/main" val="2541588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B3EA55-6989-4D89-98C1-1A9361740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59" y="4019550"/>
            <a:ext cx="6807377" cy="23711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C4299E-A2A6-41E4-8647-3459EBA4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1143C-8623-4E8E-96EB-276655B82D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2148" y="1557057"/>
            <a:ext cx="8153400" cy="4495800"/>
          </a:xfrm>
        </p:spPr>
        <p:txBody>
          <a:bodyPr/>
          <a:lstStyle/>
          <a:p>
            <a:r>
              <a:rPr lang="ko-KR" altLang="en-US" dirty="0"/>
              <a:t>익명 클래스를 사용하는 대신 람다식을 사용할 수 있다는 것을 알고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 때로는 람다식이 실제로는 메소드에 대한 호출일 뿐이다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아래의 람다식이 하는 일은 단지 </a:t>
            </a:r>
            <a:r>
              <a:rPr lang="en-US" altLang="ko-KR" dirty="0" err="1"/>
              <a:t>println</a:t>
            </a:r>
            <a:r>
              <a:rPr lang="en-US" altLang="ko-KR" dirty="0"/>
              <a:t>() </a:t>
            </a:r>
            <a:r>
              <a:rPr lang="ko-KR" altLang="en-US" dirty="0"/>
              <a:t>호출이다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5FE8EC-3FCB-418B-BA54-BFAFA3654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3" y="2577353"/>
            <a:ext cx="7337429" cy="751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394B5-67D1-48C3-895F-DE2D2EC4666D}"/>
              </a:ext>
            </a:extLst>
          </p:cNvPr>
          <p:cNvSpPr txBox="1"/>
          <p:nvPr/>
        </p:nvSpPr>
        <p:spPr>
          <a:xfrm>
            <a:off x="764685" y="3568976"/>
            <a:ext cx="7810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메서드만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호출하는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참조로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간단히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있다</a:t>
            </a:r>
          </a:p>
        </p:txBody>
      </p:sp>
    </p:spTree>
    <p:extLst>
      <p:ext uri="{BB962C8B-B14F-4D97-AF65-F5344CB8AC3E}">
        <p14:creationId xmlns:p14="http://schemas.microsoft.com/office/powerpoint/2010/main" val="7670569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23140D1-29B2-47C8-AF8C-090F1670CC7B}"/>
              </a:ext>
            </a:extLst>
          </p:cNvPr>
          <p:cNvSpPr txBox="1"/>
          <p:nvPr/>
        </p:nvSpPr>
        <p:spPr>
          <a:xfrm>
            <a:off x="445889" y="1513746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메서드 참조의 형식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8D5A2AE1-9471-4748-B23A-4B55629E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B086D27-E15E-44C1-8C8E-14AD3B51A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34" y="4577696"/>
            <a:ext cx="4612166" cy="20517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E8EDFD-9AC3-427A-A96B-A2E525FE7C1F}"/>
              </a:ext>
            </a:extLst>
          </p:cNvPr>
          <p:cNvSpPr txBox="1"/>
          <p:nvPr/>
        </p:nvSpPr>
        <p:spPr>
          <a:xfrm>
            <a:off x="793277" y="2080096"/>
            <a:ext cx="8350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메서드만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호출하는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람다식은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참조로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간단히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562600-B736-43BB-9135-D0CFAFC3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934" y="2680107"/>
            <a:ext cx="5272556" cy="169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92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479C3F5-CCE3-4ECF-8758-B3B2AB45656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24612" y="2036966"/>
            <a:ext cx="7292952" cy="459243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66BDAC-5187-4BDD-AE32-618CE179D14C}"/>
              </a:ext>
            </a:extLst>
          </p:cNvPr>
          <p:cNvSpPr txBox="1"/>
          <p:nvPr/>
        </p:nvSpPr>
        <p:spPr>
          <a:xfrm>
            <a:off x="445889" y="1513746"/>
            <a:ext cx="7887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익명클래스에서 메서드 참조까지의 발전사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BFB37E61-E656-4CF8-93CB-B5ECC5D6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</p:spTree>
    <p:extLst>
      <p:ext uri="{BB962C8B-B14F-4D97-AF65-F5344CB8AC3E}">
        <p14:creationId xmlns:p14="http://schemas.microsoft.com/office/powerpoint/2010/main" val="17243517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3B3A1-A480-4F9F-9F21-92958F510A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02454"/>
            <a:ext cx="8153400" cy="1189505"/>
          </a:xfrm>
        </p:spPr>
        <p:txBody>
          <a:bodyPr/>
          <a:lstStyle/>
          <a:p>
            <a:r>
              <a:rPr lang="ko-KR" altLang="en-US" dirty="0"/>
              <a:t>메소드 참조도 코드 블록을 전달하는 </a:t>
            </a:r>
            <a:r>
              <a:rPr lang="ko-KR" altLang="en-US" dirty="0" err="1"/>
              <a:t>동작매개변수화의</a:t>
            </a:r>
            <a:r>
              <a:rPr lang="ko-KR" altLang="en-US" dirty="0"/>
              <a:t> 한 방법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코드 블록이 하는 일이 단지 메소드 </a:t>
            </a:r>
            <a:r>
              <a:rPr lang="ko-KR" altLang="en-US" dirty="0" err="1"/>
              <a:t>호출뿐</a:t>
            </a:r>
            <a:r>
              <a:rPr lang="ko-KR" altLang="en-US" dirty="0"/>
              <a:t> 이라면 간단하게 해당 메소드만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보내자는 것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E225E7-A6E9-4DFA-BAE6-8C8D12A7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90" y="3591959"/>
            <a:ext cx="8198381" cy="2662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991942-3F45-4527-B787-D73F5E7CD263}"/>
              </a:ext>
            </a:extLst>
          </p:cNvPr>
          <p:cNvSpPr txBox="1"/>
          <p:nvPr/>
        </p:nvSpPr>
        <p:spPr>
          <a:xfrm>
            <a:off x="437262" y="1677648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람다식과 메서드 참조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438F8914-FDA0-4AFB-95E7-BF248153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</p:spTree>
    <p:extLst>
      <p:ext uri="{BB962C8B-B14F-4D97-AF65-F5344CB8AC3E}">
        <p14:creationId xmlns:p14="http://schemas.microsoft.com/office/powerpoint/2010/main" val="4002643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F47610B-3637-4A8E-A6EE-6BE02D41000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16493" y="2360887"/>
            <a:ext cx="8665388" cy="257342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EFBE27-D0A6-466C-B4BD-2E0AE6E1D62F}"/>
              </a:ext>
            </a:extLst>
          </p:cNvPr>
          <p:cNvSpPr txBox="1"/>
          <p:nvPr/>
        </p:nvSpPr>
        <p:spPr>
          <a:xfrm>
            <a:off x="247482" y="1703526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메서드 참조의 종류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1F5BD29E-C09C-4F48-B64F-3DC45336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</p:spTree>
    <p:extLst>
      <p:ext uri="{BB962C8B-B14F-4D97-AF65-F5344CB8AC3E}">
        <p14:creationId xmlns:p14="http://schemas.microsoft.com/office/powerpoint/2010/main" val="33110480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A1AA6-CF64-4583-B115-F292537336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3501602"/>
            <a:ext cx="8153400" cy="395258"/>
          </a:xfrm>
        </p:spPr>
        <p:txBody>
          <a:bodyPr/>
          <a:lstStyle/>
          <a:p>
            <a:r>
              <a:rPr lang="ko-KR" altLang="en-US" dirty="0"/>
              <a:t>람다식이 왼쪽과 같은 형태일 때</a:t>
            </a:r>
            <a:r>
              <a:rPr lang="en-US" altLang="ko-KR" dirty="0"/>
              <a:t>, </a:t>
            </a:r>
            <a:r>
              <a:rPr lang="ko-KR" altLang="en-US" dirty="0"/>
              <a:t>오른쪽처럼 변환할 수 있다</a:t>
            </a:r>
            <a:r>
              <a:rPr lang="en-US" altLang="ko-KR" dirty="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8963A1-683E-8053-F726-3E28E8EEB556}"/>
              </a:ext>
            </a:extLst>
          </p:cNvPr>
          <p:cNvSpPr/>
          <p:nvPr/>
        </p:nvSpPr>
        <p:spPr>
          <a:xfrm>
            <a:off x="1001263" y="4345340"/>
            <a:ext cx="3879857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-&gt;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ClassName.staticMethod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19467D-EC2D-C77F-0F3F-96BE35BFDA12}"/>
              </a:ext>
            </a:extLst>
          </p:cNvPr>
          <p:cNvSpPr/>
          <p:nvPr/>
        </p:nvSpPr>
        <p:spPr>
          <a:xfrm>
            <a:off x="5256210" y="4355828"/>
            <a:ext cx="3541055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ClassName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::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staticMethod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C71F54-C3F1-3BE1-6E8D-CEABD9963020}"/>
              </a:ext>
            </a:extLst>
          </p:cNvPr>
          <p:cNvSpPr/>
          <p:nvPr/>
        </p:nvSpPr>
        <p:spPr>
          <a:xfrm>
            <a:off x="1001263" y="5011337"/>
            <a:ext cx="3879858" cy="44466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list.forEach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 -&gt;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StringUtils.capitalize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(s));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FE9DA8-A080-A73D-6339-DF3E3FD53384}"/>
              </a:ext>
            </a:extLst>
          </p:cNvPr>
          <p:cNvSpPr/>
          <p:nvPr/>
        </p:nvSpPr>
        <p:spPr>
          <a:xfrm>
            <a:off x="5256211" y="5032294"/>
            <a:ext cx="3541055" cy="44466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list.forEach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StringUtils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::capitalize);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D60F0A8-0D42-B040-0388-F4EC4C5E511B}"/>
              </a:ext>
            </a:extLst>
          </p:cNvPr>
          <p:cNvSpPr/>
          <p:nvPr/>
        </p:nvSpPr>
        <p:spPr>
          <a:xfrm>
            <a:off x="4971575" y="4388470"/>
            <a:ext cx="195609" cy="444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270D161-02AA-8322-416B-2A972586DDFD}"/>
              </a:ext>
            </a:extLst>
          </p:cNvPr>
          <p:cNvSpPr/>
          <p:nvPr/>
        </p:nvSpPr>
        <p:spPr>
          <a:xfrm>
            <a:off x="4964229" y="5012457"/>
            <a:ext cx="195609" cy="444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7FEFE-4DDB-2D62-2CD2-3CE9C7B179CA}"/>
              </a:ext>
            </a:extLst>
          </p:cNvPr>
          <p:cNvSpPr txBox="1"/>
          <p:nvPr/>
        </p:nvSpPr>
        <p:spPr>
          <a:xfrm>
            <a:off x="420010" y="504900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6C880-4C44-4C19-A032-25C5A6AB8AE7}"/>
              </a:ext>
            </a:extLst>
          </p:cNvPr>
          <p:cNvSpPr txBox="1"/>
          <p:nvPr/>
        </p:nvSpPr>
        <p:spPr>
          <a:xfrm>
            <a:off x="420010" y="1772538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정적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메서드 참조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1561AAB-9685-482D-BA62-ADD43762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50B917B-1D55-4A4C-8200-89E36D28A12D}"/>
              </a:ext>
            </a:extLst>
          </p:cNvPr>
          <p:cNvSpPr txBox="1">
            <a:spLocks/>
          </p:cNvSpPr>
          <p:nvPr/>
        </p:nvSpPr>
        <p:spPr>
          <a:xfrm>
            <a:off x="906372" y="5493665"/>
            <a:ext cx="6670562" cy="39525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ko-KR" altLang="en-US" dirty="0"/>
              <a:t>문자열이 저장된 리스트 </a:t>
            </a:r>
            <a:r>
              <a:rPr lang="en-US" altLang="ko-KR" dirty="0"/>
              <a:t>list</a:t>
            </a:r>
            <a:r>
              <a:rPr lang="ko-KR" altLang="en-US" dirty="0"/>
              <a:t>를 대문자로 변환하여 출력하는 예</a:t>
            </a:r>
            <a:endParaRPr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3121E41-5CA7-42C9-9B3E-B3E789DB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349217"/>
            <a:ext cx="7886779" cy="89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8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168E20-3EBF-89BC-67E7-4B29C07F3319}"/>
              </a:ext>
            </a:extLst>
          </p:cNvPr>
          <p:cNvSpPr/>
          <p:nvPr/>
        </p:nvSpPr>
        <p:spPr>
          <a:xfrm>
            <a:off x="779929" y="2562034"/>
            <a:ext cx="7584141" cy="3526256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java.util.function.BiFunction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endParaRPr lang="ko-KR" altLang="en-US" sz="15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Calculator {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add(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return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r>
              <a:rPr lang="ko-KR" altLang="en-US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endParaRPr lang="ko-KR" altLang="en-US" sz="1500" b="0" i="0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 {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500" b="0" i="0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rtl="0"/>
            <a:r>
              <a:rPr lang="sv-SE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sv-SE" altLang="ko-KR" sz="1500" b="0" i="0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BiFunction</a:t>
            </a:r>
            <a:r>
              <a:rPr lang="sv-SE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&lt;Integer, Integer, Integer&gt; </a:t>
            </a:r>
            <a:r>
              <a:rPr lang="sv-SE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</a:t>
            </a:r>
            <a:r>
              <a:rPr lang="sv-SE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Calculator</a:t>
            </a:r>
            <a:r>
              <a:rPr lang="sv-SE" altLang="ko-KR" sz="1500" b="0" i="0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::</a:t>
            </a:r>
            <a:r>
              <a:rPr lang="sv-SE" altLang="ko-KR" sz="1500" b="0" i="1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</a:t>
            </a:r>
            <a:r>
              <a:rPr lang="sv-SE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en-US" altLang="ko-KR" sz="1500" b="1" i="0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500" b="0" i="0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</a:t>
            </a:r>
            <a:r>
              <a:rPr lang="en-US" altLang="ko-KR" sz="15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.apply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(10, 20);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en-US" altLang="ko-KR" sz="15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500" b="1" i="1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500" b="0" i="0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0" i="0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500" b="0" i="0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주어진 수의 덧셈</a:t>
            </a:r>
            <a:r>
              <a:rPr lang="en-US" altLang="ko-KR" sz="1500" b="0" i="0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500" b="0" i="0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ko-KR" altLang="en-US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500" b="0" i="0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836515-2005-6EFB-A0BA-030111A3CED3}"/>
              </a:ext>
            </a:extLst>
          </p:cNvPr>
          <p:cNvSpPr/>
          <p:nvPr/>
        </p:nvSpPr>
        <p:spPr>
          <a:xfrm>
            <a:off x="779929" y="6276548"/>
            <a:ext cx="7584141" cy="443427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주어진 수의 덧셈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30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CBDD2-EC18-41A0-A8BD-CFEE6884D793}"/>
              </a:ext>
            </a:extLst>
          </p:cNvPr>
          <p:cNvSpPr txBox="1"/>
          <p:nvPr/>
        </p:nvSpPr>
        <p:spPr>
          <a:xfrm>
            <a:off x="359625" y="1553530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예제</a:t>
            </a:r>
            <a:r>
              <a:rPr lang="en-US" altLang="ko-KR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)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49059233-571A-4586-A494-EBC92609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D251017-8884-4FCF-82D8-3EDB0F7FB8D2}"/>
              </a:ext>
            </a:extLst>
          </p:cNvPr>
          <p:cNvSpPr txBox="1">
            <a:spLocks/>
          </p:cNvSpPr>
          <p:nvPr/>
        </p:nvSpPr>
        <p:spPr>
          <a:xfrm>
            <a:off x="673459" y="2121763"/>
            <a:ext cx="6670562" cy="395258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ko-KR" altLang="en-US" dirty="0"/>
              <a:t>메서드 참조를 변수에 저장할 경우</a:t>
            </a:r>
            <a:r>
              <a:rPr lang="en-US" altLang="ko-KR" dirty="0"/>
              <a:t>, </a:t>
            </a:r>
            <a:r>
              <a:rPr lang="ko-KR" altLang="en-US" dirty="0"/>
              <a:t>함수형 인터페이스 사용 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60431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A4A56B3-CB4C-1962-51F0-AF7612B9E6F3}"/>
              </a:ext>
            </a:extLst>
          </p:cNvPr>
          <p:cNvSpPr/>
          <p:nvPr/>
        </p:nvSpPr>
        <p:spPr>
          <a:xfrm>
            <a:off x="942728" y="3397146"/>
            <a:ext cx="3541055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-&gt;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obj.instanceMethod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C6E23F-5546-241F-2499-468E91DC99E7}"/>
              </a:ext>
            </a:extLst>
          </p:cNvPr>
          <p:cNvSpPr/>
          <p:nvPr/>
        </p:nvSpPr>
        <p:spPr>
          <a:xfrm>
            <a:off x="4858873" y="3399008"/>
            <a:ext cx="3541055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 ::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instanceMethod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6BCC36-7A49-D8E0-616D-8231ECAFAE8A}"/>
              </a:ext>
            </a:extLst>
          </p:cNvPr>
          <p:cNvSpPr/>
          <p:nvPr/>
        </p:nvSpPr>
        <p:spPr>
          <a:xfrm>
            <a:off x="2210607" y="3975976"/>
            <a:ext cx="4957482" cy="2311108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 class Test {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static void print(Supplier&lt;Integer&gt; f) {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System.out.println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f.get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}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public static void main(String[]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String s = "Hello World!";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print(s::length);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}</a:t>
            </a:r>
          </a:p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849DB9B-9247-0D0E-9D22-D80125EDAEF6}"/>
              </a:ext>
            </a:extLst>
          </p:cNvPr>
          <p:cNvSpPr/>
          <p:nvPr/>
        </p:nvSpPr>
        <p:spPr>
          <a:xfrm>
            <a:off x="4574238" y="3397146"/>
            <a:ext cx="195609" cy="444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1F107-67E6-C070-0429-28ABD49CB0B6}"/>
              </a:ext>
            </a:extLst>
          </p:cNvPr>
          <p:cNvSpPr txBox="1"/>
          <p:nvPr/>
        </p:nvSpPr>
        <p:spPr>
          <a:xfrm>
            <a:off x="1382670" y="395521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C32CB5A9-21B3-AC6D-D9AB-03F2ED7689A2}"/>
              </a:ext>
            </a:extLst>
          </p:cNvPr>
          <p:cNvSpPr/>
          <p:nvPr/>
        </p:nvSpPr>
        <p:spPr>
          <a:xfrm>
            <a:off x="6404471" y="6110106"/>
            <a:ext cx="2344271" cy="618565"/>
          </a:xfrm>
          <a:prstGeom prst="borderCallout2">
            <a:avLst>
              <a:gd name="adj1" fmla="val 15670"/>
              <a:gd name="adj2" fmla="val -1426"/>
              <a:gd name="adj3" fmla="val 12591"/>
              <a:gd name="adj4" fmla="val -15042"/>
              <a:gd name="adj5" fmla="val -56327"/>
              <a:gd name="adj6" fmla="val -654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()-&gt;</a:t>
            </a:r>
            <a:r>
              <a:rPr lang="en-US" altLang="ko-KR" dirty="0" err="1"/>
              <a:t>s.length</a:t>
            </a:r>
            <a:r>
              <a:rPr lang="en-US" altLang="ko-KR" dirty="0"/>
              <a:t>() </a:t>
            </a:r>
            <a:r>
              <a:rPr lang="ko-KR" altLang="en-US" dirty="0" err="1"/>
              <a:t>람다식</a:t>
            </a:r>
            <a:r>
              <a:rPr lang="en-US" altLang="ko-KR" dirty="0"/>
              <a:t>  </a:t>
            </a:r>
            <a:r>
              <a:rPr lang="ko-KR" altLang="en-US" dirty="0"/>
              <a:t>표현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1A8D666-902F-AF33-AF3B-DEA3D2B144C0}"/>
              </a:ext>
            </a:extLst>
          </p:cNvPr>
          <p:cNvSpPr/>
          <p:nvPr/>
        </p:nvSpPr>
        <p:spPr>
          <a:xfrm>
            <a:off x="1860176" y="3364504"/>
            <a:ext cx="358589" cy="477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C0BC10-B380-FE6A-55AA-0C7D529F8BAF}"/>
              </a:ext>
            </a:extLst>
          </p:cNvPr>
          <p:cNvSpPr/>
          <p:nvPr/>
        </p:nvSpPr>
        <p:spPr>
          <a:xfrm>
            <a:off x="4953759" y="3374325"/>
            <a:ext cx="358589" cy="477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B03EB062-7DF8-448B-BD2A-8451C27F4B36}"/>
              </a:ext>
            </a:extLst>
          </p:cNvPr>
          <p:cNvSpPr txBox="1">
            <a:spLocks/>
          </p:cNvSpPr>
          <p:nvPr/>
        </p:nvSpPr>
        <p:spPr>
          <a:xfrm>
            <a:off x="595342" y="221804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02EEF-3135-43C1-8B7A-DBE02800C621}"/>
              </a:ext>
            </a:extLst>
          </p:cNvPr>
          <p:cNvSpPr txBox="1"/>
          <p:nvPr/>
        </p:nvSpPr>
        <p:spPr>
          <a:xfrm>
            <a:off x="297453" y="1696141"/>
            <a:ext cx="8426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외부에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정의된 특정 객체의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인스턴스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60F5C80-4617-48DE-ABFD-9CAFE3A9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79" y="2186758"/>
            <a:ext cx="8426537" cy="101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28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A4A56B3-CB4C-1962-51F0-AF7612B9E6F3}"/>
              </a:ext>
            </a:extLst>
          </p:cNvPr>
          <p:cNvSpPr/>
          <p:nvPr/>
        </p:nvSpPr>
        <p:spPr>
          <a:xfrm>
            <a:off x="856530" y="2458744"/>
            <a:ext cx="3836803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(obj,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-&gt;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obj.instanceMethod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C6E23F-5546-241F-2499-468E91DC99E7}"/>
              </a:ext>
            </a:extLst>
          </p:cNvPr>
          <p:cNvSpPr/>
          <p:nvPr/>
        </p:nvSpPr>
        <p:spPr>
          <a:xfrm>
            <a:off x="5005672" y="2459939"/>
            <a:ext cx="3541055" cy="44466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algn="l" rtl="0"/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ObjectType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::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instanceMethod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6BCC36-7A49-D8E0-616D-8231ECAFAE8A}"/>
              </a:ext>
            </a:extLst>
          </p:cNvPr>
          <p:cNvSpPr/>
          <p:nvPr/>
        </p:nvSpPr>
        <p:spPr>
          <a:xfrm>
            <a:off x="1732837" y="3613666"/>
            <a:ext cx="6468436" cy="164413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defTabSz="360000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 static void main(String[]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defTabSz="360000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String[]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sArray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{ "Kim", "Park", "Lee", "Choi", "Mary" };</a:t>
            </a:r>
          </a:p>
          <a:p>
            <a:pPr marR="0" algn="l" defTabSz="360000" rtl="0"/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Arrays.sort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sArray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String::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compareToIgnoreCase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defTabSz="360000" rtl="0"/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849DB9B-9247-0D0E-9D22-D80125EDAEF6}"/>
              </a:ext>
            </a:extLst>
          </p:cNvPr>
          <p:cNvSpPr/>
          <p:nvPr/>
        </p:nvSpPr>
        <p:spPr>
          <a:xfrm>
            <a:off x="4766536" y="2450118"/>
            <a:ext cx="195609" cy="444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1F107-67E6-C070-0429-28ABD49CB0B6}"/>
              </a:ext>
            </a:extLst>
          </p:cNvPr>
          <p:cNvSpPr txBox="1"/>
          <p:nvPr/>
        </p:nvSpPr>
        <p:spPr>
          <a:xfrm>
            <a:off x="942728" y="3429000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C32CB5A9-21B3-AC6D-D9AB-03F2ED7689A2}"/>
              </a:ext>
            </a:extLst>
          </p:cNvPr>
          <p:cNvSpPr/>
          <p:nvPr/>
        </p:nvSpPr>
        <p:spPr>
          <a:xfrm>
            <a:off x="3579637" y="5533892"/>
            <a:ext cx="4735688" cy="444663"/>
          </a:xfrm>
          <a:prstGeom prst="borderCallout2">
            <a:avLst>
              <a:gd name="adj1" fmla="val 1290"/>
              <a:gd name="adj2" fmla="val -28"/>
              <a:gd name="adj3" fmla="val -101691"/>
              <a:gd name="adj4" fmla="val -403"/>
              <a:gd name="adj5" fmla="val -204503"/>
              <a:gd name="adj6" fmla="val 715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00FF"/>
                </a:solidFill>
              </a:rPr>
              <a:t>(String a, String b) -&gt;  </a:t>
            </a:r>
            <a:r>
              <a:rPr lang="en-US" altLang="ko-KR" dirty="0" err="1">
                <a:solidFill>
                  <a:srgbClr val="0000FF"/>
                </a:solidFill>
              </a:rPr>
              <a:t>a.compareToIgnoreCase</a:t>
            </a:r>
            <a:r>
              <a:rPr lang="en-US" altLang="ko-KR" dirty="0">
                <a:solidFill>
                  <a:srgbClr val="0000FF"/>
                </a:solidFill>
              </a:rPr>
              <a:t>(b)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E1002A5C-4F80-4730-B89A-49CA796E44A8}"/>
              </a:ext>
            </a:extLst>
          </p:cNvPr>
          <p:cNvSpPr txBox="1">
            <a:spLocks/>
          </p:cNvSpPr>
          <p:nvPr/>
        </p:nvSpPr>
        <p:spPr>
          <a:xfrm>
            <a:off x="719422" y="283727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14.5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참조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1C556-27FF-40B6-AFA6-BCF4228D1765}"/>
              </a:ext>
            </a:extLst>
          </p:cNvPr>
          <p:cNvSpPr txBox="1"/>
          <p:nvPr/>
        </p:nvSpPr>
        <p:spPr>
          <a:xfrm>
            <a:off x="308420" y="1682140"/>
            <a:ext cx="846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► </a:t>
            </a:r>
            <a:r>
              <a:rPr lang="ko-KR" altLang="en-US" sz="2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람다식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매개변수의 인스턴스 메서드 참조</a:t>
            </a:r>
            <a:endParaRPr lang="ko-KR" altLang="en-US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7522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53AB5-A57C-46A9-98AF-B894A388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TIP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7D435CE-C124-4D8C-9954-80923314A2F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709143"/>
            <a:ext cx="8153400" cy="1719857"/>
          </a:xfrm>
        </p:spPr>
      </p:pic>
    </p:spTree>
    <p:extLst>
      <p:ext uri="{BB962C8B-B14F-4D97-AF65-F5344CB8AC3E}">
        <p14:creationId xmlns:p14="http://schemas.microsoft.com/office/powerpoint/2010/main" val="25959028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518C0-262E-4F40-AF4D-42F41088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3B984B5-F6DA-4165-BB2D-0FC4F8C83AB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897145"/>
            <a:ext cx="8153400" cy="1320074"/>
          </a:xfrm>
        </p:spPr>
      </p:pic>
    </p:spTree>
    <p:extLst>
      <p:ext uri="{BB962C8B-B14F-4D97-AF65-F5344CB8AC3E}">
        <p14:creationId xmlns:p14="http://schemas.microsoft.com/office/powerpoint/2010/main" val="22924836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EB91E-74D9-42F9-833E-8BEC790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4CD5CD-BECD-4B97-867A-4A75743C5F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8084" y="1539386"/>
            <a:ext cx="8438266" cy="762000"/>
          </a:xfrm>
        </p:spPr>
        <p:txBody>
          <a:bodyPr>
            <a:noAutofit/>
          </a:bodyPr>
          <a:lstStyle/>
          <a:p>
            <a:r>
              <a:rPr lang="ko-KR" altLang="en-US" sz="2000" b="1" dirty="0"/>
              <a:t>다양한 데이터 소스를 표준화된 방법으로 다루기 위한 것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  </a:t>
            </a:r>
            <a:r>
              <a:rPr lang="ko-KR" altLang="en-US" sz="2000" b="1" dirty="0"/>
              <a:t>즉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컬렉션 데이터를 함수형 스타일로 처리하는 기술</a:t>
            </a:r>
            <a:endParaRPr lang="en-US" altLang="ko-KR" sz="2000" b="1" dirty="0"/>
          </a:p>
          <a:p>
            <a:pPr marL="0" indent="0">
              <a:spcBef>
                <a:spcPts val="300"/>
              </a:spcBef>
              <a:buNone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F2519D-1B44-4F22-B838-D216206BE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79" y="2566127"/>
            <a:ext cx="1321017" cy="3302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F653B5-66FA-4A4B-B44F-FA2CD21ED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271" y="2526907"/>
            <a:ext cx="1540703" cy="3870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C4BCCD-D898-48C6-9C1E-0FD42D7E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92" y="3019568"/>
            <a:ext cx="1545030" cy="12476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BA4272-1ED2-4374-BB10-724F00D1B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2913943"/>
            <a:ext cx="3776684" cy="14294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16966E-47B4-4AAB-B156-74E205E15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70" y="4734269"/>
            <a:ext cx="3268779" cy="203800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690D36-EAF6-48FB-A51E-3DA853F3A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3184" y="4734269"/>
            <a:ext cx="3575365" cy="201895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53096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EB91E-74D9-42F9-833E-8BEC790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4CD5CD-BECD-4B97-867A-4A75743C5F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2867" y="1885950"/>
            <a:ext cx="8533958" cy="1162049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스트림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이용하면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메소드는 입력 스트림에서 항목을 하나씩 읽고 처리한 후에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항목을 출력 스트림으로 쓸 수 있다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메소드의 출력 스트림은  또 다른 메소드의 입력 스트림이 될 수 있음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C40380-3F9C-4E15-9064-4105833B2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25" y="3219978"/>
            <a:ext cx="7017549" cy="267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452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EB91E-74D9-42F9-833E-8BEC790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4CD5CD-BECD-4B97-867A-4A75743C5F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5662" y="1651570"/>
            <a:ext cx="4525914" cy="472145"/>
          </a:xfrm>
        </p:spPr>
        <p:txBody>
          <a:bodyPr>
            <a:noAutofit/>
          </a:bodyPr>
          <a:lstStyle/>
          <a:p>
            <a:r>
              <a:rPr lang="ko-KR" altLang="en-US" sz="2000" b="1" dirty="0"/>
              <a:t>스트림으로 변환하는 방법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04940D-9DD0-47A1-AAAC-D7C36E787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14" y="2037989"/>
            <a:ext cx="8436634" cy="2004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DD035A-F847-4EA8-B5F7-B2F3381FB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19" y="4429125"/>
            <a:ext cx="7071403" cy="200471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CE96D8-5148-4943-9102-32D94A2196F2}"/>
              </a:ext>
            </a:extLst>
          </p:cNvPr>
          <p:cNvSpPr txBox="1"/>
          <p:nvPr/>
        </p:nvSpPr>
        <p:spPr>
          <a:xfrm>
            <a:off x="1343025" y="6433843"/>
            <a:ext cx="1133475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컬렉션생성</a:t>
            </a:r>
          </a:p>
        </p:txBody>
      </p:sp>
    </p:spTree>
    <p:extLst>
      <p:ext uri="{BB962C8B-B14F-4D97-AF65-F5344CB8AC3E}">
        <p14:creationId xmlns:p14="http://schemas.microsoft.com/office/powerpoint/2010/main" val="36561669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EB91E-74D9-42F9-833E-8BEC790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39B018A8-CC75-4AA6-8C40-3DB439900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98" y="1763024"/>
            <a:ext cx="860425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스트림이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제공하는 기능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중간 연산과 최종 연산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" name="그룹 51">
            <a:extLst>
              <a:ext uri="{FF2B5EF4-FFF2-40B4-BE49-F238E27FC236}">
                <a16:creationId xmlns:a16="http://schemas.microsoft.com/office/drawing/2014/main" id="{61855638-07B3-45D0-AED9-7A3C0B202EE0}"/>
              </a:ext>
            </a:extLst>
          </p:cNvPr>
          <p:cNvGrpSpPr/>
          <p:nvPr/>
        </p:nvGrpSpPr>
        <p:grpSpPr>
          <a:xfrm>
            <a:off x="500834" y="2301682"/>
            <a:ext cx="8178912" cy="610152"/>
            <a:chOff x="770046" y="5484958"/>
            <a:chExt cx="4090511" cy="899180"/>
          </a:xfrm>
          <a:solidFill>
            <a:srgbClr val="E8F1CD"/>
          </a:solidFill>
        </p:grpSpPr>
        <p:sp>
          <p:nvSpPr>
            <p:cNvPr id="11" name="모서리가 둥근 직사각형 13">
              <a:extLst>
                <a:ext uri="{FF2B5EF4-FFF2-40B4-BE49-F238E27FC236}">
                  <a16:creationId xmlns:a16="http://schemas.microsoft.com/office/drawing/2014/main" id="{800460F5-E80E-4C25-BCBD-CE8F5428D092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569176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F5FA1D0-6301-4BC8-99EF-D2C22311BC59}"/>
                </a:ext>
              </a:extLst>
            </p:cNvPr>
            <p:cNvSpPr/>
            <p:nvPr/>
          </p:nvSpPr>
          <p:spPr>
            <a:xfrm>
              <a:off x="770047" y="5509577"/>
              <a:ext cx="4090510" cy="874561"/>
            </a:xfrm>
            <a:prstGeom prst="rect">
              <a:avLst/>
            </a:prstGeom>
            <a:grpFill/>
          </p:spPr>
          <p:txBody>
            <a:bodyPr wrap="square" anchor="b">
              <a:spAutoFit/>
            </a:bodyPr>
            <a:lstStyle/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 중간 연산 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–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연산결과가 </a:t>
              </a:r>
              <a:r>
                <a:rPr lang="ko-KR" altLang="en-US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스트림인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 연산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.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반복적으로 적용가능 </a:t>
              </a:r>
              <a:endPara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  <a:p>
              <a:pPr>
                <a:spcBef>
                  <a:spcPts val="0"/>
                </a:spcBef>
                <a:buFont typeface="Arial" pitchFamily="34" charset="0"/>
                <a:buChar char="•"/>
              </a:pP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 최종 연산 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–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연산결과가 </a:t>
              </a:r>
              <a:r>
                <a:rPr lang="ko-KR" altLang="en-US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스트림이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 아닌 연산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. </a:t>
              </a:r>
              <a:r>
                <a:rPr lang="ko-KR" altLang="en-US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스트림의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 요소를 소모하므로 한번만 적용가능</a:t>
              </a:r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C860A497-B7C5-4C00-8B73-6AA8F248D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358" y="3159299"/>
            <a:ext cx="7156548" cy="539401"/>
          </a:xfrm>
          <a:prstGeom prst="rect">
            <a:avLst/>
          </a:prstGeom>
          <a:solidFill>
            <a:srgbClr val="E8F1CD"/>
          </a:solidFill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F1BE2E0-0AFB-413B-B0B2-BBF435B9DFF5}"/>
              </a:ext>
            </a:extLst>
          </p:cNvPr>
          <p:cNvCxnSpPr/>
          <p:nvPr/>
        </p:nvCxnSpPr>
        <p:spPr bwMode="auto">
          <a:xfrm>
            <a:off x="1731104" y="3698700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E9362F7-2844-435D-AB7D-0F81D6DE2E49}"/>
              </a:ext>
            </a:extLst>
          </p:cNvPr>
          <p:cNvCxnSpPr/>
          <p:nvPr/>
        </p:nvCxnSpPr>
        <p:spPr bwMode="auto">
          <a:xfrm>
            <a:off x="2847228" y="3698700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6FA3401-01C2-4522-B41C-472594CD610A}"/>
              </a:ext>
            </a:extLst>
          </p:cNvPr>
          <p:cNvCxnSpPr/>
          <p:nvPr/>
        </p:nvCxnSpPr>
        <p:spPr bwMode="auto">
          <a:xfrm>
            <a:off x="3855340" y="3698700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722B0AC-A1E7-458C-B992-F9AD570880E3}"/>
              </a:ext>
            </a:extLst>
          </p:cNvPr>
          <p:cNvCxnSpPr/>
          <p:nvPr/>
        </p:nvCxnSpPr>
        <p:spPr bwMode="auto">
          <a:xfrm>
            <a:off x="6015580" y="3698700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7675838-2B87-4B7C-ACE8-4A97400FEAE8}"/>
              </a:ext>
            </a:extLst>
          </p:cNvPr>
          <p:cNvGrpSpPr/>
          <p:nvPr/>
        </p:nvGrpSpPr>
        <p:grpSpPr>
          <a:xfrm>
            <a:off x="476506" y="4105480"/>
            <a:ext cx="8289541" cy="1720805"/>
            <a:chOff x="696349" y="3760423"/>
            <a:chExt cx="8363557" cy="1720805"/>
          </a:xfrm>
          <a:solidFill>
            <a:srgbClr val="E8F1CD"/>
          </a:solidFill>
        </p:grpSpPr>
        <p:grpSp>
          <p:nvGrpSpPr>
            <p:cNvPr id="19" name="그룹 51">
              <a:extLst>
                <a:ext uri="{FF2B5EF4-FFF2-40B4-BE49-F238E27FC236}">
                  <a16:creationId xmlns:a16="http://schemas.microsoft.com/office/drawing/2014/main" id="{41C109D6-97E7-4B68-8C80-164C1A656002}"/>
                </a:ext>
              </a:extLst>
            </p:cNvPr>
            <p:cNvGrpSpPr/>
            <p:nvPr/>
          </p:nvGrpSpPr>
          <p:grpSpPr>
            <a:xfrm>
              <a:off x="696349" y="3760423"/>
              <a:ext cx="8363557" cy="1720805"/>
              <a:chOff x="770046" y="5484958"/>
              <a:chExt cx="4182857" cy="912824"/>
            </a:xfrm>
            <a:grpFill/>
          </p:grpSpPr>
          <p:sp>
            <p:nvSpPr>
              <p:cNvPr id="25" name="모서리가 둥근 직사각형 17">
                <a:extLst>
                  <a:ext uri="{FF2B5EF4-FFF2-40B4-BE49-F238E27FC236}">
                    <a16:creationId xmlns:a16="http://schemas.microsoft.com/office/drawing/2014/main" id="{100FCC82-5641-4367-B0D5-9EE300C1A888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182857" cy="912824"/>
              </a:xfrm>
              <a:prstGeom prst="roundRect">
                <a:avLst/>
              </a:prstGeom>
              <a:grpFill/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indent="-449263" algn="l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pitchFamily="49" charset="0"/>
                  <a:ea typeface="견명조" pitchFamily="18" charset="-127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4130CBD-3A3A-442D-A1F6-2E37E52D1052}"/>
                  </a:ext>
                </a:extLst>
              </p:cNvPr>
              <p:cNvSpPr/>
              <p:nvPr/>
            </p:nvSpPr>
            <p:spPr>
              <a:xfrm>
                <a:off x="806569" y="5507581"/>
                <a:ext cx="4090510" cy="848974"/>
              </a:xfrm>
              <a:prstGeom prst="rect">
                <a:avLst/>
              </a:prstGeom>
              <a:grpFill/>
            </p:spPr>
            <p:txBody>
              <a:bodyPr wrap="square" anchor="b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String[]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strArr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= { "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dd","aaa","CC","cc","b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" };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Stream&lt;String&gt;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stream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Stream.of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strArr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); // 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문자열 배열이 소스인 </a:t>
                </a:r>
                <a:r>
                  <a:rPr lang="ko-KR" alt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스트림</a:t>
                </a:r>
                <a:endPara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Stream&lt;String&gt;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filteredStream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 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stream.filter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();   // 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걸러내기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중간 연산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Stream&lt;String&gt;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distinctedStream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stream.distinct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(); // 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중복제거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중간 연산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Stream&lt;String&gt;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sortedStream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   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stream.sort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();     // 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정렬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중간 연산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4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Stream&lt;String&gt;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limitedStream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  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stream.limit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(5); // </a:t>
                </a:r>
                <a:r>
                  <a:rPr lang="ko-KR" alt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스트림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자르기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중간 연산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400" b="1" dirty="0" err="1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int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 total = </a:t>
                </a:r>
                <a:r>
                  <a:rPr lang="en-US" sz="14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stream.count</a:t>
                </a:r>
                <a:r>
                  <a:rPr 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(); // 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요소 개수 세기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(</a:t>
                </a:r>
                <a:r>
                  <a:rPr lang="ko-KR" altLang="en-US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최종연산</a:t>
                </a:r>
                <a:r>
                  <a:rPr lang="en-US" altLang="ko-KR" sz="1400" b="1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Courier New" pitchFamily="49" charset="0"/>
                  </a:rPr>
                  <a:t>)</a:t>
                </a:r>
              </a:p>
            </p:txBody>
          </p: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E1B34FD-AEFE-4166-BD46-0D19C9805ECC}"/>
                </a:ext>
              </a:extLst>
            </p:cNvPr>
            <p:cNvCxnSpPr/>
            <p:nvPr/>
          </p:nvCxnSpPr>
          <p:spPr bwMode="auto">
            <a:xfrm>
              <a:off x="4462450" y="4473116"/>
              <a:ext cx="720080" cy="0"/>
            </a:xfrm>
            <a:prstGeom prst="lin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F75F1D5-7065-42F7-A490-209A26EC19A2}"/>
                </a:ext>
              </a:extLst>
            </p:cNvPr>
            <p:cNvCxnSpPr/>
            <p:nvPr/>
          </p:nvCxnSpPr>
          <p:spPr bwMode="auto">
            <a:xfrm>
              <a:off x="4609102" y="4689140"/>
              <a:ext cx="720080" cy="0"/>
            </a:xfrm>
            <a:prstGeom prst="lin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7081439A-F52D-4FB2-B5B0-959D22D119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65969" y="4905656"/>
              <a:ext cx="616561" cy="0"/>
            </a:xfrm>
            <a:prstGeom prst="lin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92B7111-10F6-4A0C-B972-75F2A67DAB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06049" y="5111324"/>
              <a:ext cx="610432" cy="0"/>
            </a:xfrm>
            <a:prstGeom prst="lin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CC1C06C-045E-4FA7-B7E3-4E8ACDA7F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48748" y="5345094"/>
              <a:ext cx="610432" cy="0"/>
            </a:xfrm>
            <a:prstGeom prst="lin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2189382-33BB-4B1E-A9F3-E01930787041}"/>
              </a:ext>
            </a:extLst>
          </p:cNvPr>
          <p:cNvCxnSpPr/>
          <p:nvPr/>
        </p:nvCxnSpPr>
        <p:spPr bwMode="auto">
          <a:xfrm>
            <a:off x="5295500" y="4818173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DDDFC5E-B790-4921-ABC5-D352225F4562}"/>
              </a:ext>
            </a:extLst>
          </p:cNvPr>
          <p:cNvCxnSpPr/>
          <p:nvPr/>
        </p:nvCxnSpPr>
        <p:spPr bwMode="auto">
          <a:xfrm>
            <a:off x="5419325" y="5034197"/>
            <a:ext cx="72008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B56B826-0B90-4696-AEAA-26E0B0D60A77}"/>
              </a:ext>
            </a:extLst>
          </p:cNvPr>
          <p:cNvCxnSpPr>
            <a:cxnSpLocks/>
          </p:cNvCxnSpPr>
          <p:nvPr/>
        </p:nvCxnSpPr>
        <p:spPr bwMode="auto">
          <a:xfrm>
            <a:off x="5295500" y="5477869"/>
            <a:ext cx="108625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F0CCE90-1EEC-42B1-B1E1-F0161E6A2A8E}"/>
              </a:ext>
            </a:extLst>
          </p:cNvPr>
          <p:cNvCxnSpPr>
            <a:cxnSpLocks/>
          </p:cNvCxnSpPr>
          <p:nvPr/>
        </p:nvCxnSpPr>
        <p:spPr bwMode="auto">
          <a:xfrm>
            <a:off x="5352650" y="5250713"/>
            <a:ext cx="409975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9A1F17F-B6CC-44E7-9971-54725705A42F}"/>
              </a:ext>
            </a:extLst>
          </p:cNvPr>
          <p:cNvCxnSpPr>
            <a:cxnSpLocks/>
          </p:cNvCxnSpPr>
          <p:nvPr/>
        </p:nvCxnSpPr>
        <p:spPr bwMode="auto">
          <a:xfrm>
            <a:off x="3166241" y="5690151"/>
            <a:ext cx="108625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8224905-89BB-4935-83FB-0CB062F639FF}"/>
              </a:ext>
            </a:extLst>
          </p:cNvPr>
          <p:cNvCxnSpPr>
            <a:cxnSpLocks/>
          </p:cNvCxnSpPr>
          <p:nvPr/>
        </p:nvCxnSpPr>
        <p:spPr bwMode="auto">
          <a:xfrm>
            <a:off x="4699245" y="4608623"/>
            <a:ext cx="1440160" cy="0"/>
          </a:xfrm>
          <a:prstGeom prst="line">
            <a:avLst/>
          </a:prstGeom>
          <a:solidFill>
            <a:srgbClr val="FFFF66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5522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6C879D7-B222-4A5C-BA59-7B564E42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76" y="5468036"/>
            <a:ext cx="7255865" cy="12691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4DB75CA-2431-1AE6-0391-94366BA0EFFA}"/>
              </a:ext>
            </a:extLst>
          </p:cNvPr>
          <p:cNvSpPr/>
          <p:nvPr/>
        </p:nvSpPr>
        <p:spPr>
          <a:xfrm>
            <a:off x="856800" y="2084977"/>
            <a:ext cx="8020500" cy="303947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defTabSz="360000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Test {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List&lt;String&gt;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"Choi"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"Chee"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(1)</a:t>
            </a:r>
          </a:p>
          <a:p>
            <a:pPr marR="0" algn="l" defTabSz="360000" rtl="0"/>
            <a:endParaRPr lang="ko-KR" altLang="en-US" sz="1600" b="0" i="0" u="none" strike="noStrike" baseline="0" dirty="0">
              <a:solidFill>
                <a:srgbClr val="3F7F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List&lt;String&gt;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sublist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.stream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 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(2)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스트림 생성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.filter(s -&gt;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s.startsWith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"C"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))  	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(3)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스트림 처리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.sorted()  						  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(4)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스트림 처리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.collect(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Collectors.toList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	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(5)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생성</a:t>
            </a:r>
          </a:p>
          <a:p>
            <a:pPr marR="0" algn="l" defTabSz="360000" rtl="0"/>
            <a:endParaRPr lang="ko-KR" altLang="en-US" sz="1600" b="0" i="0" u="none" strike="noStrike" baseline="0" dirty="0">
              <a:solidFill>
                <a:srgbClr val="3F7F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sublist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	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(6)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출력</a:t>
            </a:r>
          </a:p>
          <a:p>
            <a:pPr marR="0" algn="l" defTabSz="360000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defTabSz="360000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EF01E2-61C2-D5CF-2F6E-704364694F04}"/>
              </a:ext>
            </a:extLst>
          </p:cNvPr>
          <p:cNvSpPr/>
          <p:nvPr/>
        </p:nvSpPr>
        <p:spPr>
          <a:xfrm>
            <a:off x="856800" y="5162718"/>
            <a:ext cx="7584141" cy="26704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[Chee, Choi]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732D2-CD4C-4306-A266-94CBD272BBB7}"/>
              </a:ext>
            </a:extLst>
          </p:cNvPr>
          <p:cNvSpPr txBox="1"/>
          <p:nvPr/>
        </p:nvSpPr>
        <p:spPr>
          <a:xfrm>
            <a:off x="402757" y="1561757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예제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2800" dirty="0">
                <a:latin typeface="돋움" panose="020B0600000101010101" pitchFamily="50" charset="-127"/>
                <a:ea typeface="돋움" panose="020B0600000101010101" pitchFamily="50" charset="-127"/>
              </a:rPr>
              <a:t>스트림의 개념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A2DF4E2-BBED-4A92-BF10-06ACEB03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7029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A95CE-6AA5-4E46-B066-23D04FF97D0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221299"/>
            <a:ext cx="8153400" cy="4495800"/>
          </a:xfrm>
        </p:spPr>
        <p:txBody>
          <a:bodyPr>
            <a:normAutofit/>
          </a:bodyPr>
          <a:lstStyle/>
          <a:p>
            <a:r>
              <a:rPr lang="ko-KR" altLang="en-US" b="1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컬렉션에 대한 일반적인 처리 패턴은 “찾기”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가장 높은 평점의 학생 찾기</a:t>
            </a:r>
            <a:r>
              <a:rPr lang="en-US" altLang="ko-KR" dirty="0"/>
              <a:t>) </a:t>
            </a:r>
            <a:r>
              <a:rPr lang="ko-KR" altLang="en-US" dirty="0"/>
              <a:t>또는 “</a:t>
            </a:r>
            <a:r>
              <a:rPr lang="ko-KR" altLang="en-US" dirty="0" err="1"/>
              <a:t>그룹화”와</a:t>
            </a:r>
            <a:r>
              <a:rPr lang="ko-KR" altLang="en-US" dirty="0"/>
              <a:t> 같은 </a:t>
            </a:r>
            <a:r>
              <a:rPr lang="en-US" altLang="ko-KR" dirty="0"/>
              <a:t>SQL</a:t>
            </a:r>
            <a:r>
              <a:rPr lang="ko-KR" altLang="en-US" dirty="0"/>
              <a:t>과 유사한 작업이다</a:t>
            </a:r>
            <a:r>
              <a:rPr lang="en-US" altLang="ko-KR" dirty="0"/>
              <a:t>. </a:t>
            </a:r>
            <a:r>
              <a:rPr lang="ko-KR" altLang="en-US" dirty="0"/>
              <a:t>대부분의 데이터베이스에서는 이러한 작업을 선언적으로 지정할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컬렉션에서도 반복문을 사용하지 않고 </a:t>
            </a:r>
            <a:r>
              <a:rPr lang="en-US" altLang="ko-KR" dirty="0"/>
              <a:t>SQL</a:t>
            </a:r>
            <a:r>
              <a:rPr lang="ko-KR" altLang="en-US" dirty="0"/>
              <a:t>처럼 선언만 하여서 비슷한 작업을 할 수 있으면 얼마나 좋을까</a:t>
            </a:r>
            <a:r>
              <a:rPr lang="en-US" altLang="ko-KR" dirty="0"/>
              <a:t>? </a:t>
            </a:r>
            <a:r>
              <a:rPr lang="ko-KR" altLang="en-US" dirty="0">
                <a:solidFill>
                  <a:srgbClr val="0000FF"/>
                </a:solidFill>
              </a:rPr>
              <a:t>스트림 </a:t>
            </a:r>
            <a:r>
              <a:rPr lang="en-US" altLang="ko-KR" dirty="0">
                <a:solidFill>
                  <a:srgbClr val="0000FF"/>
                </a:solidFill>
              </a:rPr>
              <a:t>API</a:t>
            </a:r>
            <a:r>
              <a:rPr lang="ko-KR" altLang="en-US" dirty="0">
                <a:solidFill>
                  <a:srgbClr val="0000FF"/>
                </a:solidFill>
              </a:rPr>
              <a:t>를 사용하면 다음과 같이 간단하게 표현하는 것이 가능</a:t>
            </a:r>
            <a:r>
              <a:rPr lang="ko-KR" altLang="en-US" dirty="0"/>
              <a:t>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544A67-507E-DE43-346A-22AEF19A052E}"/>
              </a:ext>
            </a:extLst>
          </p:cNvPr>
          <p:cNvSpPr/>
          <p:nvPr/>
        </p:nvSpPr>
        <p:spPr>
          <a:xfrm>
            <a:off x="947211" y="4682110"/>
            <a:ext cx="7584141" cy="1697506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List&lt;Integer&gt; result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.filter(s -&gt;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s.getAge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&lt; 25)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.sorted(comparing(Student::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getGPA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).reversed())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.map(Student::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getId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.collect(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Collectors.toList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74134-01C9-4E84-B9D4-69FC5209601A}"/>
              </a:ext>
            </a:extLst>
          </p:cNvPr>
          <p:cNvSpPr txBox="1"/>
          <p:nvPr/>
        </p:nvSpPr>
        <p:spPr>
          <a:xfrm>
            <a:off x="402757" y="1561757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예제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2800" dirty="0">
                <a:latin typeface="돋움" panose="020B0600000101010101" pitchFamily="50" charset="-127"/>
                <a:ea typeface="돋움" panose="020B0600000101010101" pitchFamily="50" charset="-127"/>
              </a:rPr>
              <a:t>스트림의 장점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B3FEEB4-DC2D-429E-A35A-E4B3CB217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86249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2F6E6F-1149-47C5-B27D-E35EC7AE6B6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93538" y="1609725"/>
            <a:ext cx="7872509" cy="5143500"/>
          </a:xfr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75F8EEC-196E-4A1B-B337-9FBE4553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7283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4C4C8-AD37-4113-A738-C10D5DE2099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4495800"/>
          </a:xfrm>
        </p:spPr>
        <p:txBody>
          <a:bodyPr/>
          <a:lstStyle/>
          <a:p>
            <a:r>
              <a:rPr lang="ko-KR" altLang="en-US" b="1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큰 컬렉션을 효율적으로 처리하려면 멀티 코어 아키텍처를 활용하는 것이 좋다</a:t>
            </a:r>
            <a:r>
              <a:rPr lang="en-US" altLang="ko-KR" dirty="0"/>
              <a:t>. </a:t>
            </a:r>
            <a:r>
              <a:rPr lang="ko-KR" altLang="en-US" dirty="0"/>
              <a:t>그러나 병렬 코드를 작성하는 것은 아직도 어렵고 오류가 발생하기 쉽다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0000FF"/>
                </a:solidFill>
              </a:rPr>
              <a:t>스트림 </a:t>
            </a:r>
            <a:r>
              <a:rPr lang="en-US" altLang="ko-KR" dirty="0">
                <a:solidFill>
                  <a:srgbClr val="0000FF"/>
                </a:solidFill>
              </a:rPr>
              <a:t>API</a:t>
            </a:r>
            <a:r>
              <a:rPr lang="ko-KR" altLang="en-US" dirty="0">
                <a:solidFill>
                  <a:srgbClr val="0000FF"/>
                </a:solidFill>
              </a:rPr>
              <a:t>를 사용하면 다중 스레드 코드를 한 줄도 작성하지 않고도 다중 코어 아키텍처를 활용할 수 있다</a:t>
            </a:r>
            <a:r>
              <a:rPr lang="en-US" altLang="ko-KR" dirty="0"/>
              <a:t>. stream() </a:t>
            </a:r>
            <a:r>
              <a:rPr lang="ko-KR" altLang="en-US" dirty="0"/>
              <a:t>대신에 </a:t>
            </a:r>
            <a:r>
              <a:rPr lang="en-US" altLang="ko-KR" dirty="0" err="1"/>
              <a:t>parallelStream</a:t>
            </a:r>
            <a:r>
              <a:rPr lang="en-US" altLang="ko-KR" dirty="0"/>
              <a:t>()</a:t>
            </a:r>
            <a:r>
              <a:rPr lang="ko-KR" altLang="en-US" dirty="0"/>
              <a:t>을 사용하면 스트림 </a:t>
            </a:r>
            <a:r>
              <a:rPr lang="en-US" altLang="ko-KR" dirty="0"/>
              <a:t>API</a:t>
            </a:r>
            <a:r>
              <a:rPr lang="ko-KR" altLang="en-US" dirty="0"/>
              <a:t>가 자동으로 쿼리를 여러 개의 코어를 활용하는 코드로 분해한다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30DC6-9497-F5D9-5F2C-12B4A1E1EF16}"/>
              </a:ext>
            </a:extLst>
          </p:cNvPr>
          <p:cNvSpPr/>
          <p:nvPr/>
        </p:nvSpPr>
        <p:spPr>
          <a:xfrm>
            <a:off x="947211" y="4061011"/>
            <a:ext cx="7584141" cy="1873064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List&lt;Integer&gt; result =  </a:t>
            </a:r>
            <a:r>
              <a:rPr lang="en-US" altLang="ko-KR" b="0" i="0" u="none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list.parallelStream</a:t>
            </a:r>
            <a:r>
              <a:rPr lang="en-US" altLang="ko-KR" b="0" i="0" u="none" strike="noStrike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.filter(s -&gt;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s.getAge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&lt; 25)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.sorted(comparing(Student::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getGPA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).reversed())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.map(Student::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getId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.collect(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CF38561-C641-4331-B727-1663C001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10690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E04E0-6CE2-4442-AD80-08EE9D9079E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221299"/>
            <a:ext cx="8153400" cy="1332781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생성 단계</a:t>
            </a:r>
            <a:r>
              <a:rPr lang="en-US" altLang="ko-KR" dirty="0"/>
              <a:t>: </a:t>
            </a:r>
            <a:r>
              <a:rPr lang="ko-KR" altLang="en-US" dirty="0"/>
              <a:t>스트림 객체를 생성하는 단계이다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                  배열이나 컬렉션을 가지고 스트림을 생성할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처리 단계</a:t>
            </a:r>
            <a:r>
              <a:rPr lang="en-US" altLang="ko-KR" dirty="0"/>
              <a:t>: </a:t>
            </a:r>
            <a:r>
              <a:rPr lang="ko-KR" altLang="en-US" dirty="0"/>
              <a:t>입력 데이터를 출력 데이터로 가공하는 연산이다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종말 단계</a:t>
            </a:r>
            <a:r>
              <a:rPr lang="en-US" altLang="ko-KR" dirty="0"/>
              <a:t>: </a:t>
            </a:r>
            <a:r>
              <a:rPr lang="ko-KR" altLang="en-US" dirty="0"/>
              <a:t>처리된 데이터를 모아서 결과를 만드는 연산이다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4181CD-FB56-4531-AA0B-CDD86899A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4" y="3575388"/>
            <a:ext cx="7400925" cy="3192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1B4A6-7BE6-4290-93A3-B1411FE00102}"/>
              </a:ext>
            </a:extLst>
          </p:cNvPr>
          <p:cNvSpPr txBox="1"/>
          <p:nvPr/>
        </p:nvSpPr>
        <p:spPr>
          <a:xfrm>
            <a:off x="402757" y="1561757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ko-KR" altLang="en-US" sz="2800" dirty="0">
                <a:latin typeface="돋움" panose="020B0600000101010101" pitchFamily="50" charset="-127"/>
                <a:ea typeface="돋움" panose="020B0600000101010101" pitchFamily="50" charset="-127"/>
              </a:rPr>
              <a:t>스트림 연산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9A72E6A-C569-42BD-B415-A22249B1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5575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B65EF0E-91DA-5274-65D6-60D09FF5AB00}"/>
              </a:ext>
            </a:extLst>
          </p:cNvPr>
          <p:cNvSpPr/>
          <p:nvPr/>
        </p:nvSpPr>
        <p:spPr>
          <a:xfrm>
            <a:off x="897277" y="2593427"/>
            <a:ext cx="7584141" cy="2197647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배열에서 만들기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String[]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{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};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s2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endParaRPr lang="ko-KR" altLang="en-US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컬렉션에서 만들기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List&lt;String&gt; list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75292-0EDF-41F3-895F-9D40C4436AC7}"/>
              </a:ext>
            </a:extLst>
          </p:cNvPr>
          <p:cNvSpPr txBox="1"/>
          <p:nvPr/>
        </p:nvSpPr>
        <p:spPr>
          <a:xfrm>
            <a:off x="420009" y="1736731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생성 단계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F92CCFA-635D-445B-B436-C9210EC7C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5770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BD8E545-80C7-45EC-9B14-EDAC19B5E11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6165" y="2402456"/>
            <a:ext cx="8153400" cy="1358660"/>
          </a:xfrm>
        </p:spPr>
        <p:txBody>
          <a:bodyPr>
            <a:normAutofit lnSpcReduction="10000"/>
          </a:bodyPr>
          <a:lstStyle/>
          <a:p>
            <a:pPr algn="l"/>
            <a:r>
              <a:rPr lang="ko-KR" altLang="en-US" sz="1800" b="0" i="0" u="none" strike="noStrike" baseline="0" dirty="0">
                <a:latin typeface="YDVYMjOStd125"/>
              </a:rPr>
              <a:t>필터링은 조건에 맞는 데이터만을 통과시키는 연산이다</a:t>
            </a:r>
            <a:r>
              <a:rPr lang="en-US" altLang="ko-KR" sz="1800" b="0" i="0" u="none" strike="noStrike" baseline="0" dirty="0">
                <a:latin typeface="MinionPro-Regular"/>
              </a:rPr>
              <a:t>. </a:t>
            </a:r>
          </a:p>
          <a:p>
            <a:pPr marL="0" indent="0" algn="l">
              <a:buNone/>
            </a:pPr>
            <a:r>
              <a:rPr lang="en-US" altLang="ko-KR" sz="1800" b="0" i="0" u="none" strike="noStrike" baseline="0" dirty="0">
                <a:latin typeface="MinionPro-Regular"/>
              </a:rPr>
              <a:t>      filter() </a:t>
            </a:r>
            <a:r>
              <a:rPr lang="ko-KR" altLang="en-US" sz="1800" b="0" i="0" u="none" strike="noStrike" baseline="0" dirty="0">
                <a:latin typeface="YDVYMjOStd125"/>
              </a:rPr>
              <a:t>메소드를 사용하며</a:t>
            </a:r>
            <a:r>
              <a:rPr lang="en-US" altLang="ko-KR" sz="1800" b="0" i="0" u="none" strike="noStrike" baseline="0" dirty="0">
                <a:latin typeface="MinionPro-Regular"/>
              </a:rPr>
              <a:t>, </a:t>
            </a:r>
            <a:r>
              <a:rPr lang="ko-KR" altLang="en-US" sz="1800" b="0" i="0" u="none" strike="noStrike" baseline="0" dirty="0">
                <a:latin typeface="YDVYMjOStd125"/>
              </a:rPr>
              <a:t>이 메소드는 람다식을 인수로 받는다</a:t>
            </a:r>
            <a:r>
              <a:rPr lang="en-US" altLang="ko-KR" sz="1800" b="0" i="0" u="none" strike="noStrike" baseline="0" dirty="0">
                <a:latin typeface="MinionPro-Regular"/>
              </a:rPr>
              <a:t>. </a:t>
            </a:r>
          </a:p>
          <a:p>
            <a:pPr marL="0" indent="0" algn="l">
              <a:buNone/>
            </a:pPr>
            <a:r>
              <a:rPr lang="ko-KR" altLang="en-US" sz="1800" b="0" i="0" u="none" strike="noStrike" baseline="0" dirty="0">
                <a:latin typeface="YDVYMjOStd125"/>
              </a:rPr>
              <a:t>      예를 들어서 문자열 중에서 ”</a:t>
            </a:r>
            <a:r>
              <a:rPr lang="en-US" altLang="ko-KR" sz="1800" b="0" i="0" u="none" strike="noStrike" baseline="0" dirty="0">
                <a:latin typeface="MinionPro-Regular"/>
              </a:rPr>
              <a:t>P</a:t>
            </a:r>
            <a:r>
              <a:rPr lang="ko-KR" altLang="en-US" sz="1800" b="0" i="0" u="none" strike="noStrike" baseline="0" dirty="0">
                <a:latin typeface="YDVYMjOStd125"/>
              </a:rPr>
              <a:t>”가 포함된 문자열만 통과시키려면 다음과 </a:t>
            </a:r>
            <a:endParaRPr lang="en-US" altLang="ko-KR" sz="1800" b="0" i="0" u="none" strike="noStrike" baseline="0" dirty="0">
              <a:latin typeface="YDVYMjOStd125"/>
            </a:endParaRPr>
          </a:p>
          <a:p>
            <a:pPr marL="0" indent="0" algn="l">
              <a:buNone/>
            </a:pPr>
            <a:r>
              <a:rPr lang="ko-KR" altLang="en-US" sz="1800" b="0" i="0" u="none" strike="noStrike" baseline="0" dirty="0">
                <a:latin typeface="YDVYMjOStd125"/>
              </a:rPr>
              <a:t>      같은 코드를 사용한다</a:t>
            </a:r>
            <a:r>
              <a:rPr lang="en-US" altLang="ko-KR" sz="1800" b="0" i="0" u="none" strike="noStrike" baseline="0" dirty="0">
                <a:latin typeface="MinionPro-Regular"/>
              </a:rPr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F35657-79E5-C093-B4F4-FAAACEFEF1B6}"/>
              </a:ext>
            </a:extLst>
          </p:cNvPr>
          <p:cNvSpPr/>
          <p:nvPr/>
        </p:nvSpPr>
        <p:spPr>
          <a:xfrm>
            <a:off x="947211" y="3968866"/>
            <a:ext cx="7584141" cy="1697506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List&lt;String&gt; list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just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.filter(s-&gt;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s.contains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9EAAD-7D7E-485B-AF61-90B5E8FA72C0}"/>
              </a:ext>
            </a:extLst>
          </p:cNvPr>
          <p:cNvSpPr txBox="1"/>
          <p:nvPr/>
        </p:nvSpPr>
        <p:spPr>
          <a:xfrm>
            <a:off x="402757" y="1671486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필터링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5C7B851-0ACB-42D0-BB3D-0C9877BC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14862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6F7249-825A-4DED-B15C-E599A5D295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71465"/>
            <a:ext cx="8245602" cy="1010771"/>
          </a:xfrm>
        </p:spPr>
        <p:txBody>
          <a:bodyPr>
            <a:normAutofit/>
          </a:bodyPr>
          <a:lstStyle/>
          <a:p>
            <a:r>
              <a:rPr lang="ko-KR" altLang="en-US" dirty="0"/>
              <a:t>매핑 연산은 </a:t>
            </a:r>
            <a:r>
              <a:rPr lang="en-US" altLang="ko-KR" dirty="0"/>
              <a:t>map() </a:t>
            </a:r>
            <a:r>
              <a:rPr lang="ko-KR" altLang="en-US" dirty="0"/>
              <a:t>메소드를 사용하며 기존의 데이터를 변형하여서 새로운 데이터로 생성하는 연산이다</a:t>
            </a:r>
            <a:r>
              <a:rPr lang="en-US" altLang="ko-KR" dirty="0"/>
              <a:t>. </a:t>
            </a:r>
            <a:r>
              <a:rPr lang="ko-KR" altLang="en-US" dirty="0"/>
              <a:t>이 메소드도 람다식을 인수로 받는다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예를 들어 문자열들을 모두 소문자로 변환하려면 다음과 같은 코드를 사용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9CA48F-E775-EDE7-DEA6-FAE573B525FE}"/>
              </a:ext>
            </a:extLst>
          </p:cNvPr>
          <p:cNvSpPr/>
          <p:nvPr/>
        </p:nvSpPr>
        <p:spPr>
          <a:xfrm>
            <a:off x="947211" y="3589303"/>
            <a:ext cx="7584141" cy="101077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List&lt;String&gt; list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.map(s-&gt;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s.toUpperCase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B62B6D-F572-6E24-D6D3-9A81A9766AE5}"/>
              </a:ext>
            </a:extLst>
          </p:cNvPr>
          <p:cNvSpPr/>
          <p:nvPr/>
        </p:nvSpPr>
        <p:spPr>
          <a:xfrm>
            <a:off x="947211" y="5129084"/>
            <a:ext cx="7584141" cy="1093509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just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.map(String::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toUpperCase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</p:txBody>
      </p:sp>
      <p:sp>
        <p:nvSpPr>
          <p:cNvPr id="3" name="설명선: 굽은 선 2">
            <a:extLst>
              <a:ext uri="{FF2B5EF4-FFF2-40B4-BE49-F238E27FC236}">
                <a16:creationId xmlns:a16="http://schemas.microsoft.com/office/drawing/2014/main" id="{97B25226-A70D-CB00-9E38-9886DCF9EDEF}"/>
              </a:ext>
            </a:extLst>
          </p:cNvPr>
          <p:cNvSpPr/>
          <p:nvPr/>
        </p:nvSpPr>
        <p:spPr>
          <a:xfrm>
            <a:off x="5593976" y="6079250"/>
            <a:ext cx="1344706" cy="67235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6833"/>
              <a:gd name="adj6" fmla="val -88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메소드 참조 사용가능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1862C-0B83-44C3-B943-C93C02302FD1}"/>
              </a:ext>
            </a:extLst>
          </p:cNvPr>
          <p:cNvSpPr txBox="1"/>
          <p:nvPr/>
        </p:nvSpPr>
        <p:spPr>
          <a:xfrm>
            <a:off x="385505" y="1680845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매핑 연산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(map())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08F0B5C-0192-45AF-9ABD-AF0EF497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5447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B3E25-D69A-4ABC-A3DC-DAF4CE8A32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71465"/>
            <a:ext cx="8378952" cy="1614760"/>
          </a:xfrm>
        </p:spPr>
        <p:txBody>
          <a:bodyPr/>
          <a:lstStyle/>
          <a:p>
            <a:r>
              <a:rPr lang="ko-KR" altLang="en-US" dirty="0"/>
              <a:t>입력되는 데이터들을 어떤 기준에 따라 정렬하는 연산이다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정렬 기준은 </a:t>
            </a:r>
            <a:r>
              <a:rPr lang="en-US" altLang="ko-KR" dirty="0"/>
              <a:t>Comparator </a:t>
            </a:r>
            <a:r>
              <a:rPr lang="ko-KR" altLang="en-US" dirty="0"/>
              <a:t>객체가 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기준이 주어지지 않으면 기본 정렬된다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예를 들어 문자열들을 내림차순으로 정렬하려면 다음과 같은 코드를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FDFAC6-46A2-6C99-3FBE-22766D9B2F71}"/>
              </a:ext>
            </a:extLst>
          </p:cNvPr>
          <p:cNvSpPr/>
          <p:nvPr/>
        </p:nvSpPr>
        <p:spPr>
          <a:xfrm>
            <a:off x="966261" y="4233589"/>
            <a:ext cx="7584141" cy="1871935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sz="20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.sorted(</a:t>
            </a:r>
            <a:r>
              <a:rPr lang="en-US" altLang="ko-KR" sz="20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Comparator.reverseOrder</a:t>
            </a:r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08B60-BF3C-47EC-8DC0-D9D56BCB5767}"/>
              </a:ext>
            </a:extLst>
          </p:cNvPr>
          <p:cNvSpPr txBox="1"/>
          <p:nvPr/>
        </p:nvSpPr>
        <p:spPr>
          <a:xfrm>
            <a:off x="402757" y="1652514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정렬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연산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(sorted())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5BD8A97-5311-4406-8B9D-0115354A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5060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2D484-61BD-437F-8E8D-61FCA434C1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0248" y="2400300"/>
            <a:ext cx="8512302" cy="10287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reduce()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스트림의 요소에 대하여 어떤 함수를 가지고 축소 연산을 수행한다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 요소들을 어떤 함수를 이용하여 결합하여서 하나의 값으로 만들 수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961804-F448-29DD-AA4A-30226C3D2DA3}"/>
              </a:ext>
            </a:extLst>
          </p:cNvPr>
          <p:cNvSpPr/>
          <p:nvPr/>
        </p:nvSpPr>
        <p:spPr>
          <a:xfrm>
            <a:off x="918636" y="3788701"/>
            <a:ext cx="7584141" cy="956997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List&lt;Integer&gt; numbers = </a:t>
            </a:r>
            <a:r>
              <a:rPr lang="en-US" altLang="ko-KR" sz="20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(1, 2, 3, 4, 5, 6, 7, 8);</a:t>
            </a:r>
          </a:p>
          <a:p>
            <a:pPr marR="0" algn="l" rtl="0"/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 sum = </a:t>
            </a:r>
            <a:r>
              <a:rPr lang="en-US" altLang="ko-KR" sz="20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numbers.stream</a:t>
            </a:r>
            <a:r>
              <a:rPr lang="en-US" altLang="ko-KR" sz="20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().reduce(0, (a, b) -&gt; a + b);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848BF-5D38-46EA-B739-0F31C5EE17B9}"/>
              </a:ext>
            </a:extLst>
          </p:cNvPr>
          <p:cNvSpPr txBox="1"/>
          <p:nvPr/>
        </p:nvSpPr>
        <p:spPr>
          <a:xfrm>
            <a:off x="400062" y="1697230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축소 </a:t>
            </a:r>
            <a:r>
              <a:rPr lang="ko-KR" altLang="en-US" sz="2800" dirty="0">
                <a:latin typeface="돋움" panose="020B0600000101010101" pitchFamily="50" charset="-127"/>
                <a:ea typeface="돋움" panose="020B0600000101010101" pitchFamily="50" charset="-127"/>
              </a:rPr>
              <a:t>연산 </a:t>
            </a:r>
            <a:r>
              <a:rPr lang="en-US" altLang="ko-KR" sz="2800" dirty="0">
                <a:latin typeface="돋움" panose="020B0600000101010101" pitchFamily="50" charset="-127"/>
                <a:ea typeface="돋움" panose="020B0600000101010101" pitchFamily="50" charset="-127"/>
              </a:rPr>
              <a:t>(reduce())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1D5F871C-11D4-4C7F-9736-38A40F74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52615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C1500B-63C1-4B3F-9990-71A29A9431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62836"/>
            <a:ext cx="8153400" cy="849406"/>
          </a:xfrm>
        </p:spPr>
        <p:txBody>
          <a:bodyPr/>
          <a:lstStyle/>
          <a:p>
            <a:r>
              <a:rPr lang="ko-KR" altLang="en-US" dirty="0"/>
              <a:t>종말 단계에서는 입력 데이터들을 모아서 결과를 생성한다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여러 가지의 결과를 생성할 수 있도록 다양한 메소드들이 제공된다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DC8C4F-ACD4-D84B-2117-39405C9B1B56}"/>
              </a:ext>
            </a:extLst>
          </p:cNvPr>
          <p:cNvSpPr/>
          <p:nvPr/>
        </p:nvSpPr>
        <p:spPr>
          <a:xfrm>
            <a:off x="662581" y="3807760"/>
            <a:ext cx="8319494" cy="849406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IntStream.of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(20, 10, 30, 90, 60)	        //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정수를 스트림으로 생성해주는 문장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.sorted()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.collect(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Collectors.toList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524F3-7876-F167-FE25-79EE04DDC5F9}"/>
              </a:ext>
            </a:extLst>
          </p:cNvPr>
          <p:cNvSpPr/>
          <p:nvPr/>
        </p:nvSpPr>
        <p:spPr>
          <a:xfrm>
            <a:off x="662581" y="5082989"/>
            <a:ext cx="8319494" cy="154641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IntStream.of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(20, 10, 30, 90, 60)          /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정수를 스트림으로 생성해주는 문장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.sum();			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합계를 계산하여 반환한다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R="0" algn="l" rtl="0"/>
            <a:endParaRPr lang="en-US" altLang="ko-KR" sz="1600" b="1" i="0" u="none" strike="noStrike" baseline="0" dirty="0">
              <a:solidFill>
                <a:srgbClr val="7F00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count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IntStream.of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(20, 10, 30, 90, 60)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정수를 스트림으로 생성해주는 문장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.count();				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개수를 계산하여 반환한다</a:t>
            </a:r>
            <a:r>
              <a:rPr lang="en-US" altLang="ko-KR" sz="1600" b="0" i="0" u="none" strike="noStrike" baseline="0" dirty="0">
                <a:solidFill>
                  <a:srgbClr val="3F7F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9AE16-D2EA-49D2-A780-3E7CB8BE8814}"/>
              </a:ext>
            </a:extLst>
          </p:cNvPr>
          <p:cNvSpPr txBox="1"/>
          <p:nvPr/>
        </p:nvSpPr>
        <p:spPr>
          <a:xfrm>
            <a:off x="471769" y="1646202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종말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단계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6DD85FC-B8F4-42A7-A107-F776FA8B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45313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C2385-5D61-44B4-813B-E1C5EB1DF2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522939"/>
            <a:ext cx="8245602" cy="763099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forEach</a:t>
            </a:r>
            <a:r>
              <a:rPr lang="en-US" altLang="ko-KR" sz="2000" dirty="0"/>
              <a:t>() </a:t>
            </a:r>
            <a:r>
              <a:rPr lang="ko-KR" altLang="en-US" sz="2000" dirty="0"/>
              <a:t>메소드를 사용하면 스트림의 각 항목에 대하여 어떤 특정한 연산을 수행할 수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AE9E30-BC7F-2E7C-A1D7-89B13BEEE673}"/>
              </a:ext>
            </a:extLst>
          </p:cNvPr>
          <p:cNvSpPr/>
          <p:nvPr/>
        </p:nvSpPr>
        <p:spPr>
          <a:xfrm>
            <a:off x="1051986" y="3705472"/>
            <a:ext cx="7584141" cy="1521759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List&lt;String&gt; list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Arrays.asList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"Kim"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"Lee"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"Park"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Stream&lt;String&gt; s1 = 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list.stream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.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forEach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System.out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::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println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955DB-1178-43BE-9B14-E9E8227B90CF}"/>
              </a:ext>
            </a:extLst>
          </p:cNvPr>
          <p:cNvSpPr txBox="1"/>
          <p:nvPr/>
        </p:nvSpPr>
        <p:spPr>
          <a:xfrm>
            <a:off x="402757" y="1630769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</a:t>
            </a:r>
            <a:r>
              <a:rPr lang="en-US" altLang="ko-KR" sz="2800" b="1" dirty="0" err="1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forEach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( ) </a:t>
            </a:r>
            <a:r>
              <a:rPr lang="ko-KR" altLang="en-US" sz="2800" dirty="0">
                <a:latin typeface="돋움" panose="020B0600000101010101" pitchFamily="50" charset="-127"/>
                <a:ea typeface="돋움" panose="020B0600000101010101" pitchFamily="50" charset="-127"/>
              </a:rPr>
              <a:t>연산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DCA5B1F-ACF7-4D16-86CA-9617C530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48821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91515-46E7-4682-B614-C6793258C8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7" y="1938330"/>
            <a:ext cx="8153400" cy="52322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ko-KR" sz="1600" b="0" i="0" u="none" strike="noStrike" baseline="0" dirty="0">
                <a:latin typeface="FrutigerNeueLT-Bk"/>
              </a:rPr>
              <a:t>1</a:t>
            </a:r>
            <a:r>
              <a:rPr lang="ko-KR" altLang="en-US" sz="1600" b="0" i="0" u="none" strike="noStrike" baseline="0" dirty="0">
                <a:latin typeface="YDVYGOStd125"/>
              </a:rPr>
              <a:t>부터 </a:t>
            </a:r>
            <a:r>
              <a:rPr lang="en-US" altLang="ko-KR" sz="1600" b="0" i="0" u="none" strike="noStrike" baseline="0" dirty="0">
                <a:latin typeface="FrutigerNeueLT-Bk"/>
              </a:rPr>
              <a:t>8</a:t>
            </a:r>
            <a:r>
              <a:rPr lang="ko-KR" altLang="en-US" sz="1600" b="0" i="0" u="none" strike="noStrike" baseline="0" dirty="0">
                <a:latin typeface="YDVYGOStd125"/>
              </a:rPr>
              <a:t>까지를 저장하는 컬렉션을 만들고 이 중에서 짝수만을 골라내는 코드를 스트림 </a:t>
            </a:r>
            <a:r>
              <a:rPr lang="en-US" altLang="ko-KR" sz="1600" b="0" i="0" u="none" strike="noStrike" baseline="0" dirty="0">
                <a:latin typeface="FrutigerNeueLT-Bk"/>
              </a:rPr>
              <a:t>API</a:t>
            </a:r>
            <a:r>
              <a:rPr lang="ko-KR" altLang="en-US" sz="1600" b="0" i="0" u="none" strike="noStrike" baseline="0" dirty="0">
                <a:latin typeface="YDVYGOStd125"/>
              </a:rPr>
              <a:t>로 만들어보자</a:t>
            </a:r>
            <a:r>
              <a:rPr lang="en-US" altLang="ko-KR" sz="1600" b="0" i="0" u="none" strike="noStrike" baseline="0" dirty="0">
                <a:latin typeface="FrutigerNeueLT-Bk"/>
              </a:rPr>
              <a:t>. </a:t>
            </a:r>
            <a:r>
              <a:rPr lang="ko-KR" altLang="en-US" sz="1600" b="0" i="0" u="none" strike="noStrike" baseline="0" dirty="0">
                <a:latin typeface="YDVYGOStd125"/>
              </a:rPr>
              <a:t>람다식을 사용해보자</a:t>
            </a:r>
            <a:r>
              <a:rPr lang="en-US" altLang="ko-KR" sz="1600" b="0" i="0" u="none" strike="noStrike" baseline="0" dirty="0">
                <a:latin typeface="FrutigerNeueLT-Bk"/>
              </a:rPr>
              <a:t>.</a:t>
            </a:r>
            <a:endParaRPr lang="ko-KR" altLang="en-US" sz="16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C34A27-3191-9196-2CE8-A80545351859}"/>
              </a:ext>
            </a:extLst>
          </p:cNvPr>
          <p:cNvSpPr/>
          <p:nvPr/>
        </p:nvSpPr>
        <p:spPr>
          <a:xfrm>
            <a:off x="1052552" y="2480678"/>
            <a:ext cx="7584141" cy="523221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입력데이터 </a:t>
            </a:r>
            <a:r>
              <a:rPr lang="en-US" altLang="ko-KR" sz="14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=[1, 2, 3, 4, 5, 6, 7, 8]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실행결과 </a:t>
            </a:r>
            <a:r>
              <a:rPr lang="en-US" altLang="ko-KR" sz="14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=[4, 16, 36, 64]</a:t>
            </a:r>
            <a:endParaRPr lang="ko-KR" altLang="en-US" sz="14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78C06-3024-4986-A912-9AC51197CC75}"/>
              </a:ext>
            </a:extLst>
          </p:cNvPr>
          <p:cNvSpPr txBox="1"/>
          <p:nvPr/>
        </p:nvSpPr>
        <p:spPr>
          <a:xfrm>
            <a:off x="495299" y="1475492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예제 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:  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18172D-7760-4C44-B6FF-6BC8782B8D20}"/>
              </a:ext>
            </a:extLst>
          </p:cNvPr>
          <p:cNvSpPr/>
          <p:nvPr/>
        </p:nvSpPr>
        <p:spPr>
          <a:xfrm>
            <a:off x="1052552" y="3105150"/>
            <a:ext cx="7584141" cy="3673352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StreamExample1 {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List&lt;Integer&gt;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numbers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Arrays.</a:t>
            </a:r>
            <a:r>
              <a:rPr lang="en-US" altLang="ko-KR" sz="1400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asList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(1, 2, 3, 4, 5, 6, 7, 8);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입력데이터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="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+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numbers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List&lt;Integer&gt;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result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numbers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.stream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.filter(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-&gt;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return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% 2 == 0;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})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.map(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-&gt;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return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*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})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    .collect(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Collectors.</a:t>
            </a:r>
            <a:r>
              <a:rPr lang="en-US" altLang="ko-KR" sz="1400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toList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실행결과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="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+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result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57A8F94-4701-4CDB-AF59-D31B8E50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3990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DE0C25-3C0B-4904-AFD5-C357FA899F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05714" y="1959206"/>
            <a:ext cx="8153400" cy="620642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스트림은 각 요소에서 정보를 추출하는 데 사용할 수 있다</a:t>
            </a:r>
            <a:r>
              <a:rPr lang="en-US" altLang="ko-KR" dirty="0"/>
              <a:t>. </a:t>
            </a:r>
            <a:r>
              <a:rPr lang="ko-KR" altLang="en-US" dirty="0"/>
              <a:t>단어들의 리스트를 받아서 각 단어의 길이 리스트를 반환하는 코드를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8DB0DA-0F50-7305-2659-39E85192F84F}"/>
              </a:ext>
            </a:extLst>
          </p:cNvPr>
          <p:cNvSpPr/>
          <p:nvPr/>
        </p:nvSpPr>
        <p:spPr>
          <a:xfrm>
            <a:off x="1112938" y="2576001"/>
            <a:ext cx="7584141" cy="487561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</a:rPr>
              <a:t>입력데이터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</a:rPr>
              <a:t>=[Java, Stream, Library]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</a:rPr>
              <a:t>실행결과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</a:rPr>
              <a:t>=[4, 6, 7]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AEF45-015A-48B5-B286-88B74A295A44}"/>
              </a:ext>
            </a:extLst>
          </p:cNvPr>
          <p:cNvSpPr txBox="1"/>
          <p:nvPr/>
        </p:nvSpPr>
        <p:spPr>
          <a:xfrm>
            <a:off x="495299" y="1475492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예제 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:  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170B7E-536C-482C-A59E-964A6DAA21F8}"/>
              </a:ext>
            </a:extLst>
          </p:cNvPr>
          <p:cNvSpPr/>
          <p:nvPr/>
        </p:nvSpPr>
        <p:spPr>
          <a:xfrm>
            <a:off x="1112938" y="3196643"/>
            <a:ext cx="7584141" cy="2680282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StreamExample2 { 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List&lt;String&gt;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Arrays.</a:t>
            </a:r>
            <a:r>
              <a:rPr lang="en-US" altLang="ko-KR" sz="1600" b="0" i="1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"Java"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"Stream"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"Library"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입력데이터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List&lt;Integer&gt;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   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words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.stream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       .map(String::length)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       .collect(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Collectors.</a:t>
            </a:r>
            <a:r>
              <a:rPr lang="en-US" altLang="ko-KR" sz="1600" b="0" i="1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toList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실행결과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 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3D2CC0B-F519-4C5A-8A92-2435762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3160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15E38B-9A11-4AFF-90E8-CD643EC2232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945262"/>
            <a:ext cx="8153400" cy="654804"/>
          </a:xfrm>
        </p:spPr>
        <p:txBody>
          <a:bodyPr/>
          <a:lstStyle/>
          <a:p>
            <a:r>
              <a:rPr lang="ko-KR" altLang="en-US" dirty="0"/>
              <a:t>가전 제품들을 </a:t>
            </a:r>
            <a:r>
              <a:rPr lang="en-US" altLang="ko-KR" dirty="0" err="1"/>
              <a:t>ArrayList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가격이 </a:t>
            </a:r>
            <a:r>
              <a:rPr lang="en-US" altLang="ko-KR" dirty="0"/>
              <a:t>300</a:t>
            </a:r>
            <a:r>
              <a:rPr lang="ko-KR" altLang="en-US" dirty="0"/>
              <a:t>만 원 이상인 가전 제품의 이름을 출력하는 프로그램을 작성해보자</a:t>
            </a:r>
            <a:r>
              <a:rPr lang="en-US" altLang="ko-KR" dirty="0"/>
              <a:t>. </a:t>
            </a:r>
            <a:r>
              <a:rPr lang="ko-KR" altLang="en-US" dirty="0"/>
              <a:t>스트림 </a:t>
            </a:r>
            <a:r>
              <a:rPr lang="en-US" altLang="ko-KR" dirty="0"/>
              <a:t>API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70423A-319B-2F7A-965F-527ED9E0AD2A}"/>
              </a:ext>
            </a:extLst>
          </p:cNvPr>
          <p:cNvSpPr/>
          <p:nvPr/>
        </p:nvSpPr>
        <p:spPr>
          <a:xfrm>
            <a:off x="779929" y="2724774"/>
            <a:ext cx="7584141" cy="367421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  <a:ea typeface="굴림체" panose="020B0609000101010101" pitchFamily="49" charset="-127"/>
              </a:rPr>
              <a:t>[TV, Air Conditioner]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54440-4EF6-4AAF-BCC1-70A8F48E0531}"/>
              </a:ext>
            </a:extLst>
          </p:cNvPr>
          <p:cNvSpPr txBox="1"/>
          <p:nvPr/>
        </p:nvSpPr>
        <p:spPr>
          <a:xfrm>
            <a:off x="495299" y="1475492"/>
            <a:ext cx="5504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► 예제 </a:t>
            </a:r>
            <a:r>
              <a:rPr lang="en-US" altLang="ko-KR" sz="2800" b="1" dirty="0">
                <a:latin typeface="돋움" panose="020B0600000101010101" pitchFamily="50" charset="-127"/>
                <a:ea typeface="돋움" panose="020B0600000101010101" pitchFamily="50" charset="-127"/>
                <a:cs typeface="Arial" panose="020B0604020202020204" pitchFamily="34" charset="0"/>
              </a:rPr>
              <a:t>:  </a:t>
            </a:r>
            <a:endParaRPr lang="ko-KR" altLang="en-US" sz="28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D52CFF-6E7B-4208-9C73-19A5D404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8" y="3334754"/>
            <a:ext cx="4223392" cy="23530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70F5D7-CDA5-4A59-BAD2-45CAE4975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18" y="3346293"/>
            <a:ext cx="4639322" cy="3229426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8C1AB2E9-AA8F-428C-9E6D-2F3DDAA5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14.6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스트림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API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872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5903</TotalTime>
  <Words>4651</Words>
  <Application>Microsoft Office PowerPoint</Application>
  <PresentationFormat>화면 슬라이드 쇼(4:3)</PresentationFormat>
  <Paragraphs>561</Paragraphs>
  <Slides>79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101" baseType="lpstr">
      <vt:lpstr>FrutigerNeueLT-Bk</vt:lpstr>
      <vt:lpstr>HY견고딕</vt:lpstr>
      <vt:lpstr>HY얕은샘물M</vt:lpstr>
      <vt:lpstr>HY중고딕</vt:lpstr>
      <vt:lpstr>MinionPro-Regular</vt:lpstr>
      <vt:lpstr>YDVYGOStd125</vt:lpstr>
      <vt:lpstr>YDVYMjOStd125</vt:lpstr>
      <vt:lpstr>견명조</vt:lpstr>
      <vt:lpstr>굴림</vt:lpstr>
      <vt:lpstr>굴림체</vt:lpstr>
      <vt:lpstr>돋움</vt:lpstr>
      <vt:lpstr>돋움체</vt:lpstr>
      <vt:lpstr>맑은 고딕</vt:lpstr>
      <vt:lpstr>Arial</vt:lpstr>
      <vt:lpstr>Century Schoolbook</vt:lpstr>
      <vt:lpstr>Consolas</vt:lpstr>
      <vt:lpstr>Courier New</vt:lpstr>
      <vt:lpstr>Tw Cen MT</vt:lpstr>
      <vt:lpstr>Wingdings</vt:lpstr>
      <vt:lpstr>Wingdings 2</vt:lpstr>
      <vt:lpstr>Wingdings 3</vt:lpstr>
      <vt:lpstr>가을</vt:lpstr>
      <vt:lpstr>14장  함수형 프로그래밍, 람다식, 스트림</vt:lpstr>
      <vt:lpstr>14장의 목표</vt:lpstr>
      <vt:lpstr>14.1함수형 프로그래밍의 소개</vt:lpstr>
      <vt:lpstr>14.1함수형 프로그래밍의 소개</vt:lpstr>
      <vt:lpstr>프로그래밍 패러다임 분류</vt:lpstr>
      <vt:lpstr>명령형 프로그래밍 </vt:lpstr>
      <vt:lpstr>함수형 프로그래밍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14.2 람다식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14.3 동작 매개 변수화         (behavior parameterization)</vt:lpstr>
      <vt:lpstr>중간점검</vt:lpstr>
      <vt:lpstr>14.4 함수형 인터페이스</vt:lpstr>
      <vt:lpstr>14.4 함수형 인터페이스</vt:lpstr>
      <vt:lpstr>14.4 함수형 인터페이스</vt:lpstr>
      <vt:lpstr>14.4 함수형 인터페이스</vt:lpstr>
      <vt:lpstr>14.4 함수형 인터페이스</vt:lpstr>
      <vt:lpstr>14.4 함수형 인터페이스</vt:lpstr>
      <vt:lpstr>14.4 함수형 인터페이스</vt:lpstr>
      <vt:lpstr>14.4 함수형 인터페이스</vt:lpstr>
      <vt:lpstr>14.4 함수형 인터페이스</vt:lpstr>
      <vt:lpstr>중간점검</vt:lpstr>
      <vt:lpstr>14.5 메서드 참조</vt:lpstr>
      <vt:lpstr>14.5 메서드 참조</vt:lpstr>
      <vt:lpstr>14.5 메서드 참조</vt:lpstr>
      <vt:lpstr>14.5 메서드 참조</vt:lpstr>
      <vt:lpstr>14.5 메서드 참조</vt:lpstr>
      <vt:lpstr>14.5 메서드 참조</vt:lpstr>
      <vt:lpstr>14.5 메서드 참조</vt:lpstr>
      <vt:lpstr>PowerPoint 프레젠테이션</vt:lpstr>
      <vt:lpstr>PowerPoint 프레젠테이션</vt:lpstr>
      <vt:lpstr>TIP</vt:lpstr>
      <vt:lpstr>중간점검 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  <vt:lpstr>14.6  스트림 API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User</cp:lastModifiedBy>
  <cp:revision>1031</cp:revision>
  <dcterms:created xsi:type="dcterms:W3CDTF">2007-06-29T06:43:39Z</dcterms:created>
  <dcterms:modified xsi:type="dcterms:W3CDTF">2026-05-20T15:51:00Z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